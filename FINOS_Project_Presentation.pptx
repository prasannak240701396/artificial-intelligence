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Inflow</c:v>
                </c:pt>
              </c:strCache>
            </c:strRef>
          </c:tx>
          <c:spPr>
            <a:solidFill>
              <a:srgbClr val="1769AA"/>
            </a:solidFill>
            <a:ln w="28575" cap="flat">
              <a:solidFill>
                <a:srgbClr val="1769A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769AA"/>
              </a:solidFill>
              <a:ln w="9525" cap="flat">
                <a:solidFill>
                  <a:srgbClr val="1769AA"/>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32</c:v>
                </c:pt>
                <c:pt idx="1">
                  <c:v>35</c:v>
                </c:pt>
                <c:pt idx="2">
                  <c:v>29</c:v>
                </c:pt>
                <c:pt idx="3">
                  <c:v>41</c:v>
                </c:pt>
                <c:pt idx="4">
                  <c:v>37</c:v>
                </c:pt>
                <c:pt idx="5">
                  <c:v>44</c:v>
                </c:pt>
              </c:numCache>
            </c:numRef>
          </c:val>
          <c:smooth val="0"/>
        </c:ser>
        <c:ser>
          <c:idx val="1"/>
          <c:order val="1"/>
          <c:tx>
            <c:strRef>
              <c:f>Sheet1!$C$1</c:f>
              <c:strCache>
                <c:ptCount val="1"/>
                <c:pt idx="0">
                  <c:v>Outflow</c:v>
                </c:pt>
              </c:strCache>
            </c:strRef>
          </c:tx>
          <c:spPr>
            <a:solidFill>
              <a:srgbClr val="4A5568"/>
            </a:solidFill>
            <a:ln w="28575" cap="flat">
              <a:solidFill>
                <a:srgbClr val="4A556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5568"/>
              </a:solidFill>
              <a:ln w="9525" cap="flat">
                <a:solidFill>
                  <a:srgbClr val="4A5568"/>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24</c:v>
                </c:pt>
                <c:pt idx="1">
                  <c:v>27</c:v>
                </c:pt>
                <c:pt idx="2">
                  <c:v>31</c:v>
                </c:pt>
                <c:pt idx="3">
                  <c:v>28</c:v>
                </c:pt>
                <c:pt idx="4">
                  <c:v>30</c:v>
                </c:pt>
                <c:pt idx="5">
                  <c:v>32</c:v>
                </c:pt>
              </c:numCache>
            </c:numRef>
          </c:val>
          <c:smooth val="0"/>
        </c:ser>
        <c:ser>
          <c:idx val="2"/>
          <c:order val="2"/>
          <c:tx>
            <c:strRef>
              <c:f>Sheet1!$D$1</c:f>
              <c:strCache>
                <c:ptCount val="1"/>
                <c:pt idx="0">
                  <c:v>Net Cash Flow</c:v>
                </c:pt>
              </c:strCache>
            </c:strRef>
          </c:tx>
          <c:spPr>
            <a:solidFill>
              <a:srgbClr val="16845B"/>
            </a:solidFill>
            <a:ln w="28575" cap="flat">
              <a:solidFill>
                <a:srgbClr val="1684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6845B"/>
              </a:solidFill>
              <a:ln w="9525" cap="flat">
                <a:solidFill>
                  <a:srgbClr val="16845B"/>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Sheet1!$D$2:$D$7</c:f>
              <c:numCache>
                <c:formatCode>General</c:formatCode>
                <c:ptCount val="6"/>
                <c:pt idx="0">
                  <c:v>8</c:v>
                </c:pt>
                <c:pt idx="1">
                  <c:v>8</c:v>
                </c:pt>
                <c:pt idx="2">
                  <c:v>-2</c:v>
                </c:pt>
                <c:pt idx="3">
                  <c:v>13</c:v>
                </c:pt>
                <c:pt idx="4">
                  <c:v>7</c:v>
                </c:pt>
                <c:pt idx="5">
                  <c:v>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667085"/>
                    </a:solidFill>
                    <a:latin typeface="Arial"/>
                  </a:defRPr>
                </a:pPr>
                <a:r>
                  <a:rPr sz="900" b="0" i="0" u="none" strike="noStrike">
                    <a:solidFill>
                      <a:srgbClr val="667085"/>
                    </a:solidFill>
                    <a:latin typeface="Arial"/>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67085"/>
                </a:solidFill>
                <a:latin typeface="Arial"/>
              </a:defRPr>
            </a:pPr>
            <a:endParaRPr lang="en-US"/>
          </a:p>
        </c:txPr>
        <c:crossAx val="2094734552"/>
        <c:crosses val="autoZero"/>
        <c:auto val="1"/>
        <c:lblAlgn val="ctr"/>
        <c:noMultiLvlLbl val="1"/>
      </c:catAx>
      <c:valAx>
        <c:axId val="2094734552"/>
        <c:scaling>
          <c:orientation val="minMax"/>
          <c:max val="50"/>
          <c:min val="-10"/>
        </c:scaling>
        <c:delete val="0"/>
        <c:axPos val="l"/>
        <c:majorGridlines>
          <c:spPr>
            <a:ln w="6350" cap="flat">
              <a:solidFill>
                <a:srgbClr val="E4E9F0"/>
              </a:solidFill>
              <a:prstDash val="solid"/>
              <a:round/>
            </a:ln>
          </c:spPr>
        </c:majorGridlines>
        <c:title>
          <c:tx>
            <c:rich>
              <a:bodyPr/>
              <a:lstStyle/>
              <a:p>
                <a:pPr>
                  <a:defRPr sz="900" b="0" i="0" u="none" strike="noStrike">
                    <a:solidFill>
                      <a:srgbClr val="667085"/>
                    </a:solidFill>
                    <a:latin typeface="Arial"/>
                  </a:defRPr>
                </a:pPr>
                <a:r>
                  <a:rPr sz="900" b="0" i="0" u="none" strike="noStrike">
                    <a:solidFill>
                      <a:srgbClr val="667085"/>
                    </a:solidFill>
                    <a:latin typeface="Arial"/>
                  </a:rPr>
                  <a:t>₹ Cr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7085"/>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000">
              <a:solidFill>
                <a:srgbClr val="667085"/>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Risk score</c:v>
                </c:pt>
              </c:strCache>
            </c:strRef>
          </c:tx>
          <c:spPr>
            <a:solidFill>
              <a:srgbClr val="1769AA"/>
            </a:solidFill>
            <a:ln w="28575" cap="flat">
              <a:solidFill>
                <a:srgbClr val="1769AA"/>
              </a:solidFill>
              <a:prstDash val="solid"/>
              <a:round/>
            </a:ln>
            <a:effectLst/>
          </c:spPr>
          <c:invertIfNegative val="0"/>
          <c:dLbls>
            <c:numFmt formatCode="#,##0" sourceLinked="0"/>
            <c:txPr>
              <a:bodyPr/>
              <a:lstStyle/>
              <a:p>
                <a:pPr>
                  <a:defRPr b="0" i="0" strike="noStrike" sz="900" u="none">
                    <a:solidFill>
                      <a:srgbClr val="0B1F33"/>
                    </a:solidFill>
                    <a:latin typeface="Arial"/>
                  </a:defRPr>
                </a:pPr>
              </a:p>
            </c:txPr>
            <c:dLblPos val="t"/>
            <c:showLegendKey val="0"/>
            <c:showVal val="1"/>
            <c:showCatName val="0"/>
            <c:showSerName val="0"/>
            <c:showPercent val="0"/>
            <c:showBubbleSize val="0"/>
            <c:showLeaderLines val="0"/>
          </c:dLbls>
          <c:marker>
            <c:symbol val="circle"/>
            <c:size val="6"/>
            <c:spPr>
              <a:solidFill>
                <a:srgbClr val="1769AA"/>
              </a:solidFill>
              <a:ln w="9525" cap="flat">
                <a:solidFill>
                  <a:srgbClr val="1769AA"/>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28</c:v>
                </c:pt>
                <c:pt idx="1">
                  <c:v>25</c:v>
                </c:pt>
                <c:pt idx="2">
                  <c:v>31</c:v>
                </c:pt>
                <c:pt idx="3">
                  <c:v>22</c:v>
                </c:pt>
                <c:pt idx="4">
                  <c:v>19</c:v>
                </c:pt>
                <c:pt idx="5">
                  <c:v>18</c:v>
                </c:pt>
              </c:numCache>
            </c:numRef>
          </c:val>
          <c:smooth val="0"/>
        </c:ser>
        <c:dLbls>
          <c:numFmt formatCode="#,##0" sourceLinked="0"/>
          <c:txPr>
            <a:bodyPr/>
            <a:lstStyle/>
            <a:p>
              <a:pPr>
                <a:defRPr b="0" i="0" strike="noStrike" sz="900" u="none">
                  <a:solidFill>
                    <a:srgbClr val="0B1F33"/>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00" b="0" i="0" u="none" strike="noStrike">
                    <a:solidFill>
                      <a:srgbClr val="667085"/>
                    </a:solidFill>
                    <a:latin typeface="Arial"/>
                  </a:defRPr>
                </a:pPr>
                <a:r>
                  <a:rPr sz="800" b="0" i="0" u="none" strike="noStrike">
                    <a:solidFill>
                      <a:srgbClr val="667085"/>
                    </a:solidFill>
                    <a:latin typeface="Arial"/>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67085"/>
                </a:solidFill>
                <a:latin typeface="Arial"/>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4E9F0"/>
              </a:solidFill>
              <a:prstDash val="solid"/>
              <a:round/>
            </a:ln>
          </c:spPr>
        </c:majorGridlines>
        <c:title>
          <c:tx>
            <c:rich>
              <a:bodyPr/>
              <a:lstStyle/>
              <a:p>
                <a:pPr>
                  <a:defRPr sz="800" b="0" i="0" u="none" strike="noStrike">
                    <a:solidFill>
                      <a:srgbClr val="667085"/>
                    </a:solidFill>
                    <a:latin typeface="Arial"/>
                  </a:defRPr>
                </a:pPr>
                <a:r>
                  <a:rPr sz="800" b="0" i="0" u="none" strike="noStrike">
                    <a:solidFill>
                      <a:srgbClr val="667085"/>
                    </a:solidFill>
                    <a:latin typeface="Arial"/>
                  </a:rPr>
                  <a:t>Risk Score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7085"/>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Payments</c:v>
                </c:pt>
              </c:strCache>
            </c:strRef>
          </c:tx>
          <c:spPr>
            <a:solidFill>
              <a:schemeClr val="accent1"/>
            </a:solidFill>
            <a:ln w="9525" cap="flat">
              <a:solidFill>
                <a:srgbClr val="F9F9F9"/>
              </a:solidFill>
              <a:prstDash val="solid"/>
              <a:round/>
            </a:ln>
            <a:effectLst/>
          </c:spPr>
          <c:dPt>
            <c:idx val="0"/>
            <c:bubble3D val="0"/>
            <c:spPr>
              <a:solidFill>
                <a:srgbClr val="16845B"/>
              </a:solidFill>
              <a:ln w="12700" cap="flat">
                <a:solidFill>
                  <a:srgbClr val="FFFFFF"/>
                </a:solidFill>
                <a:prstDash val="solid"/>
                <a:round/>
              </a:ln>
              <a:effectLst/>
            </c:spPr>
          </c:dPt>
          <c:dPt>
            <c:idx val="1"/>
            <c:bubble3D val="0"/>
            <c:spPr>
              <a:solidFill>
                <a:srgbClr val="1769AA"/>
              </a:solidFill>
              <a:ln w="12700" cap="flat">
                <a:solidFill>
                  <a:srgbClr val="FFFFFF"/>
                </a:solidFill>
                <a:prstDash val="solid"/>
                <a:round/>
              </a:ln>
              <a:effectLst/>
            </c:spPr>
          </c:dPt>
          <c:dPt>
            <c:idx val="2"/>
            <c:bubble3D val="0"/>
            <c:spPr>
              <a:solidFill>
                <a:srgbClr val="8FA6BD"/>
              </a:solidFill>
              <a:ln w="12700" cap="flat">
                <a:solidFill>
                  <a:srgbClr val="FFFFFF"/>
                </a:solidFill>
                <a:prstDash val="solid"/>
                <a:round/>
              </a:ln>
              <a:effectLst/>
            </c:spPr>
          </c:dPt>
          <c:dPt>
            <c:idx val="3"/>
            <c:bubble3D val="0"/>
            <c:spPr>
              <a:solidFill>
                <a:srgbClr val="C94A4A"/>
              </a:solidFill>
              <a:ln w="12700" cap="flat">
                <a:solidFill>
                  <a:srgbClr val="FFFFFF"/>
                </a:solidFill>
                <a:prstDash val="solid"/>
                <a:round/>
              </a:ln>
              <a:effectLst/>
            </c:spPr>
          </c:dPt>
          <c:dLbls>
            <c:dLbl>
              <c:idx val="0"/>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Paid</c:v>
                </c:pt>
                <c:pt idx="1">
                  <c:v>Pending</c:v>
                </c:pt>
                <c:pt idx="2">
                  <c:v>Processing</c:v>
                </c:pt>
                <c:pt idx="3">
                  <c:v>Flagged</c:v>
                </c:pt>
              </c:strCache>
            </c:strRef>
          </c:cat>
          <c:val>
            <c:numRef>
              <c:f>Sheet1!$B$2:$B$5</c:f>
              <c:numCache>
                <c:ptCount val="4"/>
                <c:pt idx="0">
                  <c:v>28</c:v>
                </c:pt>
                <c:pt idx="1">
                  <c:v>12</c:v>
                </c:pt>
                <c:pt idx="2">
                  <c:v>6</c:v>
                </c:pt>
                <c:pt idx="3">
                  <c:v>2</c:v>
                </c:pt>
              </c:numCache>
            </c:numRef>
          </c:val>
        </c:ser>
        <c:firstSliceAng val="0"/>
        <c:holeSize val="55"/>
      </c:doughnutChart>
      <c:spPr>
        <a:noFill/>
        <a:ln>
          <a:noFill/>
        </a:ln>
        <a:effectLst/>
      </c:spPr>
    </c:plotArea>
    <c:legend>
      <c:legendPos val="r"/>
      <c:overlay val="0"/>
      <c:txPr>
        <a:bodyPr/>
        <a:lstStyle/>
        <a:p>
          <a:pPr>
            <a:defRPr sz="1000">
              <a:solidFill>
                <a:srgbClr val="667085"/>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FINOS: an agentic financial decision-support prototype for government financial management. It runs on a simulated financial environment and does not execute real transactions. Domain: FinTech + Agentic AI + GovTech.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government financial decisions are interconnected, time-sensitive and rule-constrained. Traditional systems record, monitor and report but do not reason, plan, validate and verify in one workflow. FINOS observes a simulated environment, analyzes conditions, generates feasible plans, validates against policy, requests human approval, simulates execution, verifies and replans. Techniques: intelligent agents, heuristic search (A*), constraint satisfaction, Bayesian reasoning, rule-based reasoning,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(verified):
1. L. Cao, 'AI in Finance: Challenges, Techniques, and Opportunities', ACM Computing Surveys 55(3), Article 64, 2022.
2. N. Bussmann, P. Giudici, D. Marinelli, J. Papenbrock, 'Explainable Machine Learning in Credit Risk Management', Computational Economics 57(1), 2021.
3. Y. Yu et al., 'FinCon: A Synthesized LLM Multi-Agent System with Conceptual Verbal Reinforcement for Enhanced Financial Decision Making', NeurIPS 37, 2024.
4. S. Wu et al., 'BloombergGPT: A Large Language Model for Finance', arXiv:2303.17564, 2023.
5. H. Yang, X.-Y. Liu, S. Zhong, A. Walid, 'Deep Reinforcement Learning for Automated Stock Trading: An Ensemble Strategy', ACM ICAIF 2020.
The limitation column is our own characterization of scope relative to FINOS, not a criticism of the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comparison neutral: existing systems are strong at recording, monitoring and reporting. FINOS extends the workflow with reasoning, planning, validation, approval, simulated execution, verification and replanning.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on the left: the officer uses the dashboard; the financial data layer feeds the CFO AI Orchestrator, which coordinates five specialist agents; the optimization engine (A*, CSP, Bayesian reasoning) produces candidate plans. The right column continues the flow upward: policy validation, human approval, simulated execution, verification and audit logging. Replanning (dashed line) feeds the updated state back into the data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modules. Five domain agents (monitoring, cash flow, risk, payment, planning), the optimization engine, the policy guardian and the verification and audit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technique by its role: agents for autonomy, A* for searching plan options, CSP for hard constraints, Bayesian reasoning for uncertainty in risk, forward chaining to apply policy rules to facts, backward chaining to test whether a goal action is permissible, optimization to choose among feasible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loop, then the example. Available cash 86.7 Cr, minimum reserve 50 Cr, critical payments 22 Cr, budget utilization 72%. Prioritizing critical payments moves available cash from 86.7 Cr to 64.7 Cr, which still satisfies the reserve constraint with 14.7 Cr headroom. All values are illustrative, from a simulated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mock-up of the prototype output using illustrative, simulated values. Net cash flow is plotted on the secondary axis (₹ Cr). The dashboard surfaces balances, budget utilization, risk score, pending payments, and live agent status including one action awaiting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recommendation passes through policy validation and human approval before any simulated action, and every step is logged. The four principles map to control points in the workflow. The prototype is simulation-first and never executes real public financial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what exists today. Phases 2 to 4 are planned extensions and are clearly future scope. FINOS does not currently connect to real government financial systems, and nothing on this slide beyond Phase 1 should be presented as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four pillars and the eight-step loop. Reiterate that FINOS is a simulation-first prototype that keeps humans in control of high-impact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8FA6BD"/>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8FA6B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pic>
        <p:nvPicPr>
          <p:cNvPr id="2" name="Image 0" descr="assets/cov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685800"/>
            <a:ext cx="5486400" cy="228600"/>
          </a:xfrm>
          <a:prstGeom prst="rect">
            <a:avLst/>
          </a:prstGeom>
          <a:noFill/>
          <a:ln/>
        </p:spPr>
        <p:txBody>
          <a:bodyPr wrap="square" lIns="0" tIns="0" rIns="0" bIns="0" rtlCol="0" anchor="t"/>
          <a:lstStyle/>
          <a:p>
            <a:pPr algn="l" indent="0" marL="0">
              <a:buNone/>
            </a:pPr>
            <a:r>
              <a:rPr lang="en-US" sz="1200" b="1" spc="300" kern="0" dirty="0">
                <a:solidFill>
                  <a:srgbClr val="7FB2E0"/>
                </a:solidFill>
                <a:latin typeface="Arial" pitchFamily="34" charset="0"/>
                <a:ea typeface="Arial" pitchFamily="34" charset="-122"/>
                <a:cs typeface="Arial" pitchFamily="34" charset="-120"/>
              </a:rPr>
              <a:t>SEMESTER PROJECT</a:t>
            </a:r>
            <a:endParaRPr lang="en-US" sz="1200" dirty="0"/>
          </a:p>
        </p:txBody>
      </p:sp>
      <p:sp>
        <p:nvSpPr>
          <p:cNvPr id="4" name="Text 1"/>
          <p:cNvSpPr txBox="1"/>
          <p:nvPr/>
        </p:nvSpPr>
        <p:spPr>
          <a:xfrm>
            <a:off x="822960" y="1874520"/>
            <a:ext cx="7315200" cy="914400"/>
          </a:xfrm>
          <a:prstGeom prst="rect">
            <a:avLst/>
          </a:prstGeom>
          <a:noFill/>
          <a:ln/>
        </p:spPr>
        <p:txBody>
          <a:bodyPr wrap="square" lIns="0" tIns="0" rIns="0" bIns="0" rtlCol="0" anchor="ctr"/>
          <a:lstStyle/>
          <a:p>
            <a:pPr algn="l" indent="0" marL="0">
              <a:buNone/>
            </a:pPr>
            <a:r>
              <a:rPr lang="en-US" sz="5400" b="1" spc="400" kern="0" dirty="0">
                <a:solidFill>
                  <a:srgbClr val="FFFFFF"/>
                </a:solidFill>
                <a:latin typeface="Arial" pitchFamily="34" charset="0"/>
                <a:ea typeface="Arial" pitchFamily="34" charset="-122"/>
                <a:cs typeface="Arial" pitchFamily="34" charset="-120"/>
              </a:rPr>
              <a:t>FINOS</a:t>
            </a:r>
            <a:endParaRPr lang="en-US" sz="5400" dirty="0"/>
          </a:p>
        </p:txBody>
      </p:sp>
      <p:sp>
        <p:nvSpPr>
          <p:cNvPr id="5" name="Text 2"/>
          <p:cNvSpPr txBox="1"/>
          <p:nvPr/>
        </p:nvSpPr>
        <p:spPr>
          <a:xfrm>
            <a:off x="822960" y="2926080"/>
            <a:ext cx="7498080" cy="914400"/>
          </a:xfrm>
          <a:prstGeom prst="rect">
            <a:avLst/>
          </a:prstGeom>
          <a:noFill/>
          <a:ln/>
        </p:spPr>
        <p:txBody>
          <a:bodyPr wrap="square" lIns="0" tIns="0" rIns="0" bIns="0" rtlCol="0" anchor="t"/>
          <a:lstStyle/>
          <a:p>
            <a:pPr algn="l" indent="0" marL="0">
              <a:spcAft>
                <a:spcPts val="200"/>
              </a:spcAft>
              <a:buNone/>
            </a:pPr>
            <a:r>
              <a:rPr lang="en-US" sz="2400" dirty="0">
                <a:solidFill>
                  <a:srgbClr val="E6EEF6"/>
                </a:solidFill>
                <a:latin typeface="Arial" pitchFamily="34" charset="0"/>
                <a:ea typeface="Arial" pitchFamily="34" charset="-122"/>
                <a:cs typeface="Arial" pitchFamily="34" charset="-120"/>
              </a:rPr>
              <a:t>Agentic Financial Operating System</a:t>
            </a:r>
            <a:endParaRPr lang="en-US" sz="2400" dirty="0"/>
          </a:p>
          <a:p>
            <a:pPr algn="l" indent="0" marL="0">
              <a:spcAft>
                <a:spcPts val="200"/>
              </a:spcAft>
              <a:buNone/>
            </a:pPr>
            <a:r>
              <a:rPr lang="en-US" sz="2400" dirty="0">
                <a:solidFill>
                  <a:srgbClr val="E6EEF6"/>
                </a:solidFill>
                <a:latin typeface="Arial" pitchFamily="34" charset="0"/>
                <a:ea typeface="Arial" pitchFamily="34" charset="-122"/>
                <a:cs typeface="Arial" pitchFamily="34" charset="-120"/>
              </a:rPr>
              <a:t>for Government Financial Management</a:t>
            </a:r>
            <a:endParaRPr lang="en-US" sz="2400" dirty="0"/>
          </a:p>
        </p:txBody>
      </p:sp>
      <p:sp>
        <p:nvSpPr>
          <p:cNvPr id="6" name="Text 3"/>
          <p:cNvSpPr txBox="1"/>
          <p:nvPr/>
        </p:nvSpPr>
        <p:spPr>
          <a:xfrm>
            <a:off x="822960" y="4069080"/>
            <a:ext cx="6400800" cy="274320"/>
          </a:xfrm>
          <a:prstGeom prst="rect">
            <a:avLst/>
          </a:prstGeom>
          <a:noFill/>
          <a:ln/>
        </p:spPr>
        <p:txBody>
          <a:bodyPr wrap="square" lIns="0" tIns="0" rIns="0" bIns="0" rtlCol="0" anchor="t"/>
          <a:lstStyle/>
          <a:p>
            <a:pPr algn="l" indent="0" marL="0">
              <a:buNone/>
            </a:pPr>
            <a:r>
              <a:rPr lang="en-US" sz="1400" spc="100" kern="0" dirty="0">
                <a:solidFill>
                  <a:srgbClr val="7FB2E0"/>
                </a:solidFill>
                <a:latin typeface="Arial" pitchFamily="34" charset="0"/>
                <a:ea typeface="Arial" pitchFamily="34" charset="-122"/>
                <a:cs typeface="Arial" pitchFamily="34" charset="-120"/>
              </a:rPr>
              <a:t>FinTech  |  Agentic AI  |  GovTech</a:t>
            </a:r>
            <a:endParaRPr lang="en-US" sz="1400" dirty="0"/>
          </a:p>
        </p:txBody>
      </p:sp>
      <p:sp>
        <p:nvSpPr>
          <p:cNvPr id="7" name="Shape 4"/>
          <p:cNvSpPr/>
          <p:nvPr/>
        </p:nvSpPr>
        <p:spPr>
          <a:xfrm>
            <a:off x="822960" y="5257800"/>
            <a:ext cx="6035040" cy="0"/>
          </a:xfrm>
          <a:prstGeom prst="line">
            <a:avLst/>
          </a:prstGeom>
          <a:noFill/>
          <a:ln w="9525">
            <a:solidFill>
              <a:srgbClr val="24507A"/>
            </a:solidFill>
            <a:prstDash val="solid"/>
          </a:ln>
        </p:spPr>
      </p:sp>
      <p:sp>
        <p:nvSpPr>
          <p:cNvPr id="8" name="Text 5"/>
          <p:cNvSpPr txBox="1"/>
          <p:nvPr/>
        </p:nvSpPr>
        <p:spPr>
          <a:xfrm>
            <a:off x="822960" y="5413248"/>
            <a:ext cx="1828800" cy="182880"/>
          </a:xfrm>
          <a:prstGeom prst="rect">
            <a:avLst/>
          </a:prstGeom>
          <a:noFill/>
          <a:ln/>
        </p:spPr>
        <p:txBody>
          <a:bodyPr wrap="square" lIns="0" tIns="0" rIns="0" bIns="0" rtlCol="0" anchor="t"/>
          <a:lstStyle/>
          <a:p>
            <a:pPr algn="l" indent="0" marL="0">
              <a:buNone/>
            </a:pPr>
            <a:r>
              <a:rPr lang="en-US" sz="1050" b="1" spc="200" kern="0" dirty="0">
                <a:solidFill>
                  <a:srgbClr val="7FB2E0"/>
                </a:solidFill>
                <a:latin typeface="Arial" pitchFamily="34" charset="0"/>
                <a:ea typeface="Arial" pitchFamily="34" charset="-122"/>
                <a:cs typeface="Arial" pitchFamily="34" charset="-120"/>
              </a:rPr>
              <a:t>TEAM</a:t>
            </a:r>
            <a:endParaRPr lang="en-US" sz="1050" dirty="0"/>
          </a:p>
        </p:txBody>
      </p:sp>
      <p:sp>
        <p:nvSpPr>
          <p:cNvPr id="9" name="Text 6"/>
          <p:cNvSpPr txBox="1"/>
          <p:nvPr/>
        </p:nvSpPr>
        <p:spPr>
          <a:xfrm>
            <a:off x="822960" y="5669280"/>
            <a:ext cx="2834640" cy="68580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Prasanna K</a:t>
            </a:r>
            <a:endParaRPr lang="en-US" sz="1400" dirty="0"/>
          </a:p>
          <a:p>
            <a:pPr algn="l" indent="0" marL="0">
              <a:buNone/>
            </a:pPr>
            <a:r>
              <a:rPr lang="en-US" sz="1300" dirty="0">
                <a:solidFill>
                  <a:srgbClr val="A9C4E0"/>
                </a:solidFill>
                <a:latin typeface="Arial" pitchFamily="34" charset="0"/>
                <a:ea typeface="Arial" pitchFamily="34" charset="-122"/>
                <a:cs typeface="Arial" pitchFamily="34" charset="-120"/>
              </a:rPr>
              <a:t>Roll No: 240701396</a:t>
            </a:r>
            <a:endParaRPr lang="en-US" sz="1400" dirty="0"/>
          </a:p>
        </p:txBody>
      </p:sp>
      <p:sp>
        <p:nvSpPr>
          <p:cNvPr id="10" name="Text 7"/>
          <p:cNvSpPr txBox="1"/>
          <p:nvPr/>
        </p:nvSpPr>
        <p:spPr>
          <a:xfrm>
            <a:off x="3931920" y="5669280"/>
            <a:ext cx="2834640" cy="68580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Vishwa K</a:t>
            </a:r>
            <a:endParaRPr lang="en-US" sz="1400" dirty="0"/>
          </a:p>
          <a:p>
            <a:pPr algn="l" indent="0" marL="0">
              <a:buNone/>
            </a:pPr>
            <a:r>
              <a:rPr lang="en-US" sz="1300" dirty="0">
                <a:solidFill>
                  <a:srgbClr val="A9C4E0"/>
                </a:solidFill>
                <a:latin typeface="Arial" pitchFamily="34" charset="0"/>
                <a:ea typeface="Arial" pitchFamily="34" charset="-122"/>
                <a:cs typeface="Arial" pitchFamily="34" charset="-120"/>
              </a:rPr>
              <a:t>Roll No: 240701606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OVERVIEW</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Abstract</a:t>
            </a:r>
            <a:endParaRPr lang="en-US" sz="3000" dirty="0"/>
          </a:p>
        </p:txBody>
      </p:sp>
      <p:sp>
        <p:nvSpPr>
          <p:cNvPr id="4" name="Shape 2"/>
          <p:cNvSpPr/>
          <p:nvPr/>
        </p:nvSpPr>
        <p:spPr>
          <a:xfrm>
            <a:off x="640080" y="1371600"/>
            <a:ext cx="5303520" cy="3337560"/>
          </a:xfrm>
          <a:prstGeom prst="rect">
            <a:avLst/>
          </a:prstGeom>
          <a:solidFill>
            <a:srgbClr val="FFFFFF"/>
          </a:solidFill>
          <a:ln w="9525">
            <a:solidFill>
              <a:srgbClr val="D9E1EA"/>
            </a:solidFill>
            <a:prstDash val="solid"/>
          </a:ln>
        </p:spPr>
      </p:sp>
      <p:sp>
        <p:nvSpPr>
          <p:cNvPr id="5" name="Text 3"/>
          <p:cNvSpPr txBox="1"/>
          <p:nvPr/>
        </p:nvSpPr>
        <p:spPr>
          <a:xfrm>
            <a:off x="914400" y="1600200"/>
            <a:ext cx="2743200" cy="201168"/>
          </a:xfrm>
          <a:prstGeom prst="rect">
            <a:avLst/>
          </a:prstGeom>
          <a:noFill/>
          <a:ln/>
        </p:spPr>
        <p:txBody>
          <a:bodyPr wrap="square" lIns="0" tIns="0" rIns="0" bIns="0" rtlCol="0" anchor="t"/>
          <a:lstStyle/>
          <a:p>
            <a:pPr algn="l" indent="0" marL="0">
              <a:buNone/>
            </a:pPr>
            <a:r>
              <a:rPr lang="en-US" sz="1100" b="1" spc="200" kern="0" dirty="0">
                <a:solidFill>
                  <a:srgbClr val="C94A4A"/>
                </a:solidFill>
                <a:latin typeface="Arial" pitchFamily="34" charset="0"/>
                <a:ea typeface="Arial" pitchFamily="34" charset="-122"/>
                <a:cs typeface="Arial" pitchFamily="34" charset="-120"/>
              </a:rPr>
              <a:t>PROBLEM</a:t>
            </a:r>
            <a:endParaRPr lang="en-US" sz="1100" dirty="0"/>
          </a:p>
        </p:txBody>
      </p:sp>
      <p:sp>
        <p:nvSpPr>
          <p:cNvPr id="6" name="Text 4"/>
          <p:cNvSpPr txBox="1"/>
          <p:nvPr/>
        </p:nvSpPr>
        <p:spPr>
          <a:xfrm>
            <a:off x="914400" y="1965960"/>
            <a:ext cx="4754880" cy="1737360"/>
          </a:xfrm>
          <a:prstGeom prst="rect">
            <a:avLst/>
          </a:prstGeom>
          <a:noFill/>
          <a:ln/>
        </p:spPr>
        <p:txBody>
          <a:bodyPr wrap="square" lIns="0" tIns="0" rIns="0" bIns="0" rtlCol="0" anchor="t"/>
          <a:lstStyle/>
          <a:p>
            <a:pPr algn="l" marL="203200" indent="-203200">
              <a:spcAft>
                <a:spcPts val="700"/>
              </a:spcAft>
              <a:buSzPct val="100000"/>
              <a:buChar char="•"/>
            </a:pPr>
            <a:r>
              <a:rPr lang="en-US" sz="1600" dirty="0">
                <a:solidFill>
                  <a:srgbClr val="0B1F33"/>
                </a:solidFill>
                <a:latin typeface="Arial" pitchFamily="34" charset="0"/>
                <a:ea typeface="Arial" pitchFamily="34" charset="-122"/>
                <a:cs typeface="Arial" pitchFamily="34" charset="-120"/>
              </a:rPr>
              <a:t>Fragmented financial information</a:t>
            </a:r>
            <a:endParaRPr lang="en-US" sz="1600" dirty="0"/>
          </a:p>
          <a:p>
            <a:pPr algn="l" marL="203200" indent="-203200">
              <a:spcAft>
                <a:spcPts val="700"/>
              </a:spcAft>
              <a:buSzPct val="100000"/>
              <a:buChar char="•"/>
            </a:pPr>
            <a:r>
              <a:rPr lang="en-US" sz="1600" dirty="0">
                <a:solidFill>
                  <a:srgbClr val="0B1F33"/>
                </a:solidFill>
                <a:latin typeface="Arial" pitchFamily="34" charset="0"/>
                <a:ea typeface="Arial" pitchFamily="34" charset="-122"/>
                <a:cs typeface="Arial" pitchFamily="34" charset="-120"/>
              </a:rPr>
              <a:t>Reactive financial decisions</a:t>
            </a:r>
            <a:endParaRPr lang="en-US" sz="1600" dirty="0"/>
          </a:p>
          <a:p>
            <a:pPr algn="l" marL="203200" indent="-203200">
              <a:spcAft>
                <a:spcPts val="700"/>
              </a:spcAft>
              <a:buSzPct val="100000"/>
              <a:buChar char="•"/>
            </a:pPr>
            <a:r>
              <a:rPr lang="en-US" sz="1600" dirty="0">
                <a:solidFill>
                  <a:srgbClr val="0B1F33"/>
                </a:solidFill>
                <a:latin typeface="Arial" pitchFamily="34" charset="0"/>
                <a:ea typeface="Arial" pitchFamily="34" charset="-122"/>
                <a:cs typeface="Arial" pitchFamily="34" charset="-120"/>
              </a:rPr>
              <a:t>Complex, interacting financial constraints</a:t>
            </a:r>
            <a:endParaRPr lang="en-US" sz="1600" dirty="0"/>
          </a:p>
          <a:p>
            <a:pPr algn="l" marL="203200" indent="-203200">
              <a:spcAft>
                <a:spcPts val="700"/>
              </a:spcAft>
              <a:buSzPct val="100000"/>
              <a:buChar char="•"/>
            </a:pPr>
            <a:r>
              <a:rPr lang="en-US" sz="1600" dirty="0">
                <a:solidFill>
                  <a:srgbClr val="0B1F33"/>
                </a:solidFill>
                <a:latin typeface="Arial" pitchFamily="34" charset="0"/>
                <a:ea typeface="Arial" pitchFamily="34" charset="-122"/>
                <a:cs typeface="Arial" pitchFamily="34" charset="-120"/>
              </a:rPr>
              <a:t>Limited decision traceability</a:t>
            </a:r>
            <a:endParaRPr lang="en-US" sz="1600" dirty="0"/>
          </a:p>
        </p:txBody>
      </p:sp>
      <p:sp>
        <p:nvSpPr>
          <p:cNvPr id="7" name="Shape 5"/>
          <p:cNvSpPr/>
          <p:nvPr/>
        </p:nvSpPr>
        <p:spPr>
          <a:xfrm>
            <a:off x="914400" y="3886200"/>
            <a:ext cx="4754880" cy="0"/>
          </a:xfrm>
          <a:prstGeom prst="line">
            <a:avLst/>
          </a:prstGeom>
          <a:noFill/>
          <a:ln w="9525">
            <a:solidFill>
              <a:srgbClr val="D9E1EA"/>
            </a:solidFill>
            <a:prstDash val="solid"/>
          </a:ln>
        </p:spPr>
      </p:sp>
      <p:sp>
        <p:nvSpPr>
          <p:cNvPr id="8" name="Text 6"/>
          <p:cNvSpPr txBox="1"/>
          <p:nvPr/>
        </p:nvSpPr>
        <p:spPr>
          <a:xfrm>
            <a:off x="914400" y="4023360"/>
            <a:ext cx="4754880" cy="502920"/>
          </a:xfrm>
          <a:prstGeom prst="rect">
            <a:avLst/>
          </a:prstGeom>
          <a:noFill/>
          <a:ln/>
        </p:spPr>
        <p:txBody>
          <a:bodyPr wrap="square" lIns="0" tIns="0" rIns="0" bIns="0" rtlCol="0" anchor="t"/>
          <a:lstStyle/>
          <a:p>
            <a:pPr algn="l" indent="0" marL="0">
              <a:buNone/>
            </a:pPr>
            <a:r>
              <a:rPr lang="en-US" sz="1250" dirty="0">
                <a:solidFill>
                  <a:srgbClr val="667085"/>
                </a:solidFill>
                <a:latin typeface="Arial" pitchFamily="34" charset="0"/>
                <a:ea typeface="Arial" pitchFamily="34" charset="-122"/>
                <a:cs typeface="Arial" pitchFamily="34" charset="-120"/>
              </a:rPr>
              <a:t>Traditional systems focus on recording transactions, monitoring balances and generating reports.</a:t>
            </a:r>
            <a:endParaRPr lang="en-US" sz="1250" dirty="0"/>
          </a:p>
        </p:txBody>
      </p:sp>
      <p:sp>
        <p:nvSpPr>
          <p:cNvPr id="9" name="Shape 7"/>
          <p:cNvSpPr/>
          <p:nvPr/>
        </p:nvSpPr>
        <p:spPr>
          <a:xfrm>
            <a:off x="6248095" y="1371600"/>
            <a:ext cx="5303520" cy="3337560"/>
          </a:xfrm>
          <a:prstGeom prst="rect">
            <a:avLst/>
          </a:prstGeom>
          <a:solidFill>
            <a:srgbClr val="FFFFFF"/>
          </a:solidFill>
          <a:ln w="9525">
            <a:solidFill>
              <a:srgbClr val="D9E1EA"/>
            </a:solidFill>
            <a:prstDash val="solid"/>
          </a:ln>
        </p:spPr>
      </p:sp>
      <p:sp>
        <p:nvSpPr>
          <p:cNvPr id="10" name="Text 8"/>
          <p:cNvSpPr txBox="1"/>
          <p:nvPr/>
        </p:nvSpPr>
        <p:spPr>
          <a:xfrm>
            <a:off x="6522415" y="1600200"/>
            <a:ext cx="2743200" cy="201168"/>
          </a:xfrm>
          <a:prstGeom prst="rect">
            <a:avLst/>
          </a:prstGeom>
          <a:noFill/>
          <a:ln/>
        </p:spPr>
        <p:txBody>
          <a:bodyPr wrap="square" lIns="0" tIns="0" rIns="0" bIns="0" rtlCol="0" anchor="t"/>
          <a:lstStyle/>
          <a:p>
            <a:pPr algn="l" indent="0" marL="0">
              <a:buNone/>
            </a:pPr>
            <a:r>
              <a:rPr lang="en-US" sz="1100" b="1" spc="200" kern="0" dirty="0">
                <a:solidFill>
                  <a:srgbClr val="1769AA"/>
                </a:solidFill>
                <a:latin typeface="Arial" pitchFamily="34" charset="0"/>
                <a:ea typeface="Arial" pitchFamily="34" charset="-122"/>
                <a:cs typeface="Arial" pitchFamily="34" charset="-120"/>
              </a:rPr>
              <a:t>FINOS APPROACH</a:t>
            </a:r>
            <a:endParaRPr lang="en-US" sz="1100" dirty="0"/>
          </a:p>
        </p:txBody>
      </p:sp>
      <p:sp>
        <p:nvSpPr>
          <p:cNvPr id="11" name="Text 9"/>
          <p:cNvSpPr txBox="1"/>
          <p:nvPr/>
        </p:nvSpPr>
        <p:spPr>
          <a:xfrm>
            <a:off x="6522415" y="1965960"/>
            <a:ext cx="4754880" cy="1920240"/>
          </a:xfrm>
          <a:prstGeom prst="rect">
            <a:avLst/>
          </a:prstGeom>
          <a:noFill/>
          <a:ln/>
        </p:spPr>
        <p:txBody>
          <a:bodyPr wrap="square" lIns="0" tIns="0" rIns="0" bIns="0" rtlCol="0" anchor="t"/>
          <a:lstStyle/>
          <a:p>
            <a:pPr algn="l" marL="203200" indent="-203200">
              <a:spcAft>
                <a:spcPts val="400"/>
              </a:spcAft>
              <a:buSzPct val="100000"/>
              <a:buChar char="•"/>
            </a:pPr>
            <a:r>
              <a:rPr lang="en-US" sz="1600" dirty="0">
                <a:solidFill>
                  <a:srgbClr val="0B1F33"/>
                </a:solidFill>
                <a:latin typeface="Arial" pitchFamily="34" charset="0"/>
                <a:ea typeface="Arial" pitchFamily="34" charset="-122"/>
                <a:cs typeface="Arial" pitchFamily="34" charset="-120"/>
              </a:rPr>
              <a:t>Multi-agent financial reasoning</a:t>
            </a:r>
            <a:endParaRPr lang="en-US" sz="1600" dirty="0"/>
          </a:p>
          <a:p>
            <a:pPr algn="l" marL="203200" indent="-203200">
              <a:spcAft>
                <a:spcPts val="400"/>
              </a:spcAft>
              <a:buSzPct val="100000"/>
              <a:buChar char="•"/>
            </a:pPr>
            <a:r>
              <a:rPr lang="en-US" sz="1600" dirty="0">
                <a:solidFill>
                  <a:srgbClr val="0B1F33"/>
                </a:solidFill>
                <a:latin typeface="Arial" pitchFamily="34" charset="0"/>
                <a:ea typeface="Arial" pitchFamily="34" charset="-122"/>
                <a:cs typeface="Arial" pitchFamily="34" charset="-120"/>
              </a:rPr>
              <a:t>Constraint-aware planning</a:t>
            </a:r>
            <a:endParaRPr lang="en-US" sz="1600" dirty="0"/>
          </a:p>
          <a:p>
            <a:pPr algn="l" marL="203200" indent="-203200">
              <a:spcAft>
                <a:spcPts val="400"/>
              </a:spcAft>
              <a:buSzPct val="100000"/>
              <a:buChar char="•"/>
            </a:pPr>
            <a:r>
              <a:rPr lang="en-US" sz="1600" dirty="0">
                <a:solidFill>
                  <a:srgbClr val="0B1F33"/>
                </a:solidFill>
                <a:latin typeface="Arial" pitchFamily="34" charset="0"/>
                <a:ea typeface="Arial" pitchFamily="34" charset="-122"/>
                <a:cs typeface="Arial" pitchFamily="34" charset="-120"/>
              </a:rPr>
              <a:t>Policy validation</a:t>
            </a:r>
            <a:endParaRPr lang="en-US" sz="1600" dirty="0"/>
          </a:p>
          <a:p>
            <a:pPr algn="l" marL="203200" indent="-203200">
              <a:spcAft>
                <a:spcPts val="400"/>
              </a:spcAft>
              <a:buSzPct val="100000"/>
              <a:buChar char="•"/>
            </a:pPr>
            <a:r>
              <a:rPr lang="en-US" sz="1600" dirty="0">
                <a:solidFill>
                  <a:srgbClr val="0B1F33"/>
                </a:solidFill>
                <a:latin typeface="Arial" pitchFamily="34" charset="0"/>
                <a:ea typeface="Arial" pitchFamily="34" charset="-122"/>
                <a:cs typeface="Arial" pitchFamily="34" charset="-120"/>
              </a:rPr>
              <a:t>Human approval</a:t>
            </a:r>
            <a:endParaRPr lang="en-US" sz="1600" dirty="0"/>
          </a:p>
          <a:p>
            <a:pPr algn="l" marL="203200" indent="-203200">
              <a:spcAft>
                <a:spcPts val="400"/>
              </a:spcAft>
              <a:buSzPct val="100000"/>
              <a:buChar char="•"/>
            </a:pPr>
            <a:r>
              <a:rPr lang="en-US" sz="1600" dirty="0">
                <a:solidFill>
                  <a:srgbClr val="0B1F33"/>
                </a:solidFill>
                <a:latin typeface="Arial" pitchFamily="34" charset="0"/>
                <a:ea typeface="Arial" pitchFamily="34" charset="-122"/>
                <a:cs typeface="Arial" pitchFamily="34" charset="-120"/>
              </a:rPr>
              <a:t>Simulated execution</a:t>
            </a:r>
            <a:endParaRPr lang="en-US" sz="1600" dirty="0"/>
          </a:p>
          <a:p>
            <a:pPr algn="l" marL="203200" indent="-203200">
              <a:spcAft>
                <a:spcPts val="400"/>
              </a:spcAft>
              <a:buSzPct val="100000"/>
              <a:buChar char="•"/>
            </a:pPr>
            <a:r>
              <a:rPr lang="en-US" sz="1600" dirty="0">
                <a:solidFill>
                  <a:srgbClr val="0B1F33"/>
                </a:solidFill>
                <a:latin typeface="Arial" pitchFamily="34" charset="0"/>
                <a:ea typeface="Arial" pitchFamily="34" charset="-122"/>
                <a:cs typeface="Arial" pitchFamily="34" charset="-120"/>
              </a:rPr>
              <a:t>Verification and replanning</a:t>
            </a:r>
            <a:endParaRPr lang="en-US" sz="1600" dirty="0"/>
          </a:p>
        </p:txBody>
      </p:sp>
      <p:sp>
        <p:nvSpPr>
          <p:cNvPr id="12" name="Shape 10"/>
          <p:cNvSpPr/>
          <p:nvPr/>
        </p:nvSpPr>
        <p:spPr>
          <a:xfrm>
            <a:off x="6522415" y="3886200"/>
            <a:ext cx="4754880" cy="0"/>
          </a:xfrm>
          <a:prstGeom prst="line">
            <a:avLst/>
          </a:prstGeom>
          <a:noFill/>
          <a:ln w="9525">
            <a:solidFill>
              <a:srgbClr val="D9E1EA"/>
            </a:solidFill>
            <a:prstDash val="solid"/>
          </a:ln>
        </p:spPr>
      </p:sp>
      <p:sp>
        <p:nvSpPr>
          <p:cNvPr id="13" name="Text 11"/>
          <p:cNvSpPr txBox="1"/>
          <p:nvPr/>
        </p:nvSpPr>
        <p:spPr>
          <a:xfrm>
            <a:off x="6522415" y="4023360"/>
            <a:ext cx="4754880" cy="502920"/>
          </a:xfrm>
          <a:prstGeom prst="rect">
            <a:avLst/>
          </a:prstGeom>
          <a:noFill/>
          <a:ln/>
        </p:spPr>
        <p:txBody>
          <a:bodyPr wrap="square" lIns="0" tIns="0" rIns="0" bIns="0" rtlCol="0" anchor="t"/>
          <a:lstStyle/>
          <a:p>
            <a:pPr algn="l" indent="0" marL="0">
              <a:buNone/>
            </a:pPr>
            <a:r>
              <a:rPr lang="en-US" sz="1250" dirty="0">
                <a:solidFill>
                  <a:srgbClr val="667085"/>
                </a:solidFill>
                <a:latin typeface="Arial" pitchFamily="34" charset="0"/>
                <a:ea typeface="Arial" pitchFamily="34" charset="-122"/>
                <a:cs typeface="Arial" pitchFamily="34" charset="-120"/>
              </a:rPr>
              <a:t>Operates on a simulated financial environment; no real transactions are executed.</a:t>
            </a:r>
            <a:endParaRPr lang="en-US" sz="1250" dirty="0"/>
          </a:p>
        </p:txBody>
      </p:sp>
      <p:sp>
        <p:nvSpPr>
          <p:cNvPr id="14" name="Shape 12"/>
          <p:cNvSpPr/>
          <p:nvPr/>
        </p:nvSpPr>
        <p:spPr>
          <a:xfrm>
            <a:off x="640080" y="4937760"/>
            <a:ext cx="10911535" cy="1234440"/>
          </a:xfrm>
          <a:prstGeom prst="rect">
            <a:avLst/>
          </a:prstGeom>
          <a:solidFill>
            <a:srgbClr val="0B1F33"/>
          </a:solidFill>
          <a:ln/>
        </p:spPr>
      </p:sp>
      <p:sp>
        <p:nvSpPr>
          <p:cNvPr id="15" name="Text 13"/>
          <p:cNvSpPr txBox="1"/>
          <p:nvPr/>
        </p:nvSpPr>
        <p:spPr>
          <a:xfrm>
            <a:off x="914400" y="5257800"/>
            <a:ext cx="2194560" cy="201168"/>
          </a:xfrm>
          <a:prstGeom prst="rect">
            <a:avLst/>
          </a:prstGeom>
          <a:noFill/>
          <a:ln/>
        </p:spPr>
        <p:txBody>
          <a:bodyPr wrap="square" lIns="0" tIns="0" rIns="0" bIns="0" rtlCol="0" anchor="t"/>
          <a:lstStyle/>
          <a:p>
            <a:pPr algn="l" indent="0" marL="0">
              <a:buNone/>
            </a:pPr>
            <a:r>
              <a:rPr lang="en-US" sz="1100" b="1" spc="200" kern="0" dirty="0">
                <a:solidFill>
                  <a:srgbClr val="7FB2E0"/>
                </a:solidFill>
                <a:latin typeface="Arial" pitchFamily="34" charset="0"/>
                <a:ea typeface="Arial" pitchFamily="34" charset="-122"/>
                <a:cs typeface="Arial" pitchFamily="34" charset="-120"/>
              </a:rPr>
              <a:t>EXPECTED OUTCOME</a:t>
            </a:r>
            <a:endParaRPr lang="en-US" sz="1100" dirty="0"/>
          </a:p>
        </p:txBody>
      </p:sp>
      <p:sp>
        <p:nvSpPr>
          <p:cNvPr id="16" name="Text 14"/>
          <p:cNvSpPr txBox="1"/>
          <p:nvPr/>
        </p:nvSpPr>
        <p:spPr>
          <a:xfrm>
            <a:off x="914400" y="5532120"/>
            <a:ext cx="1920240" cy="457200"/>
          </a:xfrm>
          <a:prstGeom prst="rect">
            <a:avLst/>
          </a:prstGeom>
          <a:noFill/>
          <a:ln/>
        </p:spPr>
        <p:txBody>
          <a:bodyPr wrap="square" lIns="0" tIns="0" rIns="0" bIns="0" rtlCol="0" anchor="t"/>
          <a:lstStyle/>
          <a:p>
            <a:pPr algn="l" indent="0" marL="0">
              <a:buNone/>
            </a:pPr>
            <a:r>
              <a:rPr lang="en-US" sz="1250" dirty="0">
                <a:solidFill>
                  <a:srgbClr val="A9C4E0"/>
                </a:solidFill>
                <a:latin typeface="Arial" pitchFamily="34" charset="0"/>
                <a:ea typeface="Arial" pitchFamily="34" charset="-122"/>
                <a:cs typeface="Arial" pitchFamily="34" charset="-120"/>
              </a:rPr>
              <a:t>Financial decision support that is:</a:t>
            </a:r>
            <a:endParaRPr lang="en-US" sz="1250" dirty="0"/>
          </a:p>
        </p:txBody>
      </p:sp>
      <p:sp>
        <p:nvSpPr>
          <p:cNvPr id="17" name="Text 15"/>
          <p:cNvSpPr txBox="1"/>
          <p:nvPr/>
        </p:nvSpPr>
        <p:spPr>
          <a:xfrm>
            <a:off x="3154680" y="5303520"/>
            <a:ext cx="1939214" cy="32004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Transparent</a:t>
            </a:r>
            <a:endParaRPr lang="en-US" sz="1500" dirty="0"/>
          </a:p>
        </p:txBody>
      </p:sp>
      <p:sp>
        <p:nvSpPr>
          <p:cNvPr id="18" name="Text 16"/>
          <p:cNvSpPr txBox="1"/>
          <p:nvPr/>
        </p:nvSpPr>
        <p:spPr>
          <a:xfrm>
            <a:off x="3154680" y="5687568"/>
            <a:ext cx="1939214" cy="274320"/>
          </a:xfrm>
          <a:prstGeom prst="rect">
            <a:avLst/>
          </a:prstGeom>
          <a:noFill/>
          <a:ln/>
        </p:spPr>
        <p:txBody>
          <a:bodyPr wrap="square" lIns="0" tIns="0" rIns="0" bIns="0" rtlCol="0" anchor="t"/>
          <a:lstStyle/>
          <a:p>
            <a:pPr algn="l" indent="0" marL="0">
              <a:buNone/>
            </a:pPr>
            <a:r>
              <a:rPr lang="en-US" sz="1250" dirty="0">
                <a:solidFill>
                  <a:srgbClr val="A9C4E0"/>
                </a:solidFill>
                <a:latin typeface="Arial" pitchFamily="34" charset="0"/>
                <a:ea typeface="Arial" pitchFamily="34" charset="-122"/>
                <a:cs typeface="Arial" pitchFamily="34" charset="-120"/>
              </a:rPr>
              <a:t>Reasoning is visible</a:t>
            </a:r>
            <a:endParaRPr lang="en-US" sz="1250" dirty="0"/>
          </a:p>
        </p:txBody>
      </p:sp>
      <p:sp>
        <p:nvSpPr>
          <p:cNvPr id="19" name="Shape 17"/>
          <p:cNvSpPr/>
          <p:nvPr/>
        </p:nvSpPr>
        <p:spPr>
          <a:xfrm>
            <a:off x="5093894" y="5212080"/>
            <a:ext cx="0" cy="685800"/>
          </a:xfrm>
          <a:prstGeom prst="line">
            <a:avLst/>
          </a:prstGeom>
          <a:noFill/>
          <a:ln w="9525">
            <a:solidFill>
              <a:srgbClr val="24507A"/>
            </a:solidFill>
            <a:prstDash val="solid"/>
          </a:ln>
        </p:spPr>
      </p:sp>
      <p:sp>
        <p:nvSpPr>
          <p:cNvPr id="20" name="Text 18"/>
          <p:cNvSpPr txBox="1"/>
          <p:nvPr/>
        </p:nvSpPr>
        <p:spPr>
          <a:xfrm>
            <a:off x="5231054" y="5303520"/>
            <a:ext cx="1939214" cy="32004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Auditable</a:t>
            </a:r>
            <a:endParaRPr lang="en-US" sz="1500" dirty="0"/>
          </a:p>
        </p:txBody>
      </p:sp>
      <p:sp>
        <p:nvSpPr>
          <p:cNvPr id="21" name="Text 19"/>
          <p:cNvSpPr txBox="1"/>
          <p:nvPr/>
        </p:nvSpPr>
        <p:spPr>
          <a:xfrm>
            <a:off x="5231054" y="5687568"/>
            <a:ext cx="1939214" cy="274320"/>
          </a:xfrm>
          <a:prstGeom prst="rect">
            <a:avLst/>
          </a:prstGeom>
          <a:noFill/>
          <a:ln/>
        </p:spPr>
        <p:txBody>
          <a:bodyPr wrap="square" lIns="0" tIns="0" rIns="0" bIns="0" rtlCol="0" anchor="t"/>
          <a:lstStyle/>
          <a:p>
            <a:pPr algn="l" indent="0" marL="0">
              <a:buNone/>
            </a:pPr>
            <a:r>
              <a:rPr lang="en-US" sz="1250" dirty="0">
                <a:solidFill>
                  <a:srgbClr val="A9C4E0"/>
                </a:solidFill>
                <a:latin typeface="Arial" pitchFamily="34" charset="0"/>
                <a:ea typeface="Arial" pitchFamily="34" charset="-122"/>
                <a:cs typeface="Arial" pitchFamily="34" charset="-120"/>
              </a:rPr>
              <a:t>Decisions are logged</a:t>
            </a:r>
            <a:endParaRPr lang="en-US" sz="1250" dirty="0"/>
          </a:p>
        </p:txBody>
      </p:sp>
      <p:sp>
        <p:nvSpPr>
          <p:cNvPr id="22" name="Shape 20"/>
          <p:cNvSpPr/>
          <p:nvPr/>
        </p:nvSpPr>
        <p:spPr>
          <a:xfrm>
            <a:off x="7170268" y="5212080"/>
            <a:ext cx="0" cy="685800"/>
          </a:xfrm>
          <a:prstGeom prst="line">
            <a:avLst/>
          </a:prstGeom>
          <a:noFill/>
          <a:ln w="9525">
            <a:solidFill>
              <a:srgbClr val="24507A"/>
            </a:solidFill>
            <a:prstDash val="solid"/>
          </a:ln>
        </p:spPr>
      </p:sp>
      <p:sp>
        <p:nvSpPr>
          <p:cNvPr id="23" name="Text 21"/>
          <p:cNvSpPr txBox="1"/>
          <p:nvPr/>
        </p:nvSpPr>
        <p:spPr>
          <a:xfrm>
            <a:off x="7307428" y="5303520"/>
            <a:ext cx="1939214" cy="32004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Constraint-aware</a:t>
            </a:r>
            <a:endParaRPr lang="en-US" sz="1500" dirty="0"/>
          </a:p>
        </p:txBody>
      </p:sp>
      <p:sp>
        <p:nvSpPr>
          <p:cNvPr id="24" name="Text 22"/>
          <p:cNvSpPr txBox="1"/>
          <p:nvPr/>
        </p:nvSpPr>
        <p:spPr>
          <a:xfrm>
            <a:off x="7307428" y="5687568"/>
            <a:ext cx="1939214" cy="274320"/>
          </a:xfrm>
          <a:prstGeom prst="rect">
            <a:avLst/>
          </a:prstGeom>
          <a:noFill/>
          <a:ln/>
        </p:spPr>
        <p:txBody>
          <a:bodyPr wrap="square" lIns="0" tIns="0" rIns="0" bIns="0" rtlCol="0" anchor="t"/>
          <a:lstStyle/>
          <a:p>
            <a:pPr algn="l" indent="0" marL="0">
              <a:buNone/>
            </a:pPr>
            <a:r>
              <a:rPr lang="en-US" sz="1250" dirty="0">
                <a:solidFill>
                  <a:srgbClr val="A9C4E0"/>
                </a:solidFill>
                <a:latin typeface="Arial" pitchFamily="34" charset="0"/>
                <a:ea typeface="Arial" pitchFamily="34" charset="-122"/>
                <a:cs typeface="Arial" pitchFamily="34" charset="-120"/>
              </a:rPr>
              <a:t>Policies are enforced</a:t>
            </a:r>
            <a:endParaRPr lang="en-US" sz="1250" dirty="0"/>
          </a:p>
        </p:txBody>
      </p:sp>
      <p:sp>
        <p:nvSpPr>
          <p:cNvPr id="25" name="Shape 23"/>
          <p:cNvSpPr/>
          <p:nvPr/>
        </p:nvSpPr>
        <p:spPr>
          <a:xfrm>
            <a:off x="9246641" y="5212080"/>
            <a:ext cx="0" cy="685800"/>
          </a:xfrm>
          <a:prstGeom prst="line">
            <a:avLst/>
          </a:prstGeom>
          <a:noFill/>
          <a:ln w="9525">
            <a:solidFill>
              <a:srgbClr val="24507A"/>
            </a:solidFill>
            <a:prstDash val="solid"/>
          </a:ln>
        </p:spPr>
      </p:sp>
      <p:sp>
        <p:nvSpPr>
          <p:cNvPr id="26" name="Text 24"/>
          <p:cNvSpPr txBox="1"/>
          <p:nvPr/>
        </p:nvSpPr>
        <p:spPr>
          <a:xfrm>
            <a:off x="9383801" y="5303520"/>
            <a:ext cx="1939214" cy="32004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Adaptive</a:t>
            </a:r>
            <a:endParaRPr lang="en-US" sz="1500" dirty="0"/>
          </a:p>
        </p:txBody>
      </p:sp>
      <p:sp>
        <p:nvSpPr>
          <p:cNvPr id="27" name="Text 25"/>
          <p:cNvSpPr txBox="1"/>
          <p:nvPr/>
        </p:nvSpPr>
        <p:spPr>
          <a:xfrm>
            <a:off x="9383801" y="5687568"/>
            <a:ext cx="1939214" cy="274320"/>
          </a:xfrm>
          <a:prstGeom prst="rect">
            <a:avLst/>
          </a:prstGeom>
          <a:noFill/>
          <a:ln/>
        </p:spPr>
        <p:txBody>
          <a:bodyPr wrap="square" lIns="0" tIns="0" rIns="0" bIns="0" rtlCol="0" anchor="t"/>
          <a:lstStyle/>
          <a:p>
            <a:pPr algn="l" indent="0" marL="0">
              <a:buNone/>
            </a:pPr>
            <a:r>
              <a:rPr lang="en-US" sz="1250" dirty="0">
                <a:solidFill>
                  <a:srgbClr val="A9C4E0"/>
                </a:solidFill>
                <a:latin typeface="Arial" pitchFamily="34" charset="0"/>
                <a:ea typeface="Arial" pitchFamily="34" charset="-122"/>
                <a:cs typeface="Arial" pitchFamily="34" charset="-120"/>
              </a:rPr>
              <a:t>Replans on change</a:t>
            </a:r>
            <a:endParaRPr lang="en-US" sz="1250" dirty="0"/>
          </a:p>
        </p:txBody>
      </p:sp>
      <p:sp>
        <p:nvSpPr>
          <p:cNvPr id="28" name="Shape 26"/>
          <p:cNvSpPr/>
          <p:nvPr/>
        </p:nvSpPr>
        <p:spPr>
          <a:xfrm>
            <a:off x="640080" y="6382512"/>
            <a:ext cx="10911535" cy="0"/>
          </a:xfrm>
          <a:prstGeom prst="line">
            <a:avLst/>
          </a:prstGeom>
          <a:noFill/>
          <a:ln w="9525">
            <a:solidFill>
              <a:srgbClr val="D9E1EA"/>
            </a:solidFill>
            <a:prstDash val="solid"/>
          </a:ln>
        </p:spPr>
      </p:sp>
      <p:sp>
        <p:nvSpPr>
          <p:cNvPr id="29" name="Text 27"/>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RESEARCH</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Literature Survey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1828800"/>
                <a:gridCol w="1600200"/>
                <a:gridCol w="2697480"/>
                <a:gridCol w="2651760"/>
                <a:gridCol w="2133295"/>
              </a:tblGrid>
              <a:tr h="384048">
                <a:tc>
                  <a:txBody>
                    <a:bodyPr/>
                    <a:lstStyle/>
                    <a:p>
                      <a:pPr indent="0" marL="0">
                        <a:buNone/>
                      </a:pPr>
                      <a:r>
                        <a:rPr lang="en-US" sz="1150" b="1" dirty="0">
                          <a:solidFill>
                            <a:srgbClr val="FFFFFF"/>
                          </a:solidFill>
                          <a:latin typeface="Arial" pitchFamily="34" charset="0"/>
                          <a:ea typeface="Arial" pitchFamily="34" charset="-122"/>
                          <a:cs typeface="Arial" pitchFamily="34" charset="-120"/>
                        </a:rPr>
                        <a:t>Author / Year</a:t>
                      </a:r>
                      <a:endParaRPr lang="en-US" sz="115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Research Area</a:t>
                      </a:r>
                      <a:endParaRPr lang="en-US" sz="115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Key Contribution</a:t>
                      </a:r>
                      <a:endParaRPr lang="en-US" sz="115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Limitation / Research Gap</a:t>
                      </a:r>
                      <a:endParaRPr lang="en-US" sz="115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FINOS Relevance</a:t>
                      </a:r>
                      <a:endParaRPr lang="en-US" sz="115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r>
              <a:tr h="694944">
                <a:tc>
                  <a:txBody>
                    <a:bodyPr/>
                    <a:lstStyle/>
                    <a:p>
                      <a:pPr indent="0" marL="0">
                        <a:buNone/>
                      </a:pPr>
                      <a:r>
                        <a:rPr lang="en-US" sz="1100" b="1" dirty="0">
                          <a:solidFill>
                            <a:srgbClr val="0B1F33"/>
                          </a:solidFill>
                          <a:latin typeface="Arial" pitchFamily="34" charset="0"/>
                          <a:ea typeface="Arial" pitchFamily="34" charset="-122"/>
                          <a:cs typeface="Arial" pitchFamily="34" charset="-120"/>
                        </a:rPr>
                        <a:t>Cao (2022)</a:t>
                      </a:r>
                      <a:endParaRPr lang="en-US" sz="1100" dirty="0">
                        <a:latin typeface="Arial" charset="0"/>
                        <a:ea typeface="Arial" charset="0"/>
                        <a:cs typeface="Arial" charset="0"/>
                      </a:endParaRPr>
                    </a:p>
                    <a:p>
                      <a:pPr indent="0" marL="0">
                        <a:buNone/>
                      </a:pPr>
                      <a:r>
                        <a:rPr lang="en-US" sz="1000" dirty="0">
                          <a:solidFill>
                            <a:srgbClr val="667085"/>
                          </a:solidFill>
                          <a:latin typeface="Arial" pitchFamily="34" charset="0"/>
                          <a:ea typeface="Arial" pitchFamily="34" charset="-122"/>
                          <a:cs typeface="Arial" pitchFamily="34" charset="-120"/>
                        </a:rPr>
                        <a:t>ACM Computing Surveys</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b="1" dirty="0">
                          <a:solidFill>
                            <a:srgbClr val="12395A"/>
                          </a:solidFill>
                          <a:latin typeface="Arial" pitchFamily="34" charset="0"/>
                          <a:ea typeface="Arial" pitchFamily="34" charset="-122"/>
                          <a:cs typeface="Arial" pitchFamily="34" charset="-120"/>
                        </a:rPr>
                        <a:t>AI in FinTech</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Survey of challenges, techniques and opportunities of AI across finance.</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Reviews the field; proposes no operational decision workflow.</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b="1" dirty="0">
                          <a:solidFill>
                            <a:srgbClr val="1769AA"/>
                          </a:solidFill>
                          <a:latin typeface="Arial" pitchFamily="34" charset="0"/>
                          <a:ea typeface="Arial" pitchFamily="34" charset="-122"/>
                          <a:cs typeface="Arial" pitchFamily="34" charset="-120"/>
                        </a:rPr>
                        <a:t>Places FINOS within the AI-in-finance landscape.</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r h="694944">
                <a:tc>
                  <a:txBody>
                    <a:bodyPr/>
                    <a:lstStyle/>
                    <a:p>
                      <a:pPr indent="0" marL="0">
                        <a:buNone/>
                      </a:pPr>
                      <a:r>
                        <a:rPr lang="en-US" sz="1100" b="1" dirty="0">
                          <a:solidFill>
                            <a:srgbClr val="0B1F33"/>
                          </a:solidFill>
                          <a:latin typeface="Arial" pitchFamily="34" charset="0"/>
                          <a:ea typeface="Arial" pitchFamily="34" charset="-122"/>
                          <a:cs typeface="Arial" pitchFamily="34" charset="-120"/>
                        </a:rPr>
                        <a:t>Bussmann et al. (2021)</a:t>
                      </a:r>
                      <a:endParaRPr lang="en-US" sz="1100" dirty="0">
                        <a:latin typeface="Arial" charset="0"/>
                        <a:ea typeface="Arial" charset="0"/>
                        <a:cs typeface="Arial" charset="0"/>
                      </a:endParaRPr>
                    </a:p>
                    <a:p>
                      <a:pPr indent="0" marL="0">
                        <a:buNone/>
                      </a:pPr>
                      <a:r>
                        <a:rPr lang="en-US" sz="1000" dirty="0">
                          <a:solidFill>
                            <a:srgbClr val="667085"/>
                          </a:solidFill>
                          <a:latin typeface="Arial" pitchFamily="34" charset="0"/>
                          <a:ea typeface="Arial" pitchFamily="34" charset="-122"/>
                          <a:cs typeface="Arial" pitchFamily="34" charset="-120"/>
                        </a:rPr>
                        <a:t>Computational Economics</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100" b="1" dirty="0">
                          <a:solidFill>
                            <a:srgbClr val="12395A"/>
                          </a:solidFill>
                          <a:latin typeface="Arial" pitchFamily="34" charset="0"/>
                          <a:ea typeface="Arial" pitchFamily="34" charset="-122"/>
                          <a:cs typeface="Arial" pitchFamily="34" charset="-120"/>
                        </a:rPr>
                        <a:t>ML for financial risk</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Explainable credit-risk model using Shapley values on 15,000 SMEs seeking credit.</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Addresses risk scoring only; no planning, validation or approval.</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100" b="1" dirty="0">
                          <a:solidFill>
                            <a:srgbClr val="1769AA"/>
                          </a:solidFill>
                          <a:latin typeface="Arial" pitchFamily="34" charset="0"/>
                          <a:ea typeface="Arial" pitchFamily="34" charset="-122"/>
                          <a:cs typeface="Arial" pitchFamily="34" charset="-120"/>
                        </a:rPr>
                        <a:t>Motivates explainable risk assessment in the Risk Agent.</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0ECF8"/>
                    </a:solidFill>
                  </a:tcPr>
                </a:tc>
              </a:tr>
              <a:tr h="694944">
                <a:tc>
                  <a:txBody>
                    <a:bodyPr/>
                    <a:lstStyle/>
                    <a:p>
                      <a:pPr indent="0" marL="0">
                        <a:buNone/>
                      </a:pPr>
                      <a:r>
                        <a:rPr lang="en-US" sz="1100" b="1" dirty="0">
                          <a:solidFill>
                            <a:srgbClr val="0B1F33"/>
                          </a:solidFill>
                          <a:latin typeface="Arial" pitchFamily="34" charset="0"/>
                          <a:ea typeface="Arial" pitchFamily="34" charset="-122"/>
                          <a:cs typeface="Arial" pitchFamily="34" charset="-120"/>
                        </a:rPr>
                        <a:t>Yu et al. (2024)</a:t>
                      </a:r>
                      <a:endParaRPr lang="en-US" sz="1100" dirty="0">
                        <a:latin typeface="Arial" charset="0"/>
                        <a:ea typeface="Arial" charset="0"/>
                        <a:cs typeface="Arial" charset="0"/>
                      </a:endParaRPr>
                    </a:p>
                    <a:p>
                      <a:pPr indent="0" marL="0">
                        <a:buNone/>
                      </a:pPr>
                      <a:r>
                        <a:rPr lang="en-US" sz="1000" dirty="0">
                          <a:solidFill>
                            <a:srgbClr val="667085"/>
                          </a:solidFill>
                          <a:latin typeface="Arial" pitchFamily="34" charset="0"/>
                          <a:ea typeface="Arial" pitchFamily="34" charset="-122"/>
                          <a:cs typeface="Arial" pitchFamily="34" charset="-120"/>
                        </a:rPr>
                        <a:t>NeurIPS 37 (FinCon)</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b="1" dirty="0">
                          <a:solidFill>
                            <a:srgbClr val="12395A"/>
                          </a:solidFill>
                          <a:latin typeface="Arial" pitchFamily="34" charset="0"/>
                          <a:ea typeface="Arial" pitchFamily="34" charset="-122"/>
                          <a:cs typeface="Arial" pitchFamily="34" charset="-120"/>
                        </a:rPr>
                        <a:t>Multi-agent financial systems</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LLM manager-analyst agent hierarchy with risk control for trading tasks.</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Focused on trading and portfolios, not public-finance controls.</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b="1" dirty="0">
                          <a:solidFill>
                            <a:srgbClr val="1769AA"/>
                          </a:solidFill>
                          <a:latin typeface="Arial" pitchFamily="34" charset="0"/>
                          <a:ea typeface="Arial" pitchFamily="34" charset="-122"/>
                          <a:cs typeface="Arial" pitchFamily="34" charset="-120"/>
                        </a:rPr>
                        <a:t>Supports multi-agent design with role specialization.</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r h="694944">
                <a:tc>
                  <a:txBody>
                    <a:bodyPr/>
                    <a:lstStyle/>
                    <a:p>
                      <a:pPr indent="0" marL="0">
                        <a:buNone/>
                      </a:pPr>
                      <a:r>
                        <a:rPr lang="en-US" sz="1100" b="1" dirty="0">
                          <a:solidFill>
                            <a:srgbClr val="0B1F33"/>
                          </a:solidFill>
                          <a:latin typeface="Arial" pitchFamily="34" charset="0"/>
                          <a:ea typeface="Arial" pitchFamily="34" charset="-122"/>
                          <a:cs typeface="Arial" pitchFamily="34" charset="-120"/>
                        </a:rPr>
                        <a:t>Wu et al. (2023)</a:t>
                      </a:r>
                      <a:endParaRPr lang="en-US" sz="1100" dirty="0">
                        <a:latin typeface="Arial" charset="0"/>
                        <a:ea typeface="Arial" charset="0"/>
                        <a:cs typeface="Arial" charset="0"/>
                      </a:endParaRPr>
                    </a:p>
                    <a:p>
                      <a:pPr indent="0" marL="0">
                        <a:buNone/>
                      </a:pPr>
                      <a:r>
                        <a:rPr lang="en-US" sz="1000" dirty="0">
                          <a:solidFill>
                            <a:srgbClr val="667085"/>
                          </a:solidFill>
                          <a:latin typeface="Arial" pitchFamily="34" charset="0"/>
                          <a:ea typeface="Arial" pitchFamily="34" charset="-122"/>
                          <a:cs typeface="Arial" pitchFamily="34" charset="-120"/>
                        </a:rPr>
                        <a:t>arXiv:2303.17564</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100" b="1" dirty="0">
                          <a:solidFill>
                            <a:srgbClr val="12395A"/>
                          </a:solidFill>
                          <a:latin typeface="Arial" pitchFamily="34" charset="0"/>
                          <a:ea typeface="Arial" pitchFamily="34" charset="-122"/>
                          <a:cs typeface="Arial" pitchFamily="34" charset="-120"/>
                        </a:rPr>
                        <a:t>Generative AI in finance</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BloombergGPT: 50B-parameter language model trained on financial data.</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Language capability only; no constrained planning or verification.</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100" b="1" dirty="0">
                          <a:solidFill>
                            <a:srgbClr val="1769AA"/>
                          </a:solidFill>
                          <a:latin typeface="Arial" pitchFamily="34" charset="0"/>
                          <a:ea typeface="Arial" pitchFamily="34" charset="-122"/>
                          <a:cs typeface="Arial" pitchFamily="34" charset="-120"/>
                        </a:rPr>
                        <a:t>Shows GenAI potential; FINOS adds explicit controls.</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0ECF8"/>
                    </a:solidFill>
                  </a:tcPr>
                </a:tc>
              </a:tr>
              <a:tr h="694944">
                <a:tc>
                  <a:txBody>
                    <a:bodyPr/>
                    <a:lstStyle/>
                    <a:p>
                      <a:pPr indent="0" marL="0">
                        <a:buNone/>
                      </a:pPr>
                      <a:r>
                        <a:rPr lang="en-US" sz="1100" b="1" dirty="0">
                          <a:solidFill>
                            <a:srgbClr val="0B1F33"/>
                          </a:solidFill>
                          <a:latin typeface="Arial" pitchFamily="34" charset="0"/>
                          <a:ea typeface="Arial" pitchFamily="34" charset="-122"/>
                          <a:cs typeface="Arial" pitchFamily="34" charset="-120"/>
                        </a:rPr>
                        <a:t>Yang et al. (2020)</a:t>
                      </a:r>
                      <a:endParaRPr lang="en-US" sz="1100" dirty="0">
                        <a:latin typeface="Arial" charset="0"/>
                        <a:ea typeface="Arial" charset="0"/>
                        <a:cs typeface="Arial" charset="0"/>
                      </a:endParaRPr>
                    </a:p>
                    <a:p>
                      <a:pPr indent="0" marL="0">
                        <a:buNone/>
                      </a:pPr>
                      <a:r>
                        <a:rPr lang="en-US" sz="1000" dirty="0">
                          <a:solidFill>
                            <a:srgbClr val="667085"/>
                          </a:solidFill>
                          <a:latin typeface="Arial" pitchFamily="34" charset="0"/>
                          <a:ea typeface="Arial" pitchFamily="34" charset="-122"/>
                          <a:cs typeface="Arial" pitchFamily="34" charset="-120"/>
                        </a:rPr>
                        <a:t>ACM ICAIF</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b="1" dirty="0">
                          <a:solidFill>
                            <a:srgbClr val="12395A"/>
                          </a:solidFill>
                          <a:latin typeface="Arial" pitchFamily="34" charset="0"/>
                          <a:ea typeface="Arial" pitchFamily="34" charset="-122"/>
                          <a:cs typeface="Arial" pitchFamily="34" charset="-120"/>
                        </a:rPr>
                        <a:t>Intelligent financial decision support</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Ensemble deep reinforcement learning (PPO, A2C, DDPG) for stock trading.</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latin typeface="Arial" pitchFamily="34" charset="0"/>
                          <a:ea typeface="Arial" pitchFamily="34" charset="-122"/>
                          <a:cs typeface="Arial" pitchFamily="34" charset="-120"/>
                        </a:rPr>
                        <a:t>Single-task learned policy; not built on explicit policy constraints.</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00" b="1" dirty="0">
                          <a:solidFill>
                            <a:srgbClr val="1769AA"/>
                          </a:solidFill>
                          <a:latin typeface="Arial" pitchFamily="34" charset="0"/>
                          <a:ea typeface="Arial" pitchFamily="34" charset="-122"/>
                          <a:cs typeface="Arial" pitchFamily="34" charset="-120"/>
                        </a:rPr>
                        <a:t>Contrasts learned policies with FINOS rule-based validation.</a:t>
                      </a:r>
                      <a:endParaRPr lang="en-US" sz="1100" dirty="0">
                        <a:latin typeface="Arial" charset="0"/>
                        <a:ea typeface="Arial" charset="0"/>
                        <a:cs typeface="Arial" charset="0"/>
                      </a:endParaRPr>
                    </a:p>
                  </a:txBody>
                  <a:tcPr marL="91440" marR="91440"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bl>
          </a:graphicData>
        </a:graphic>
      </p:graphicFrame>
      <p:sp>
        <p:nvSpPr>
          <p:cNvPr id="5" name="Shape 2"/>
          <p:cNvSpPr/>
          <p:nvPr/>
        </p:nvSpPr>
        <p:spPr>
          <a:xfrm>
            <a:off x="640080" y="5413248"/>
            <a:ext cx="10911535" cy="804672"/>
          </a:xfrm>
          <a:prstGeom prst="rect">
            <a:avLst/>
          </a:prstGeom>
          <a:solidFill>
            <a:srgbClr val="FFFFFF"/>
          </a:solidFill>
          <a:ln w="12700">
            <a:solidFill>
              <a:srgbClr val="1769AA"/>
            </a:solidFill>
            <a:prstDash val="solid"/>
          </a:ln>
        </p:spPr>
      </p:sp>
      <p:sp>
        <p:nvSpPr>
          <p:cNvPr id="6" name="Text 3"/>
          <p:cNvSpPr txBox="1"/>
          <p:nvPr/>
        </p:nvSpPr>
        <p:spPr>
          <a:xfrm>
            <a:off x="868680" y="5468112"/>
            <a:ext cx="10454335" cy="694944"/>
          </a:xfrm>
          <a:prstGeom prst="rect">
            <a:avLst/>
          </a:prstGeom>
          <a:noFill/>
          <a:ln/>
        </p:spPr>
        <p:txBody>
          <a:bodyPr wrap="square" lIns="0" tIns="0" rIns="0" bIns="0" rtlCol="0" anchor="ctr"/>
          <a:lstStyle/>
          <a:p>
            <a:pPr algn="l" indent="0" marL="0">
              <a:buNone/>
            </a:pPr>
            <a:r>
              <a:rPr lang="en-US" sz="1200" b="1" dirty="0">
                <a:solidFill>
                  <a:srgbClr val="1769AA"/>
                </a:solidFill>
                <a:latin typeface="Arial" pitchFamily="34" charset="0"/>
                <a:ea typeface="Arial" pitchFamily="34" charset="-122"/>
                <a:cs typeface="Arial" pitchFamily="34" charset="-120"/>
              </a:rPr>
              <a:t>Research Gap  </a:t>
            </a:r>
            <a:pPr algn="l" indent="0" marL="0">
              <a:buNone/>
            </a:pPr>
            <a:r>
              <a:rPr lang="en-US" sz="1200" dirty="0">
                <a:solidFill>
                  <a:srgbClr val="0B1F33"/>
                </a:solidFill>
                <a:latin typeface="Arial" pitchFamily="34" charset="0"/>
                <a:ea typeface="Arial" pitchFamily="34" charset="-122"/>
                <a:cs typeface="Arial" pitchFamily="34" charset="-120"/>
              </a:rPr>
              <a:t>Existing research often addresses individual financial tasks such as prediction, risk assessment or recommendation. FINOS integrates multiple financial reasoning capabilities into a controlled end-to-end decision workflow with policy validation, human approval, simulated execution and verification.</a:t>
            </a:r>
            <a:endParaRPr lang="en-US" sz="1200" dirty="0"/>
          </a:p>
        </p:txBody>
      </p:sp>
      <p:sp>
        <p:nvSpPr>
          <p:cNvPr id="7" name="Shape 4"/>
          <p:cNvSpPr/>
          <p:nvPr/>
        </p:nvSpPr>
        <p:spPr>
          <a:xfrm>
            <a:off x="640080" y="6382512"/>
            <a:ext cx="10911535" cy="0"/>
          </a:xfrm>
          <a:prstGeom prst="line">
            <a:avLst/>
          </a:prstGeom>
          <a:noFill/>
          <a:ln w="9525">
            <a:solidFill>
              <a:srgbClr val="D9E1EA"/>
            </a:solidFill>
            <a:prstDash val="solid"/>
          </a:ln>
        </p:spPr>
      </p:sp>
      <p:sp>
        <p:nvSpPr>
          <p:cNvPr id="8" name="Text 5"/>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COMPARISON</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Existing System vs Proposed System</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2377440"/>
                <a:gridCol w="4160520"/>
                <a:gridCol w="4373575"/>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Capability</a:t>
                      </a:r>
                      <a:endParaRPr lang="en-US" sz="130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Existing Financial Management Systems</a:t>
                      </a:r>
                      <a:endParaRPr lang="en-US" sz="130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12395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FINOS</a:t>
                      </a:r>
                      <a:endParaRPr lang="en-US" sz="130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1769AA"/>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Monitoring</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Primary focus of most systems</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Continuous observation of the financial state</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Reporting</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Periodic reports and statements</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Reports produced within the decision workflow</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0ECF8"/>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Risk Analysis</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Threshold alerts and manual review</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Agent-based scoring with Bayesian reasoning</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Decision Support</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Separate functions; analyst-led</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Integrated multi-agent workflow</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0ECF8"/>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Policy Validation</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Manual or downstream checks</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Rule and constraint checks before approval</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Financial Planning</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Budget-cycle and spreadsheet planning</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Search- and constraint-based plan generation</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0ECF8"/>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Human Approval</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Per-system approval workflows</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Mandatory checkpoint for high-impact actions</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Execution Simulation</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Generally outside scope</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Simulated execution before any real action</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0ECF8"/>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Verification</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Post-transaction reconciliation</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Outcome checked against the expected state</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Replanning</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Mostly reactive; manual revision</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Adaptive through replanning</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0ECF8"/>
                    </a:solidFill>
                  </a:tcPr>
                </a:tc>
              </a:tr>
              <a:tr h="365760">
                <a:tc>
                  <a:txBody>
                    <a:bodyPr/>
                    <a:lstStyle/>
                    <a:p>
                      <a:pPr indent="0" marL="0">
                        <a:buNone/>
                      </a:pPr>
                      <a:r>
                        <a:rPr lang="en-US" sz="1250" b="1" dirty="0">
                          <a:solidFill>
                            <a:srgbClr val="0B1F33"/>
                          </a:solidFill>
                          <a:latin typeface="Arial" pitchFamily="34" charset="0"/>
                          <a:ea typeface="Arial" pitchFamily="34" charset="-122"/>
                          <a:cs typeface="Arial" pitchFamily="34" charset="-120"/>
                        </a:rPr>
                        <a:t>Auditability</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344054"/>
                          </a:solidFill>
                          <a:latin typeface="Arial" pitchFamily="34" charset="0"/>
                          <a:ea typeface="Arial" pitchFamily="34" charset="-122"/>
                          <a:cs typeface="Arial" pitchFamily="34" charset="-120"/>
                        </a:rPr>
                        <a:t>Transaction-level logs; limited decision trace</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250" dirty="0">
                          <a:solidFill>
                            <a:srgbClr val="0B1F33"/>
                          </a:solidFill>
                          <a:latin typeface="Arial" pitchFamily="34" charset="0"/>
                          <a:ea typeface="Arial" pitchFamily="34" charset="-122"/>
                          <a:cs typeface="Arial" pitchFamily="34" charset="-120"/>
                        </a:rPr>
                        <a:t>Auditable decision trace, end to end</a:t>
                      </a:r>
                      <a:endParaRPr lang="en-US" sz="1250" dirty="0">
                        <a:latin typeface="Arial" charset="0"/>
                        <a:ea typeface="Arial" charset="0"/>
                        <a:cs typeface="Arial" charset="0"/>
                      </a:endParaRPr>
                    </a:p>
                  </a:txBody>
                  <a:tcPr marL="128016" marR="128016" marT="27432" marB="27432"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AF2FA"/>
                    </a:solidFill>
                  </a:tcPr>
                </a:tc>
              </a:tr>
            </a:tbl>
          </a:graphicData>
        </a:graphic>
      </p:graphicFrame>
      <p:sp>
        <p:nvSpPr>
          <p:cNvPr id="5" name="Text 2"/>
          <p:cNvSpPr txBox="1"/>
          <p:nvPr/>
        </p:nvSpPr>
        <p:spPr>
          <a:xfrm>
            <a:off x="640080" y="5989320"/>
            <a:ext cx="10911535" cy="274320"/>
          </a:xfrm>
          <a:prstGeom prst="rect">
            <a:avLst/>
          </a:prstGeom>
          <a:noFill/>
          <a:ln/>
        </p:spPr>
        <p:txBody>
          <a:bodyPr wrap="square" lIns="0" tIns="0" rIns="0" bIns="0" rtlCol="0" anchor="t"/>
          <a:lstStyle/>
          <a:p>
            <a:pPr algn="l" indent="0" marL="0">
              <a:buNone/>
            </a:pPr>
            <a:r>
              <a:rPr lang="en-US" sz="1100" i="1" dirty="0">
                <a:solidFill>
                  <a:srgbClr val="667085"/>
                </a:solidFill>
                <a:latin typeface="Arial" pitchFamily="34" charset="0"/>
                <a:ea typeface="Arial" pitchFamily="34" charset="-122"/>
                <a:cs typeface="Arial" pitchFamily="34" charset="-120"/>
              </a:rPr>
              <a:t>Comparison reflects typical characteristics of transaction-centric financial management software; capabilities vary by system.</a:t>
            </a:r>
            <a:endParaRPr lang="en-US" sz="1100" dirty="0"/>
          </a:p>
        </p:txBody>
      </p:sp>
      <p:sp>
        <p:nvSpPr>
          <p:cNvPr id="6" name="Shape 3"/>
          <p:cNvSpPr/>
          <p:nvPr/>
        </p:nvSpPr>
        <p:spPr>
          <a:xfrm>
            <a:off x="640080" y="6382512"/>
            <a:ext cx="10911535" cy="0"/>
          </a:xfrm>
          <a:prstGeom prst="line">
            <a:avLst/>
          </a:prstGeom>
          <a:noFill/>
          <a:ln w="9525">
            <a:solidFill>
              <a:srgbClr val="D9E1EA"/>
            </a:solidFill>
            <a:prstDash val="solid"/>
          </a:ln>
        </p:spPr>
      </p:sp>
      <p:sp>
        <p:nvSpPr>
          <p:cNvPr id="7" name="Text 4"/>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SYSTEM DESIGN</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System Architecture</a:t>
            </a:r>
            <a:endParaRPr lang="en-US" sz="3000" dirty="0"/>
          </a:p>
        </p:txBody>
      </p:sp>
      <p:sp>
        <p:nvSpPr>
          <p:cNvPr id="4" name="Shape 2"/>
          <p:cNvSpPr/>
          <p:nvPr/>
        </p:nvSpPr>
        <p:spPr>
          <a:xfrm>
            <a:off x="640080" y="1371600"/>
            <a:ext cx="6766560" cy="566928"/>
          </a:xfrm>
          <a:prstGeom prst="rect">
            <a:avLst/>
          </a:prstGeom>
          <a:solidFill>
            <a:srgbClr val="FFFFFF"/>
          </a:solidFill>
          <a:ln w="9525">
            <a:solidFill>
              <a:srgbClr val="D9E1EA"/>
            </a:solidFill>
            <a:prstDash val="solid"/>
          </a:ln>
        </p:spPr>
      </p:sp>
      <p:sp>
        <p:nvSpPr>
          <p:cNvPr id="5" name="Text 3"/>
          <p:cNvSpPr txBox="1"/>
          <p:nvPr/>
        </p:nvSpPr>
        <p:spPr>
          <a:xfrm>
            <a:off x="777240" y="1371600"/>
            <a:ext cx="1143000" cy="566928"/>
          </a:xfrm>
          <a:prstGeom prst="rect">
            <a:avLst/>
          </a:prstGeom>
          <a:noFill/>
          <a:ln/>
        </p:spPr>
        <p:txBody>
          <a:bodyPr wrap="square" lIns="0" tIns="0" rIns="0" bIns="0" rtlCol="0" anchor="ctr"/>
          <a:lstStyle/>
          <a:p>
            <a:pPr algn="l" indent="0" marL="0">
              <a:buNone/>
            </a:pPr>
            <a:r>
              <a:rPr lang="en-US" sz="950" b="1" spc="30" kern="0" dirty="0">
                <a:solidFill>
                  <a:srgbClr val="667085"/>
                </a:solidFill>
                <a:latin typeface="Arial" pitchFamily="34" charset="0"/>
                <a:ea typeface="Arial" pitchFamily="34" charset="-122"/>
                <a:cs typeface="Arial" pitchFamily="34" charset="-120"/>
              </a:rPr>
              <a:t>PRESENTATION</a:t>
            </a:r>
            <a:endParaRPr lang="en-US" sz="1400" dirty="0"/>
          </a:p>
        </p:txBody>
      </p:sp>
      <p:sp>
        <p:nvSpPr>
          <p:cNvPr id="6" name="Text 4"/>
          <p:cNvSpPr txBox="1"/>
          <p:nvPr/>
        </p:nvSpPr>
        <p:spPr>
          <a:xfrm>
            <a:off x="1874520" y="1472184"/>
            <a:ext cx="2468880" cy="365760"/>
          </a:xfrm>
          <a:prstGeom prst="rect">
            <a:avLst/>
          </a:prstGeom>
          <a:solidFill>
            <a:srgbClr val="FFFFFF"/>
          </a:solidFill>
          <a:ln w="9525">
            <a:solidFill>
              <a:srgbClr val="0B1F33"/>
            </a:solidFill>
          </a:ln>
        </p:spPr>
        <p:txBody>
          <a:bodyPr wrap="square" lIns="762" tIns="762" rIns="762" bIns="762" rtlCol="0" anchor="ctr"/>
          <a:lstStyle/>
          <a:p>
            <a:pPr algn="ctr" indent="0" marL="0">
              <a:buNone/>
            </a:pPr>
            <a:r>
              <a:rPr lang="en-US" sz="1200" b="1" dirty="0">
                <a:solidFill>
                  <a:srgbClr val="0B1F33"/>
                </a:solidFill>
                <a:latin typeface="Arial" pitchFamily="34" charset="0"/>
                <a:ea typeface="Arial" pitchFamily="34" charset="-122"/>
                <a:cs typeface="Arial" pitchFamily="34" charset="-120"/>
              </a:rPr>
              <a:t>Government Officer</a:t>
            </a:r>
            <a:endParaRPr lang="en-US" sz="1200" dirty="0"/>
          </a:p>
        </p:txBody>
      </p:sp>
      <p:sp>
        <p:nvSpPr>
          <p:cNvPr id="7" name="Shape 5"/>
          <p:cNvSpPr/>
          <p:nvPr/>
        </p:nvSpPr>
        <p:spPr>
          <a:xfrm>
            <a:off x="4343400" y="1655064"/>
            <a:ext cx="502920" cy="0"/>
          </a:xfrm>
          <a:prstGeom prst="line">
            <a:avLst/>
          </a:prstGeom>
          <a:noFill/>
          <a:ln w="15875">
            <a:solidFill>
              <a:srgbClr val="667085"/>
            </a:solidFill>
            <a:prstDash val="solid"/>
            <a:tailEnd type="triangle"/>
          </a:ln>
        </p:spPr>
      </p:sp>
      <p:sp>
        <p:nvSpPr>
          <p:cNvPr id="8" name="Text 6"/>
          <p:cNvSpPr txBox="1"/>
          <p:nvPr/>
        </p:nvSpPr>
        <p:spPr>
          <a:xfrm>
            <a:off x="4846320" y="1472184"/>
            <a:ext cx="2468880" cy="365760"/>
          </a:xfrm>
          <a:prstGeom prst="rect">
            <a:avLst/>
          </a:prstGeom>
          <a:solidFill>
            <a:srgbClr val="FFFFFF"/>
          </a:solidFill>
          <a:ln w="9525">
            <a:solidFill>
              <a:srgbClr val="0B1F33"/>
            </a:solidFill>
          </a:ln>
        </p:spPr>
        <p:txBody>
          <a:bodyPr wrap="square" lIns="762" tIns="762" rIns="762" bIns="762" rtlCol="0" anchor="ctr"/>
          <a:lstStyle/>
          <a:p>
            <a:pPr algn="ctr" indent="0" marL="0">
              <a:buNone/>
            </a:pPr>
            <a:r>
              <a:rPr lang="en-US" sz="1200" b="1" dirty="0">
                <a:solidFill>
                  <a:srgbClr val="0B1F33"/>
                </a:solidFill>
                <a:latin typeface="Arial" pitchFamily="34" charset="0"/>
                <a:ea typeface="Arial" pitchFamily="34" charset="-122"/>
                <a:cs typeface="Arial" pitchFamily="34" charset="-120"/>
              </a:rPr>
              <a:t>FINOS Dashboard</a:t>
            </a:r>
            <a:endParaRPr lang="en-US" sz="1200" dirty="0"/>
          </a:p>
        </p:txBody>
      </p:sp>
      <p:sp>
        <p:nvSpPr>
          <p:cNvPr id="9" name="Shape 7"/>
          <p:cNvSpPr/>
          <p:nvPr/>
        </p:nvSpPr>
        <p:spPr>
          <a:xfrm>
            <a:off x="4594860" y="1938528"/>
            <a:ext cx="0" cy="256032"/>
          </a:xfrm>
          <a:prstGeom prst="line">
            <a:avLst/>
          </a:prstGeom>
          <a:noFill/>
          <a:ln w="15875">
            <a:solidFill>
              <a:srgbClr val="667085"/>
            </a:solidFill>
            <a:prstDash val="solid"/>
            <a:tailEnd type="triangle"/>
          </a:ln>
        </p:spPr>
      </p:sp>
      <p:sp>
        <p:nvSpPr>
          <p:cNvPr id="10" name="Shape 8"/>
          <p:cNvSpPr/>
          <p:nvPr/>
        </p:nvSpPr>
        <p:spPr>
          <a:xfrm>
            <a:off x="640080" y="2194560"/>
            <a:ext cx="6766560" cy="987552"/>
          </a:xfrm>
          <a:prstGeom prst="rect">
            <a:avLst/>
          </a:prstGeom>
          <a:solidFill>
            <a:srgbClr val="FFFFFF"/>
          </a:solidFill>
          <a:ln w="9525">
            <a:solidFill>
              <a:srgbClr val="D9E1EA"/>
            </a:solidFill>
            <a:prstDash val="solid"/>
          </a:ln>
        </p:spPr>
      </p:sp>
      <p:sp>
        <p:nvSpPr>
          <p:cNvPr id="11" name="Text 9"/>
          <p:cNvSpPr txBox="1"/>
          <p:nvPr/>
        </p:nvSpPr>
        <p:spPr>
          <a:xfrm>
            <a:off x="777240" y="2194560"/>
            <a:ext cx="1143000" cy="987552"/>
          </a:xfrm>
          <a:prstGeom prst="rect">
            <a:avLst/>
          </a:prstGeom>
          <a:noFill/>
          <a:ln/>
        </p:spPr>
        <p:txBody>
          <a:bodyPr wrap="square" lIns="0" tIns="0" rIns="0" bIns="0" rtlCol="0" anchor="ctr"/>
          <a:lstStyle/>
          <a:p>
            <a:pPr algn="l" indent="0" marL="0">
              <a:buNone/>
            </a:pPr>
            <a:r>
              <a:rPr lang="en-US" sz="950" b="1" spc="30" kern="0" dirty="0">
                <a:solidFill>
                  <a:srgbClr val="667085"/>
                </a:solidFill>
                <a:latin typeface="Arial" pitchFamily="34" charset="0"/>
                <a:ea typeface="Arial" pitchFamily="34" charset="-122"/>
                <a:cs typeface="Arial" pitchFamily="34" charset="-120"/>
              </a:rPr>
              <a:t>DATA LAYER</a:t>
            </a:r>
            <a:endParaRPr lang="en-US" sz="1400" dirty="0"/>
          </a:p>
          <a:p>
            <a:pPr algn="l" indent="0" marL="0">
              <a:buNone/>
            </a:pPr>
            <a:r>
              <a:rPr lang="en-US" sz="900" spc="30" kern="0" dirty="0">
                <a:solidFill>
                  <a:srgbClr val="667085"/>
                </a:solidFill>
                <a:latin typeface="Arial" pitchFamily="34" charset="0"/>
                <a:ea typeface="Arial" pitchFamily="34" charset="-122"/>
                <a:cs typeface="Arial" pitchFamily="34" charset="-120"/>
              </a:rPr>
              <a:t>Simulated data</a:t>
            </a:r>
            <a:endParaRPr lang="en-US" sz="1400" dirty="0"/>
          </a:p>
        </p:txBody>
      </p:sp>
      <p:sp>
        <p:nvSpPr>
          <p:cNvPr id="12" name="Text 10"/>
          <p:cNvSpPr txBox="1"/>
          <p:nvPr/>
        </p:nvSpPr>
        <p:spPr>
          <a:xfrm>
            <a:off x="1874520" y="2304288"/>
            <a:ext cx="1740408" cy="329184"/>
          </a:xfrm>
          <a:prstGeom prst="rect">
            <a:avLst/>
          </a:prstGeom>
          <a:solidFill>
            <a:srgbClr val="1769A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Cash</a:t>
            </a:r>
            <a:endParaRPr lang="en-US" sz="1100" dirty="0"/>
          </a:p>
        </p:txBody>
      </p:sp>
      <p:sp>
        <p:nvSpPr>
          <p:cNvPr id="13" name="Text 11"/>
          <p:cNvSpPr txBox="1"/>
          <p:nvPr/>
        </p:nvSpPr>
        <p:spPr>
          <a:xfrm>
            <a:off x="3724656" y="2304288"/>
            <a:ext cx="1740408" cy="329184"/>
          </a:xfrm>
          <a:prstGeom prst="rect">
            <a:avLst/>
          </a:prstGeom>
          <a:solidFill>
            <a:srgbClr val="1769A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Budget</a:t>
            </a:r>
            <a:endParaRPr lang="en-US" sz="1100" dirty="0"/>
          </a:p>
        </p:txBody>
      </p:sp>
      <p:sp>
        <p:nvSpPr>
          <p:cNvPr id="14" name="Text 12"/>
          <p:cNvSpPr txBox="1"/>
          <p:nvPr/>
        </p:nvSpPr>
        <p:spPr>
          <a:xfrm>
            <a:off x="5574792" y="2304288"/>
            <a:ext cx="1740408" cy="329184"/>
          </a:xfrm>
          <a:prstGeom prst="rect">
            <a:avLst/>
          </a:prstGeom>
          <a:solidFill>
            <a:srgbClr val="1769A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Payments</a:t>
            </a:r>
            <a:endParaRPr lang="en-US" sz="1100" dirty="0"/>
          </a:p>
        </p:txBody>
      </p:sp>
      <p:sp>
        <p:nvSpPr>
          <p:cNvPr id="15" name="Text 13"/>
          <p:cNvSpPr txBox="1"/>
          <p:nvPr/>
        </p:nvSpPr>
        <p:spPr>
          <a:xfrm>
            <a:off x="1874520" y="2743200"/>
            <a:ext cx="1740408" cy="329184"/>
          </a:xfrm>
          <a:prstGeom prst="rect">
            <a:avLst/>
          </a:prstGeom>
          <a:solidFill>
            <a:srgbClr val="1769A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Ledger</a:t>
            </a:r>
            <a:endParaRPr lang="en-US" sz="1100" dirty="0"/>
          </a:p>
        </p:txBody>
      </p:sp>
      <p:sp>
        <p:nvSpPr>
          <p:cNvPr id="16" name="Text 14"/>
          <p:cNvSpPr txBox="1"/>
          <p:nvPr/>
        </p:nvSpPr>
        <p:spPr>
          <a:xfrm>
            <a:off x="3724656" y="2743200"/>
            <a:ext cx="1740408" cy="329184"/>
          </a:xfrm>
          <a:prstGeom prst="rect">
            <a:avLst/>
          </a:prstGeom>
          <a:solidFill>
            <a:srgbClr val="1769A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Obligations</a:t>
            </a:r>
            <a:endParaRPr lang="en-US" sz="1100" dirty="0"/>
          </a:p>
        </p:txBody>
      </p:sp>
      <p:sp>
        <p:nvSpPr>
          <p:cNvPr id="17" name="Text 15"/>
          <p:cNvSpPr txBox="1"/>
          <p:nvPr/>
        </p:nvSpPr>
        <p:spPr>
          <a:xfrm>
            <a:off x="5574792" y="2743200"/>
            <a:ext cx="1740408" cy="329184"/>
          </a:xfrm>
          <a:prstGeom prst="rect">
            <a:avLst/>
          </a:prstGeom>
          <a:solidFill>
            <a:srgbClr val="1769A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Risk Signals</a:t>
            </a:r>
            <a:endParaRPr lang="en-US" sz="1100" dirty="0"/>
          </a:p>
        </p:txBody>
      </p:sp>
      <p:sp>
        <p:nvSpPr>
          <p:cNvPr id="18" name="Shape 16"/>
          <p:cNvSpPr/>
          <p:nvPr/>
        </p:nvSpPr>
        <p:spPr>
          <a:xfrm>
            <a:off x="4594860" y="3182112"/>
            <a:ext cx="0" cy="256032"/>
          </a:xfrm>
          <a:prstGeom prst="line">
            <a:avLst/>
          </a:prstGeom>
          <a:noFill/>
          <a:ln w="15875">
            <a:solidFill>
              <a:srgbClr val="667085"/>
            </a:solidFill>
            <a:prstDash val="solid"/>
            <a:tailEnd type="triangle"/>
          </a:ln>
        </p:spPr>
      </p:sp>
      <p:sp>
        <p:nvSpPr>
          <p:cNvPr id="19" name="Shape 17"/>
          <p:cNvSpPr/>
          <p:nvPr/>
        </p:nvSpPr>
        <p:spPr>
          <a:xfrm>
            <a:off x="640080" y="3438144"/>
            <a:ext cx="6766560" cy="1216152"/>
          </a:xfrm>
          <a:prstGeom prst="rect">
            <a:avLst/>
          </a:prstGeom>
          <a:solidFill>
            <a:srgbClr val="FFFFFF"/>
          </a:solidFill>
          <a:ln w="9525">
            <a:solidFill>
              <a:srgbClr val="D9E1EA"/>
            </a:solidFill>
            <a:prstDash val="solid"/>
          </a:ln>
        </p:spPr>
      </p:sp>
      <p:sp>
        <p:nvSpPr>
          <p:cNvPr id="20" name="Text 18"/>
          <p:cNvSpPr txBox="1"/>
          <p:nvPr/>
        </p:nvSpPr>
        <p:spPr>
          <a:xfrm>
            <a:off x="777240" y="3438144"/>
            <a:ext cx="1143000" cy="1216152"/>
          </a:xfrm>
          <a:prstGeom prst="rect">
            <a:avLst/>
          </a:prstGeom>
          <a:noFill/>
          <a:ln/>
        </p:spPr>
        <p:txBody>
          <a:bodyPr wrap="square" lIns="0" tIns="0" rIns="0" bIns="0" rtlCol="0" anchor="ctr"/>
          <a:lstStyle/>
          <a:p>
            <a:pPr algn="l" indent="0" marL="0">
              <a:buNone/>
            </a:pPr>
            <a:r>
              <a:rPr lang="en-US" sz="950" b="1" spc="30" kern="0" dirty="0">
                <a:solidFill>
                  <a:srgbClr val="667085"/>
                </a:solidFill>
                <a:latin typeface="Arial" pitchFamily="34" charset="0"/>
                <a:ea typeface="Arial" pitchFamily="34" charset="-122"/>
                <a:cs typeface="Arial" pitchFamily="34" charset="-120"/>
              </a:rPr>
              <a:t>AGENT LAYER</a:t>
            </a:r>
            <a:endParaRPr lang="en-US" sz="1400" dirty="0"/>
          </a:p>
        </p:txBody>
      </p:sp>
      <p:sp>
        <p:nvSpPr>
          <p:cNvPr id="21" name="Text 19"/>
          <p:cNvSpPr txBox="1"/>
          <p:nvPr/>
        </p:nvSpPr>
        <p:spPr>
          <a:xfrm>
            <a:off x="1874520" y="3547872"/>
            <a:ext cx="5440680" cy="365760"/>
          </a:xfrm>
          <a:prstGeom prst="rect">
            <a:avLst/>
          </a:prstGeom>
          <a:solidFill>
            <a:srgbClr val="12395A"/>
          </a:solidFill>
          <a:ln/>
        </p:spPr>
        <p:txBody>
          <a:bodyPr wrap="square" lIns="762" tIns="762" rIns="762" bIns="762"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CFO AI Orchestrator</a:t>
            </a:r>
            <a:endParaRPr lang="en-US" sz="1200" dirty="0"/>
          </a:p>
        </p:txBody>
      </p:sp>
      <p:sp>
        <p:nvSpPr>
          <p:cNvPr id="22" name="Shape 20"/>
          <p:cNvSpPr/>
          <p:nvPr/>
        </p:nvSpPr>
        <p:spPr>
          <a:xfrm>
            <a:off x="4594860" y="3913632"/>
            <a:ext cx="0" cy="146304"/>
          </a:xfrm>
          <a:prstGeom prst="line">
            <a:avLst/>
          </a:prstGeom>
          <a:noFill/>
          <a:ln w="15875">
            <a:solidFill>
              <a:srgbClr val="667085"/>
            </a:solidFill>
            <a:prstDash val="solid"/>
            <a:tailEnd type="triangle"/>
          </a:ln>
        </p:spPr>
      </p:sp>
      <p:sp>
        <p:nvSpPr>
          <p:cNvPr id="23" name="Text 21"/>
          <p:cNvSpPr txBox="1"/>
          <p:nvPr/>
        </p:nvSpPr>
        <p:spPr>
          <a:xfrm>
            <a:off x="1874520" y="4059936"/>
            <a:ext cx="1014984" cy="484632"/>
          </a:xfrm>
          <a:prstGeom prst="rect">
            <a:avLst/>
          </a:prstGeom>
          <a:solidFill>
            <a:srgbClr val="12395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Cash</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Agent</a:t>
            </a:r>
            <a:endParaRPr lang="en-US" sz="1100" dirty="0"/>
          </a:p>
        </p:txBody>
      </p:sp>
      <p:sp>
        <p:nvSpPr>
          <p:cNvPr id="24" name="Text 22"/>
          <p:cNvSpPr txBox="1"/>
          <p:nvPr/>
        </p:nvSpPr>
        <p:spPr>
          <a:xfrm>
            <a:off x="2980944" y="4059936"/>
            <a:ext cx="1014984" cy="484632"/>
          </a:xfrm>
          <a:prstGeom prst="rect">
            <a:avLst/>
          </a:prstGeom>
          <a:solidFill>
            <a:srgbClr val="12395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Risk</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Agent</a:t>
            </a:r>
            <a:endParaRPr lang="en-US" sz="1100" dirty="0"/>
          </a:p>
        </p:txBody>
      </p:sp>
      <p:sp>
        <p:nvSpPr>
          <p:cNvPr id="25" name="Text 23"/>
          <p:cNvSpPr txBox="1"/>
          <p:nvPr/>
        </p:nvSpPr>
        <p:spPr>
          <a:xfrm>
            <a:off x="4087368" y="4059936"/>
            <a:ext cx="1014984" cy="484632"/>
          </a:xfrm>
          <a:prstGeom prst="rect">
            <a:avLst/>
          </a:prstGeom>
          <a:solidFill>
            <a:srgbClr val="12395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Payment</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Agent</a:t>
            </a:r>
            <a:endParaRPr lang="en-US" sz="1100" dirty="0"/>
          </a:p>
        </p:txBody>
      </p:sp>
      <p:sp>
        <p:nvSpPr>
          <p:cNvPr id="26" name="Text 24"/>
          <p:cNvSpPr txBox="1"/>
          <p:nvPr/>
        </p:nvSpPr>
        <p:spPr>
          <a:xfrm>
            <a:off x="5193792" y="4059936"/>
            <a:ext cx="1014984" cy="484632"/>
          </a:xfrm>
          <a:prstGeom prst="rect">
            <a:avLst/>
          </a:prstGeom>
          <a:solidFill>
            <a:srgbClr val="12395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Planning</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Agent</a:t>
            </a:r>
            <a:endParaRPr lang="en-US" sz="1100" dirty="0"/>
          </a:p>
        </p:txBody>
      </p:sp>
      <p:sp>
        <p:nvSpPr>
          <p:cNvPr id="27" name="Text 25"/>
          <p:cNvSpPr txBox="1"/>
          <p:nvPr/>
        </p:nvSpPr>
        <p:spPr>
          <a:xfrm>
            <a:off x="6300216" y="4059936"/>
            <a:ext cx="1014984" cy="484632"/>
          </a:xfrm>
          <a:prstGeom prst="rect">
            <a:avLst/>
          </a:prstGeom>
          <a:solidFill>
            <a:srgbClr val="12395A"/>
          </a:solidFill>
          <a:ln/>
        </p:spPr>
        <p:txBody>
          <a:bodyPr wrap="square" lIns="762" tIns="762" rIns="762" bIns="762"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Financing</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Agent</a:t>
            </a:r>
            <a:endParaRPr lang="en-US" sz="1100" dirty="0"/>
          </a:p>
        </p:txBody>
      </p:sp>
      <p:sp>
        <p:nvSpPr>
          <p:cNvPr id="28" name="Shape 26"/>
          <p:cNvSpPr/>
          <p:nvPr/>
        </p:nvSpPr>
        <p:spPr>
          <a:xfrm>
            <a:off x="4594860" y="4654296"/>
            <a:ext cx="0" cy="256032"/>
          </a:xfrm>
          <a:prstGeom prst="line">
            <a:avLst/>
          </a:prstGeom>
          <a:noFill/>
          <a:ln w="15875">
            <a:solidFill>
              <a:srgbClr val="667085"/>
            </a:solidFill>
            <a:prstDash val="solid"/>
            <a:tailEnd type="triangle"/>
          </a:ln>
        </p:spPr>
      </p:sp>
      <p:sp>
        <p:nvSpPr>
          <p:cNvPr id="29" name="Shape 27"/>
          <p:cNvSpPr/>
          <p:nvPr/>
        </p:nvSpPr>
        <p:spPr>
          <a:xfrm>
            <a:off x="640080" y="4910328"/>
            <a:ext cx="6766560" cy="914400"/>
          </a:xfrm>
          <a:prstGeom prst="rect">
            <a:avLst/>
          </a:prstGeom>
          <a:solidFill>
            <a:srgbClr val="0B1F33"/>
          </a:solidFill>
          <a:ln/>
        </p:spPr>
      </p:sp>
      <p:sp>
        <p:nvSpPr>
          <p:cNvPr id="30" name="Text 28"/>
          <p:cNvSpPr txBox="1"/>
          <p:nvPr/>
        </p:nvSpPr>
        <p:spPr>
          <a:xfrm>
            <a:off x="777240" y="4910328"/>
            <a:ext cx="1143000" cy="914400"/>
          </a:xfrm>
          <a:prstGeom prst="rect">
            <a:avLst/>
          </a:prstGeom>
          <a:noFill/>
          <a:ln/>
        </p:spPr>
        <p:txBody>
          <a:bodyPr wrap="square" lIns="0" tIns="0" rIns="0" bIns="0" rtlCol="0" anchor="ctr"/>
          <a:lstStyle/>
          <a:p>
            <a:pPr algn="l" indent="0" marL="0">
              <a:buNone/>
            </a:pPr>
            <a:r>
              <a:rPr lang="en-US" sz="950" b="1" spc="30" kern="0" dirty="0">
                <a:solidFill>
                  <a:srgbClr val="7FB2E0"/>
                </a:solidFill>
                <a:latin typeface="Arial" pitchFamily="34" charset="0"/>
                <a:ea typeface="Arial" pitchFamily="34" charset="-122"/>
                <a:cs typeface="Arial" pitchFamily="34" charset="-120"/>
              </a:rPr>
              <a:t>OPTIMIZATION</a:t>
            </a:r>
            <a:endParaRPr lang="en-US" sz="1400" dirty="0"/>
          </a:p>
        </p:txBody>
      </p:sp>
      <p:sp>
        <p:nvSpPr>
          <p:cNvPr id="31" name="Text 29"/>
          <p:cNvSpPr txBox="1"/>
          <p:nvPr/>
        </p:nvSpPr>
        <p:spPr>
          <a:xfrm>
            <a:off x="1874520" y="5001768"/>
            <a:ext cx="5440680" cy="219456"/>
          </a:xfrm>
          <a:prstGeom prst="rect">
            <a:avLst/>
          </a:prstGeom>
          <a:noFill/>
          <a:ln/>
        </p:spPr>
        <p:txBody>
          <a:bodyPr wrap="square" lIns="0" tIns="0" rIns="0" bIns="0" rtlCol="0" anchor="t"/>
          <a:lstStyle/>
          <a:p>
            <a:pPr algn="l" indent="0" marL="0">
              <a:buNone/>
            </a:pPr>
            <a:r>
              <a:rPr lang="en-US" sz="1050" b="1" spc="150" kern="0" dirty="0">
                <a:solidFill>
                  <a:srgbClr val="FFFFFF"/>
                </a:solidFill>
                <a:latin typeface="Arial" pitchFamily="34" charset="0"/>
                <a:ea typeface="Arial" pitchFamily="34" charset="-122"/>
                <a:cs typeface="Arial" pitchFamily="34" charset="-120"/>
              </a:rPr>
              <a:t>OPTIMIZATION ENGINE</a:t>
            </a:r>
            <a:endParaRPr lang="en-US" sz="1050" dirty="0"/>
          </a:p>
        </p:txBody>
      </p:sp>
      <p:sp>
        <p:nvSpPr>
          <p:cNvPr id="32" name="Text 30"/>
          <p:cNvSpPr txBox="1"/>
          <p:nvPr/>
        </p:nvSpPr>
        <p:spPr>
          <a:xfrm>
            <a:off x="1874520" y="5294376"/>
            <a:ext cx="1740408" cy="420624"/>
          </a:xfrm>
          <a:prstGeom prst="rect">
            <a:avLst/>
          </a:prstGeom>
          <a:solidFill>
            <a:srgbClr val="FFFFFF"/>
          </a:solidFill>
          <a:ln/>
        </p:spPr>
        <p:txBody>
          <a:bodyPr wrap="square" lIns="762" tIns="762" rIns="762" bIns="762" rtlCol="0" anchor="ctr"/>
          <a:lstStyle/>
          <a:p>
            <a:pPr algn="ctr" indent="0" marL="0">
              <a:buNone/>
            </a:pPr>
            <a:r>
              <a:rPr lang="en-US" sz="1100" b="1" dirty="0">
                <a:solidFill>
                  <a:srgbClr val="0B1F33"/>
                </a:solidFill>
                <a:latin typeface="Arial" pitchFamily="34" charset="0"/>
                <a:ea typeface="Arial" pitchFamily="34" charset="-122"/>
                <a:cs typeface="Arial" pitchFamily="34" charset="-120"/>
              </a:rPr>
              <a:t>A* Search</a:t>
            </a:r>
            <a:endParaRPr lang="en-US" sz="1100" dirty="0"/>
          </a:p>
        </p:txBody>
      </p:sp>
      <p:sp>
        <p:nvSpPr>
          <p:cNvPr id="33" name="Text 31"/>
          <p:cNvSpPr txBox="1"/>
          <p:nvPr/>
        </p:nvSpPr>
        <p:spPr>
          <a:xfrm>
            <a:off x="3724656" y="5294376"/>
            <a:ext cx="1740408" cy="420624"/>
          </a:xfrm>
          <a:prstGeom prst="rect">
            <a:avLst/>
          </a:prstGeom>
          <a:solidFill>
            <a:srgbClr val="FFFFFF"/>
          </a:solidFill>
          <a:ln/>
        </p:spPr>
        <p:txBody>
          <a:bodyPr wrap="square" lIns="762" tIns="762" rIns="762" bIns="762" rtlCol="0" anchor="ctr"/>
          <a:lstStyle/>
          <a:p>
            <a:pPr algn="ctr" indent="0" marL="0">
              <a:buNone/>
            </a:pPr>
            <a:r>
              <a:rPr lang="en-US" sz="1100" b="1" dirty="0">
                <a:solidFill>
                  <a:srgbClr val="0B1F33"/>
                </a:solidFill>
                <a:latin typeface="Arial" pitchFamily="34" charset="0"/>
                <a:ea typeface="Arial" pitchFamily="34" charset="-122"/>
                <a:cs typeface="Arial" pitchFamily="34" charset="-120"/>
              </a:rPr>
              <a:t>CSP Constraints</a:t>
            </a:r>
            <a:endParaRPr lang="en-US" sz="1100" dirty="0"/>
          </a:p>
        </p:txBody>
      </p:sp>
      <p:sp>
        <p:nvSpPr>
          <p:cNvPr id="34" name="Text 32"/>
          <p:cNvSpPr txBox="1"/>
          <p:nvPr/>
        </p:nvSpPr>
        <p:spPr>
          <a:xfrm>
            <a:off x="5574792" y="5294376"/>
            <a:ext cx="1740408" cy="420624"/>
          </a:xfrm>
          <a:prstGeom prst="rect">
            <a:avLst/>
          </a:prstGeom>
          <a:solidFill>
            <a:srgbClr val="FFFFFF"/>
          </a:solidFill>
          <a:ln/>
        </p:spPr>
        <p:txBody>
          <a:bodyPr wrap="square" lIns="762" tIns="762" rIns="762" bIns="762" rtlCol="0" anchor="ctr"/>
          <a:lstStyle/>
          <a:p>
            <a:pPr algn="ctr" indent="0" marL="0">
              <a:buNone/>
            </a:pPr>
            <a:r>
              <a:rPr lang="en-US" sz="1100" b="1" dirty="0">
                <a:solidFill>
                  <a:srgbClr val="0B1F33"/>
                </a:solidFill>
                <a:latin typeface="Arial" pitchFamily="34" charset="0"/>
                <a:ea typeface="Arial" pitchFamily="34" charset="-122"/>
                <a:cs typeface="Arial" pitchFamily="34" charset="-120"/>
              </a:rPr>
              <a:t>Bayesian Reasoning</a:t>
            </a:r>
            <a:endParaRPr lang="en-US" sz="1100" dirty="0"/>
          </a:p>
        </p:txBody>
      </p:sp>
      <p:sp>
        <p:nvSpPr>
          <p:cNvPr id="35" name="Text 33"/>
          <p:cNvSpPr txBox="1"/>
          <p:nvPr/>
        </p:nvSpPr>
        <p:spPr>
          <a:xfrm>
            <a:off x="8229600" y="1371600"/>
            <a:ext cx="3319272" cy="201168"/>
          </a:xfrm>
          <a:prstGeom prst="rect">
            <a:avLst/>
          </a:prstGeom>
          <a:noFill/>
          <a:ln/>
        </p:spPr>
        <p:txBody>
          <a:bodyPr wrap="square" lIns="0" tIns="0" rIns="0" bIns="0" rtlCol="0" anchor="t"/>
          <a:lstStyle/>
          <a:p>
            <a:pPr algn="l" indent="0" marL="0">
              <a:buNone/>
            </a:pPr>
            <a:r>
              <a:rPr lang="en-US" sz="1000" b="1" spc="100" kern="0" dirty="0">
                <a:solidFill>
                  <a:srgbClr val="667085"/>
                </a:solidFill>
                <a:latin typeface="Arial" pitchFamily="34" charset="0"/>
                <a:ea typeface="Arial" pitchFamily="34" charset="-122"/>
                <a:cs typeface="Arial" pitchFamily="34" charset="-120"/>
              </a:rPr>
              <a:t>CONTROL &amp; EXECUTION PIPELINE</a:t>
            </a:r>
            <a:endParaRPr lang="en-US" sz="1000" dirty="0"/>
          </a:p>
        </p:txBody>
      </p:sp>
      <p:sp>
        <p:nvSpPr>
          <p:cNvPr id="36" name="Text 34"/>
          <p:cNvSpPr txBox="1"/>
          <p:nvPr/>
        </p:nvSpPr>
        <p:spPr>
          <a:xfrm>
            <a:off x="8229600" y="5148072"/>
            <a:ext cx="3319272" cy="438912"/>
          </a:xfrm>
          <a:prstGeom prst="rect">
            <a:avLst/>
          </a:prstGeom>
          <a:solidFill>
            <a:srgbClr val="B45F06"/>
          </a:solidFill>
          <a:ln/>
        </p:spPr>
        <p:txBody>
          <a:bodyPr wrap="square" lIns="762" tIns="762" rIns="762" bIns="762"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Policy Validation</a:t>
            </a:r>
            <a:endParaRPr lang="en-US" sz="1200" dirty="0"/>
          </a:p>
        </p:txBody>
      </p:sp>
      <p:sp>
        <p:nvSpPr>
          <p:cNvPr id="37" name="Shape 35"/>
          <p:cNvSpPr/>
          <p:nvPr/>
        </p:nvSpPr>
        <p:spPr>
          <a:xfrm>
            <a:off x="9889236" y="4888382"/>
            <a:ext cx="0" cy="259690"/>
          </a:xfrm>
          <a:prstGeom prst="line">
            <a:avLst/>
          </a:prstGeom>
          <a:noFill/>
          <a:ln w="15875">
            <a:solidFill>
              <a:srgbClr val="667085"/>
            </a:solidFill>
            <a:prstDash val="solid"/>
            <a:headEnd type="triangle"/>
          </a:ln>
        </p:spPr>
      </p:sp>
      <p:sp>
        <p:nvSpPr>
          <p:cNvPr id="38" name="Text 36"/>
          <p:cNvSpPr txBox="1"/>
          <p:nvPr/>
        </p:nvSpPr>
        <p:spPr>
          <a:xfrm>
            <a:off x="8229600" y="4449470"/>
            <a:ext cx="3319272" cy="438912"/>
          </a:xfrm>
          <a:prstGeom prst="rect">
            <a:avLst/>
          </a:prstGeom>
          <a:solidFill>
            <a:srgbClr val="16845B"/>
          </a:solidFill>
          <a:ln/>
        </p:spPr>
        <p:txBody>
          <a:bodyPr wrap="square" lIns="762" tIns="762" rIns="762" bIns="762"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Human Approval  (Officer)</a:t>
            </a:r>
            <a:endParaRPr lang="en-US" sz="1200" dirty="0"/>
          </a:p>
        </p:txBody>
      </p:sp>
      <p:sp>
        <p:nvSpPr>
          <p:cNvPr id="39" name="Shape 37"/>
          <p:cNvSpPr/>
          <p:nvPr/>
        </p:nvSpPr>
        <p:spPr>
          <a:xfrm>
            <a:off x="9889236" y="4189781"/>
            <a:ext cx="0" cy="259690"/>
          </a:xfrm>
          <a:prstGeom prst="line">
            <a:avLst/>
          </a:prstGeom>
          <a:noFill/>
          <a:ln w="15875">
            <a:solidFill>
              <a:srgbClr val="667085"/>
            </a:solidFill>
            <a:prstDash val="solid"/>
            <a:headEnd type="triangle"/>
          </a:ln>
        </p:spPr>
      </p:sp>
      <p:sp>
        <p:nvSpPr>
          <p:cNvPr id="40" name="Text 38"/>
          <p:cNvSpPr txBox="1"/>
          <p:nvPr/>
        </p:nvSpPr>
        <p:spPr>
          <a:xfrm>
            <a:off x="8229600" y="3750869"/>
            <a:ext cx="3319272" cy="438912"/>
          </a:xfrm>
          <a:prstGeom prst="rect">
            <a:avLst/>
          </a:prstGeom>
          <a:solidFill>
            <a:srgbClr val="12395A"/>
          </a:solidFill>
          <a:ln/>
        </p:spPr>
        <p:txBody>
          <a:bodyPr wrap="square" lIns="762" tIns="762" rIns="762" bIns="762"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Simulated Execution</a:t>
            </a:r>
            <a:endParaRPr lang="en-US" sz="1200" dirty="0"/>
          </a:p>
        </p:txBody>
      </p:sp>
      <p:sp>
        <p:nvSpPr>
          <p:cNvPr id="41" name="Shape 39"/>
          <p:cNvSpPr/>
          <p:nvPr/>
        </p:nvSpPr>
        <p:spPr>
          <a:xfrm>
            <a:off x="9889236" y="3491179"/>
            <a:ext cx="0" cy="259690"/>
          </a:xfrm>
          <a:prstGeom prst="line">
            <a:avLst/>
          </a:prstGeom>
          <a:noFill/>
          <a:ln w="15875">
            <a:solidFill>
              <a:srgbClr val="667085"/>
            </a:solidFill>
            <a:prstDash val="solid"/>
            <a:headEnd type="triangle"/>
          </a:ln>
        </p:spPr>
      </p:sp>
      <p:sp>
        <p:nvSpPr>
          <p:cNvPr id="42" name="Text 40"/>
          <p:cNvSpPr txBox="1"/>
          <p:nvPr/>
        </p:nvSpPr>
        <p:spPr>
          <a:xfrm>
            <a:off x="8229600" y="3052267"/>
            <a:ext cx="3319272" cy="438912"/>
          </a:xfrm>
          <a:prstGeom prst="rect">
            <a:avLst/>
          </a:prstGeom>
          <a:solidFill>
            <a:srgbClr val="12395A"/>
          </a:solidFill>
          <a:ln/>
        </p:spPr>
        <p:txBody>
          <a:bodyPr wrap="square" lIns="762" tIns="762" rIns="762" bIns="762"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Verification</a:t>
            </a:r>
            <a:endParaRPr lang="en-US" sz="1200" dirty="0"/>
          </a:p>
        </p:txBody>
      </p:sp>
      <p:sp>
        <p:nvSpPr>
          <p:cNvPr id="43" name="Shape 41"/>
          <p:cNvSpPr/>
          <p:nvPr/>
        </p:nvSpPr>
        <p:spPr>
          <a:xfrm>
            <a:off x="9889236" y="2792578"/>
            <a:ext cx="0" cy="259690"/>
          </a:xfrm>
          <a:prstGeom prst="line">
            <a:avLst/>
          </a:prstGeom>
          <a:noFill/>
          <a:ln w="15875">
            <a:solidFill>
              <a:srgbClr val="667085"/>
            </a:solidFill>
            <a:prstDash val="solid"/>
            <a:headEnd type="triangle"/>
          </a:ln>
        </p:spPr>
      </p:sp>
      <p:sp>
        <p:nvSpPr>
          <p:cNvPr id="44" name="Text 42"/>
          <p:cNvSpPr txBox="1"/>
          <p:nvPr/>
        </p:nvSpPr>
        <p:spPr>
          <a:xfrm>
            <a:off x="8229600" y="2353666"/>
            <a:ext cx="3319272" cy="438912"/>
          </a:xfrm>
          <a:prstGeom prst="rect">
            <a:avLst/>
          </a:prstGeom>
          <a:solidFill>
            <a:srgbClr val="667085"/>
          </a:solidFill>
          <a:ln/>
        </p:spPr>
        <p:txBody>
          <a:bodyPr wrap="square" lIns="762" tIns="762" rIns="762" bIns="762"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Audit Log</a:t>
            </a:r>
            <a:endParaRPr lang="en-US" sz="1200" dirty="0"/>
          </a:p>
        </p:txBody>
      </p:sp>
      <p:sp>
        <p:nvSpPr>
          <p:cNvPr id="45" name="Shape 43"/>
          <p:cNvSpPr/>
          <p:nvPr/>
        </p:nvSpPr>
        <p:spPr>
          <a:xfrm>
            <a:off x="9889236" y="2093976"/>
            <a:ext cx="0" cy="259690"/>
          </a:xfrm>
          <a:prstGeom prst="line">
            <a:avLst/>
          </a:prstGeom>
          <a:noFill/>
          <a:ln w="15875">
            <a:solidFill>
              <a:srgbClr val="667085"/>
            </a:solidFill>
            <a:prstDash val="solid"/>
            <a:headEnd type="triangle"/>
          </a:ln>
        </p:spPr>
      </p:sp>
      <p:sp>
        <p:nvSpPr>
          <p:cNvPr id="46" name="Text 44"/>
          <p:cNvSpPr txBox="1"/>
          <p:nvPr/>
        </p:nvSpPr>
        <p:spPr>
          <a:xfrm>
            <a:off x="8229600" y="1655064"/>
            <a:ext cx="3319272" cy="438912"/>
          </a:xfrm>
          <a:prstGeom prst="rect">
            <a:avLst/>
          </a:prstGeom>
          <a:solidFill>
            <a:srgbClr val="1769AA"/>
          </a:solidFill>
          <a:ln/>
        </p:spPr>
        <p:txBody>
          <a:bodyPr wrap="square" lIns="762" tIns="762" rIns="762" bIns="762"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Replanning</a:t>
            </a:r>
            <a:pPr algn="ctr" indent="0" marL="0">
              <a:buNone/>
            </a:pPr>
            <a:r>
              <a:rPr lang="en-US" sz="1050" b="1" dirty="0">
                <a:solidFill>
                  <a:srgbClr val="FFFFFF"/>
                </a:solidFill>
                <a:latin typeface="Arial" pitchFamily="34" charset="0"/>
                <a:ea typeface="Arial" pitchFamily="34" charset="-122"/>
                <a:cs typeface="Arial" pitchFamily="34" charset="-120"/>
              </a:rPr>
              <a:t>   updates the state</a:t>
            </a:r>
            <a:endParaRPr lang="en-US" sz="1200" dirty="0"/>
          </a:p>
        </p:txBody>
      </p:sp>
      <p:sp>
        <p:nvSpPr>
          <p:cNvPr id="47" name="Shape 45"/>
          <p:cNvSpPr/>
          <p:nvPr/>
        </p:nvSpPr>
        <p:spPr>
          <a:xfrm>
            <a:off x="7406640" y="5367528"/>
            <a:ext cx="822960" cy="0"/>
          </a:xfrm>
          <a:prstGeom prst="line">
            <a:avLst/>
          </a:prstGeom>
          <a:noFill/>
          <a:ln w="15875">
            <a:solidFill>
              <a:srgbClr val="667085"/>
            </a:solidFill>
            <a:prstDash val="solid"/>
            <a:tailEnd type="triangle"/>
          </a:ln>
        </p:spPr>
      </p:sp>
      <p:sp>
        <p:nvSpPr>
          <p:cNvPr id="48" name="Shape 46"/>
          <p:cNvSpPr/>
          <p:nvPr/>
        </p:nvSpPr>
        <p:spPr>
          <a:xfrm>
            <a:off x="7818120" y="1874520"/>
            <a:ext cx="411480" cy="0"/>
          </a:xfrm>
          <a:prstGeom prst="line">
            <a:avLst/>
          </a:prstGeom>
          <a:noFill/>
          <a:ln w="15875">
            <a:solidFill>
              <a:srgbClr val="1769AA"/>
            </a:solidFill>
            <a:prstDash val="dash"/>
          </a:ln>
        </p:spPr>
      </p:sp>
      <p:sp>
        <p:nvSpPr>
          <p:cNvPr id="49" name="Shape 47"/>
          <p:cNvSpPr/>
          <p:nvPr/>
        </p:nvSpPr>
        <p:spPr>
          <a:xfrm>
            <a:off x="7818120" y="1874520"/>
            <a:ext cx="0" cy="813816"/>
          </a:xfrm>
          <a:prstGeom prst="line">
            <a:avLst/>
          </a:prstGeom>
          <a:noFill/>
          <a:ln w="15875">
            <a:solidFill>
              <a:srgbClr val="1769AA"/>
            </a:solidFill>
            <a:prstDash val="dash"/>
          </a:ln>
        </p:spPr>
      </p:sp>
      <p:sp>
        <p:nvSpPr>
          <p:cNvPr id="50" name="Shape 48"/>
          <p:cNvSpPr/>
          <p:nvPr/>
        </p:nvSpPr>
        <p:spPr>
          <a:xfrm>
            <a:off x="7406640" y="2688336"/>
            <a:ext cx="411480" cy="0"/>
          </a:xfrm>
          <a:prstGeom prst="line">
            <a:avLst/>
          </a:prstGeom>
          <a:noFill/>
          <a:ln w="15875">
            <a:solidFill>
              <a:srgbClr val="1769AA"/>
            </a:solidFill>
            <a:prstDash val="dash"/>
            <a:headEnd type="triangle"/>
          </a:ln>
        </p:spPr>
      </p:sp>
      <p:sp>
        <p:nvSpPr>
          <p:cNvPr id="51" name="Shape 49"/>
          <p:cNvSpPr/>
          <p:nvPr/>
        </p:nvSpPr>
        <p:spPr>
          <a:xfrm>
            <a:off x="640080" y="6035040"/>
            <a:ext cx="137160" cy="137160"/>
          </a:xfrm>
          <a:prstGeom prst="rect">
            <a:avLst/>
          </a:prstGeom>
          <a:solidFill>
            <a:srgbClr val="1769AA"/>
          </a:solidFill>
          <a:ln/>
        </p:spPr>
      </p:sp>
      <p:sp>
        <p:nvSpPr>
          <p:cNvPr id="52" name="Text 50"/>
          <p:cNvSpPr txBox="1"/>
          <p:nvPr/>
        </p:nvSpPr>
        <p:spPr>
          <a:xfrm>
            <a:off x="859536" y="6012180"/>
            <a:ext cx="1544269" cy="182880"/>
          </a:xfrm>
          <a:prstGeom prst="rect">
            <a:avLst/>
          </a:prstGeom>
          <a:noFill/>
          <a:ln/>
        </p:spPr>
        <p:txBody>
          <a:bodyPr wrap="square" lIns="0" tIns="0" rIns="0" bIns="0" rtlCol="0" anchor="ctr"/>
          <a:lstStyle/>
          <a:p>
            <a:pPr algn="l" indent="0" marL="0">
              <a:buNone/>
            </a:pPr>
            <a:r>
              <a:rPr lang="en-US" sz="1000" dirty="0">
                <a:solidFill>
                  <a:srgbClr val="667085"/>
                </a:solidFill>
                <a:latin typeface="Arial" pitchFamily="34" charset="0"/>
                <a:ea typeface="Arial" pitchFamily="34" charset="-122"/>
                <a:cs typeface="Arial" pitchFamily="34" charset="-120"/>
              </a:rPr>
              <a:t>Data layer</a:t>
            </a:r>
            <a:endParaRPr lang="en-US" sz="1000" dirty="0"/>
          </a:p>
        </p:txBody>
      </p:sp>
      <p:sp>
        <p:nvSpPr>
          <p:cNvPr id="53" name="Shape 51"/>
          <p:cNvSpPr/>
          <p:nvPr/>
        </p:nvSpPr>
        <p:spPr>
          <a:xfrm>
            <a:off x="2458669" y="6035040"/>
            <a:ext cx="137160" cy="137160"/>
          </a:xfrm>
          <a:prstGeom prst="rect">
            <a:avLst/>
          </a:prstGeom>
          <a:solidFill>
            <a:srgbClr val="12395A"/>
          </a:solidFill>
          <a:ln/>
        </p:spPr>
      </p:sp>
      <p:sp>
        <p:nvSpPr>
          <p:cNvPr id="54" name="Text 52"/>
          <p:cNvSpPr txBox="1"/>
          <p:nvPr/>
        </p:nvSpPr>
        <p:spPr>
          <a:xfrm>
            <a:off x="2678125" y="6012180"/>
            <a:ext cx="1544269" cy="182880"/>
          </a:xfrm>
          <a:prstGeom prst="rect">
            <a:avLst/>
          </a:prstGeom>
          <a:noFill/>
          <a:ln/>
        </p:spPr>
        <p:txBody>
          <a:bodyPr wrap="square" lIns="0" tIns="0" rIns="0" bIns="0" rtlCol="0" anchor="ctr"/>
          <a:lstStyle/>
          <a:p>
            <a:pPr algn="l" indent="0" marL="0">
              <a:buNone/>
            </a:pPr>
            <a:r>
              <a:rPr lang="en-US" sz="1000" dirty="0">
                <a:solidFill>
                  <a:srgbClr val="667085"/>
                </a:solidFill>
                <a:latin typeface="Arial" pitchFamily="34" charset="0"/>
                <a:ea typeface="Arial" pitchFamily="34" charset="-122"/>
                <a:cs typeface="Arial" pitchFamily="34" charset="-120"/>
              </a:rPr>
              <a:t>Agent layer</a:t>
            </a:r>
            <a:endParaRPr lang="en-US" sz="1000" dirty="0"/>
          </a:p>
        </p:txBody>
      </p:sp>
      <p:sp>
        <p:nvSpPr>
          <p:cNvPr id="55" name="Shape 53"/>
          <p:cNvSpPr/>
          <p:nvPr/>
        </p:nvSpPr>
        <p:spPr>
          <a:xfrm>
            <a:off x="4277258" y="6035040"/>
            <a:ext cx="137160" cy="137160"/>
          </a:xfrm>
          <a:prstGeom prst="rect">
            <a:avLst/>
          </a:prstGeom>
          <a:solidFill>
            <a:srgbClr val="0B1F33"/>
          </a:solidFill>
          <a:ln/>
        </p:spPr>
      </p:sp>
      <p:sp>
        <p:nvSpPr>
          <p:cNvPr id="56" name="Text 54"/>
          <p:cNvSpPr txBox="1"/>
          <p:nvPr/>
        </p:nvSpPr>
        <p:spPr>
          <a:xfrm>
            <a:off x="4496714" y="6012180"/>
            <a:ext cx="1544269" cy="182880"/>
          </a:xfrm>
          <a:prstGeom prst="rect">
            <a:avLst/>
          </a:prstGeom>
          <a:noFill/>
          <a:ln/>
        </p:spPr>
        <p:txBody>
          <a:bodyPr wrap="square" lIns="0" tIns="0" rIns="0" bIns="0" rtlCol="0" anchor="ctr"/>
          <a:lstStyle/>
          <a:p>
            <a:pPr algn="l" indent="0" marL="0">
              <a:buNone/>
            </a:pPr>
            <a:r>
              <a:rPr lang="en-US" sz="1000" dirty="0">
                <a:solidFill>
                  <a:srgbClr val="667085"/>
                </a:solidFill>
                <a:latin typeface="Arial" pitchFamily="34" charset="0"/>
                <a:ea typeface="Arial" pitchFamily="34" charset="-122"/>
                <a:cs typeface="Arial" pitchFamily="34" charset="-120"/>
              </a:rPr>
              <a:t>Optimization</a:t>
            </a:r>
            <a:endParaRPr lang="en-US" sz="1000" dirty="0"/>
          </a:p>
        </p:txBody>
      </p:sp>
      <p:sp>
        <p:nvSpPr>
          <p:cNvPr id="57" name="Shape 55"/>
          <p:cNvSpPr/>
          <p:nvPr/>
        </p:nvSpPr>
        <p:spPr>
          <a:xfrm>
            <a:off x="6095848" y="6035040"/>
            <a:ext cx="137160" cy="137160"/>
          </a:xfrm>
          <a:prstGeom prst="rect">
            <a:avLst/>
          </a:prstGeom>
          <a:solidFill>
            <a:srgbClr val="B45F06"/>
          </a:solidFill>
          <a:ln/>
        </p:spPr>
      </p:sp>
      <p:sp>
        <p:nvSpPr>
          <p:cNvPr id="58" name="Text 56"/>
          <p:cNvSpPr txBox="1"/>
          <p:nvPr/>
        </p:nvSpPr>
        <p:spPr>
          <a:xfrm>
            <a:off x="6315304" y="6012180"/>
            <a:ext cx="1544269" cy="182880"/>
          </a:xfrm>
          <a:prstGeom prst="rect">
            <a:avLst/>
          </a:prstGeom>
          <a:noFill/>
          <a:ln/>
        </p:spPr>
        <p:txBody>
          <a:bodyPr wrap="square" lIns="0" tIns="0" rIns="0" bIns="0" rtlCol="0" anchor="ctr"/>
          <a:lstStyle/>
          <a:p>
            <a:pPr algn="l" indent="0" marL="0">
              <a:buNone/>
            </a:pPr>
            <a:r>
              <a:rPr lang="en-US" sz="1000" dirty="0">
                <a:solidFill>
                  <a:srgbClr val="667085"/>
                </a:solidFill>
                <a:latin typeface="Arial" pitchFamily="34" charset="0"/>
                <a:ea typeface="Arial" pitchFamily="34" charset="-122"/>
                <a:cs typeface="Arial" pitchFamily="34" charset="-120"/>
              </a:rPr>
              <a:t>Policy</a:t>
            </a:r>
            <a:endParaRPr lang="en-US" sz="1000" dirty="0"/>
          </a:p>
        </p:txBody>
      </p:sp>
      <p:sp>
        <p:nvSpPr>
          <p:cNvPr id="59" name="Shape 57"/>
          <p:cNvSpPr/>
          <p:nvPr/>
        </p:nvSpPr>
        <p:spPr>
          <a:xfrm>
            <a:off x="7914437" y="6035040"/>
            <a:ext cx="137160" cy="137160"/>
          </a:xfrm>
          <a:prstGeom prst="rect">
            <a:avLst/>
          </a:prstGeom>
          <a:solidFill>
            <a:srgbClr val="16845B"/>
          </a:solidFill>
          <a:ln/>
        </p:spPr>
      </p:sp>
      <p:sp>
        <p:nvSpPr>
          <p:cNvPr id="60" name="Text 58"/>
          <p:cNvSpPr txBox="1"/>
          <p:nvPr/>
        </p:nvSpPr>
        <p:spPr>
          <a:xfrm>
            <a:off x="8133893" y="6012180"/>
            <a:ext cx="1544269" cy="182880"/>
          </a:xfrm>
          <a:prstGeom prst="rect">
            <a:avLst/>
          </a:prstGeom>
          <a:noFill/>
          <a:ln/>
        </p:spPr>
        <p:txBody>
          <a:bodyPr wrap="square" lIns="0" tIns="0" rIns="0" bIns="0" rtlCol="0" anchor="ctr"/>
          <a:lstStyle/>
          <a:p>
            <a:pPr algn="l" indent="0" marL="0">
              <a:buNone/>
            </a:pPr>
            <a:r>
              <a:rPr lang="en-US" sz="1000" dirty="0">
                <a:solidFill>
                  <a:srgbClr val="667085"/>
                </a:solidFill>
                <a:latin typeface="Arial" pitchFamily="34" charset="0"/>
                <a:ea typeface="Arial" pitchFamily="34" charset="-122"/>
                <a:cs typeface="Arial" pitchFamily="34" charset="-120"/>
              </a:rPr>
              <a:t>Human approval</a:t>
            </a:r>
            <a:endParaRPr lang="en-US" sz="1000" dirty="0"/>
          </a:p>
        </p:txBody>
      </p:sp>
      <p:sp>
        <p:nvSpPr>
          <p:cNvPr id="61" name="Shape 59"/>
          <p:cNvSpPr/>
          <p:nvPr/>
        </p:nvSpPr>
        <p:spPr>
          <a:xfrm>
            <a:off x="9733026" y="6035040"/>
            <a:ext cx="137160" cy="137160"/>
          </a:xfrm>
          <a:prstGeom prst="rect">
            <a:avLst/>
          </a:prstGeom>
          <a:solidFill>
            <a:srgbClr val="667085"/>
          </a:solidFill>
          <a:ln/>
        </p:spPr>
      </p:sp>
      <p:sp>
        <p:nvSpPr>
          <p:cNvPr id="62" name="Text 60"/>
          <p:cNvSpPr txBox="1"/>
          <p:nvPr/>
        </p:nvSpPr>
        <p:spPr>
          <a:xfrm>
            <a:off x="9952482" y="6012180"/>
            <a:ext cx="1544269" cy="182880"/>
          </a:xfrm>
          <a:prstGeom prst="rect">
            <a:avLst/>
          </a:prstGeom>
          <a:noFill/>
          <a:ln/>
        </p:spPr>
        <p:txBody>
          <a:bodyPr wrap="square" lIns="0" tIns="0" rIns="0" bIns="0" rtlCol="0" anchor="ctr"/>
          <a:lstStyle/>
          <a:p>
            <a:pPr algn="l" indent="0" marL="0">
              <a:buNone/>
            </a:pPr>
            <a:r>
              <a:rPr lang="en-US" sz="1000" dirty="0">
                <a:solidFill>
                  <a:srgbClr val="667085"/>
                </a:solidFill>
                <a:latin typeface="Arial" pitchFamily="34" charset="0"/>
                <a:ea typeface="Arial" pitchFamily="34" charset="-122"/>
                <a:cs typeface="Arial" pitchFamily="34" charset="-120"/>
              </a:rPr>
              <a:t>Audit</a:t>
            </a:r>
            <a:endParaRPr lang="en-US" sz="1000" dirty="0"/>
          </a:p>
        </p:txBody>
      </p:sp>
      <p:sp>
        <p:nvSpPr>
          <p:cNvPr id="63" name="Shape 61"/>
          <p:cNvSpPr/>
          <p:nvPr/>
        </p:nvSpPr>
        <p:spPr>
          <a:xfrm>
            <a:off x="640080" y="6382512"/>
            <a:ext cx="10911535" cy="0"/>
          </a:xfrm>
          <a:prstGeom prst="line">
            <a:avLst/>
          </a:prstGeom>
          <a:noFill/>
          <a:ln w="9525">
            <a:solidFill>
              <a:srgbClr val="D9E1EA"/>
            </a:solidFill>
            <a:prstDash val="solid"/>
          </a:ln>
        </p:spPr>
      </p:sp>
      <p:sp>
        <p:nvSpPr>
          <p:cNvPr id="64" name="Text 62"/>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SYSTEM DESIGN</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FINOS Functional Modules</a:t>
            </a:r>
            <a:endParaRPr lang="en-US" sz="3000" dirty="0"/>
          </a:p>
        </p:txBody>
      </p:sp>
      <p:sp>
        <p:nvSpPr>
          <p:cNvPr id="4" name="Shape 2"/>
          <p:cNvSpPr/>
          <p:nvPr/>
        </p:nvSpPr>
        <p:spPr>
          <a:xfrm>
            <a:off x="640080" y="1417320"/>
            <a:ext cx="2522144" cy="2194560"/>
          </a:xfrm>
          <a:prstGeom prst="rect">
            <a:avLst/>
          </a:prstGeom>
          <a:solidFill>
            <a:srgbClr val="FFFFFF"/>
          </a:solidFill>
          <a:ln w="9525">
            <a:solidFill>
              <a:srgbClr val="D9E1EA"/>
            </a:solidFill>
            <a:prstDash val="solid"/>
          </a:ln>
        </p:spPr>
      </p:sp>
      <p:sp>
        <p:nvSpPr>
          <p:cNvPr id="5" name="Text 3"/>
          <p:cNvSpPr txBox="1"/>
          <p:nvPr/>
        </p:nvSpPr>
        <p:spPr>
          <a:xfrm>
            <a:off x="841248" y="160020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01</a:t>
            </a:r>
            <a:endParaRPr lang="en-US" sz="1300" dirty="0"/>
          </a:p>
        </p:txBody>
      </p:sp>
      <p:sp>
        <p:nvSpPr>
          <p:cNvPr id="6" name="Text 4"/>
          <p:cNvSpPr txBox="1"/>
          <p:nvPr/>
        </p:nvSpPr>
        <p:spPr>
          <a:xfrm>
            <a:off x="841248" y="1874520"/>
            <a:ext cx="2119808" cy="548640"/>
          </a:xfrm>
          <a:prstGeom prst="rect">
            <a:avLst/>
          </a:prstGeom>
          <a:noFill/>
          <a:ln/>
        </p:spPr>
        <p:txBody>
          <a:bodyPr wrap="square" lIns="0" tIns="0" rIns="0" bIns="0" rtlCol="0" anchor="t"/>
          <a:lstStyle/>
          <a:p>
            <a:pPr algn="l" indent="0" marL="0">
              <a:buNone/>
            </a:pPr>
            <a:r>
              <a:rPr lang="en-US" sz="1500" b="1" dirty="0">
                <a:solidFill>
                  <a:srgbClr val="0B1F33"/>
                </a:solidFill>
                <a:latin typeface="Arial" pitchFamily="34" charset="0"/>
                <a:ea typeface="Arial" pitchFamily="34" charset="-122"/>
                <a:cs typeface="Arial" pitchFamily="34" charset="-120"/>
              </a:rPr>
              <a:t>Financial Monitoring Agent</a:t>
            </a:r>
            <a:endParaRPr lang="en-US" sz="1500" dirty="0"/>
          </a:p>
        </p:txBody>
      </p:sp>
      <p:sp>
        <p:nvSpPr>
          <p:cNvPr id="7" name="Shape 5"/>
          <p:cNvSpPr/>
          <p:nvPr/>
        </p:nvSpPr>
        <p:spPr>
          <a:xfrm>
            <a:off x="841248" y="2468880"/>
            <a:ext cx="2119808" cy="0"/>
          </a:xfrm>
          <a:prstGeom prst="line">
            <a:avLst/>
          </a:prstGeom>
          <a:noFill/>
          <a:ln w="9525">
            <a:solidFill>
              <a:srgbClr val="D9E1EA"/>
            </a:solidFill>
            <a:prstDash val="solid"/>
          </a:ln>
        </p:spPr>
      </p:sp>
      <p:sp>
        <p:nvSpPr>
          <p:cNvPr id="8" name="Text 6"/>
          <p:cNvSpPr txBox="1"/>
          <p:nvPr/>
        </p:nvSpPr>
        <p:spPr>
          <a:xfrm>
            <a:off x="841248" y="2587752"/>
            <a:ext cx="2119808"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Cash balance</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Budget utilization</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Inflows, outflows, exceptions</a:t>
            </a:r>
            <a:endParaRPr lang="en-US" sz="1300" dirty="0"/>
          </a:p>
        </p:txBody>
      </p:sp>
      <p:sp>
        <p:nvSpPr>
          <p:cNvPr id="9" name="Shape 7"/>
          <p:cNvSpPr/>
          <p:nvPr/>
        </p:nvSpPr>
        <p:spPr>
          <a:xfrm>
            <a:off x="3436544" y="1417320"/>
            <a:ext cx="2522144" cy="2194560"/>
          </a:xfrm>
          <a:prstGeom prst="rect">
            <a:avLst/>
          </a:prstGeom>
          <a:solidFill>
            <a:srgbClr val="FFFFFF"/>
          </a:solidFill>
          <a:ln w="9525">
            <a:solidFill>
              <a:srgbClr val="D9E1EA"/>
            </a:solidFill>
            <a:prstDash val="solid"/>
          </a:ln>
        </p:spPr>
      </p:sp>
      <p:sp>
        <p:nvSpPr>
          <p:cNvPr id="10" name="Text 8"/>
          <p:cNvSpPr txBox="1"/>
          <p:nvPr/>
        </p:nvSpPr>
        <p:spPr>
          <a:xfrm>
            <a:off x="3637712" y="160020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02</a:t>
            </a:r>
            <a:endParaRPr lang="en-US" sz="1300" dirty="0"/>
          </a:p>
        </p:txBody>
      </p:sp>
      <p:sp>
        <p:nvSpPr>
          <p:cNvPr id="11" name="Text 9"/>
          <p:cNvSpPr txBox="1"/>
          <p:nvPr/>
        </p:nvSpPr>
        <p:spPr>
          <a:xfrm>
            <a:off x="3637712" y="1874520"/>
            <a:ext cx="2119808" cy="548640"/>
          </a:xfrm>
          <a:prstGeom prst="rect">
            <a:avLst/>
          </a:prstGeom>
          <a:noFill/>
          <a:ln/>
        </p:spPr>
        <p:txBody>
          <a:bodyPr wrap="square" lIns="0" tIns="0" rIns="0" bIns="0" rtlCol="0" anchor="t"/>
          <a:lstStyle/>
          <a:p>
            <a:pPr algn="l" indent="0" marL="0">
              <a:buNone/>
            </a:pPr>
            <a:r>
              <a:rPr lang="en-US" sz="1500" b="1" dirty="0">
                <a:solidFill>
                  <a:srgbClr val="0B1F33"/>
                </a:solidFill>
                <a:latin typeface="Arial" pitchFamily="34" charset="0"/>
                <a:ea typeface="Arial" pitchFamily="34" charset="-122"/>
                <a:cs typeface="Arial" pitchFamily="34" charset="-120"/>
              </a:rPr>
              <a:t>Cash Flow Agent</a:t>
            </a:r>
            <a:endParaRPr lang="en-US" sz="1500" dirty="0"/>
          </a:p>
        </p:txBody>
      </p:sp>
      <p:sp>
        <p:nvSpPr>
          <p:cNvPr id="12" name="Shape 10"/>
          <p:cNvSpPr/>
          <p:nvPr/>
        </p:nvSpPr>
        <p:spPr>
          <a:xfrm>
            <a:off x="3637712" y="2468880"/>
            <a:ext cx="2119808" cy="0"/>
          </a:xfrm>
          <a:prstGeom prst="line">
            <a:avLst/>
          </a:prstGeom>
          <a:noFill/>
          <a:ln w="9525">
            <a:solidFill>
              <a:srgbClr val="D9E1EA"/>
            </a:solidFill>
            <a:prstDash val="solid"/>
          </a:ln>
        </p:spPr>
      </p:sp>
      <p:sp>
        <p:nvSpPr>
          <p:cNvPr id="13" name="Text 11"/>
          <p:cNvSpPr txBox="1"/>
          <p:nvPr/>
        </p:nvSpPr>
        <p:spPr>
          <a:xfrm>
            <a:off x="3637712" y="2587752"/>
            <a:ext cx="2119808"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Liquidity forecast</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Cash requirements</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Minimum reserve</a:t>
            </a:r>
            <a:endParaRPr lang="en-US" sz="1300" dirty="0"/>
          </a:p>
        </p:txBody>
      </p:sp>
      <p:sp>
        <p:nvSpPr>
          <p:cNvPr id="14" name="Shape 12"/>
          <p:cNvSpPr/>
          <p:nvPr/>
        </p:nvSpPr>
        <p:spPr>
          <a:xfrm>
            <a:off x="6233008" y="1417320"/>
            <a:ext cx="2522144" cy="2194560"/>
          </a:xfrm>
          <a:prstGeom prst="rect">
            <a:avLst/>
          </a:prstGeom>
          <a:solidFill>
            <a:srgbClr val="FFFFFF"/>
          </a:solidFill>
          <a:ln w="9525">
            <a:solidFill>
              <a:srgbClr val="D9E1EA"/>
            </a:solidFill>
            <a:prstDash val="solid"/>
          </a:ln>
        </p:spPr>
      </p:sp>
      <p:sp>
        <p:nvSpPr>
          <p:cNvPr id="15" name="Text 13"/>
          <p:cNvSpPr txBox="1"/>
          <p:nvPr/>
        </p:nvSpPr>
        <p:spPr>
          <a:xfrm>
            <a:off x="6434176" y="160020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03</a:t>
            </a:r>
            <a:endParaRPr lang="en-US" sz="1300" dirty="0"/>
          </a:p>
        </p:txBody>
      </p:sp>
      <p:sp>
        <p:nvSpPr>
          <p:cNvPr id="16" name="Text 14"/>
          <p:cNvSpPr txBox="1"/>
          <p:nvPr/>
        </p:nvSpPr>
        <p:spPr>
          <a:xfrm>
            <a:off x="6434176" y="1874520"/>
            <a:ext cx="2119808" cy="548640"/>
          </a:xfrm>
          <a:prstGeom prst="rect">
            <a:avLst/>
          </a:prstGeom>
          <a:noFill/>
          <a:ln/>
        </p:spPr>
        <p:txBody>
          <a:bodyPr wrap="square" lIns="0" tIns="0" rIns="0" bIns="0" rtlCol="0" anchor="t"/>
          <a:lstStyle/>
          <a:p>
            <a:pPr algn="l" indent="0" marL="0">
              <a:buNone/>
            </a:pPr>
            <a:r>
              <a:rPr lang="en-US" sz="1500" b="1" dirty="0">
                <a:solidFill>
                  <a:srgbClr val="0B1F33"/>
                </a:solidFill>
                <a:latin typeface="Arial" pitchFamily="34" charset="0"/>
                <a:ea typeface="Arial" pitchFamily="34" charset="-122"/>
                <a:cs typeface="Arial" pitchFamily="34" charset="-120"/>
              </a:rPr>
              <a:t>Risk Assessment Agent</a:t>
            </a:r>
            <a:endParaRPr lang="en-US" sz="1500" dirty="0"/>
          </a:p>
        </p:txBody>
      </p:sp>
      <p:sp>
        <p:nvSpPr>
          <p:cNvPr id="17" name="Shape 15"/>
          <p:cNvSpPr/>
          <p:nvPr/>
        </p:nvSpPr>
        <p:spPr>
          <a:xfrm>
            <a:off x="6434176" y="2468880"/>
            <a:ext cx="2119808" cy="0"/>
          </a:xfrm>
          <a:prstGeom prst="line">
            <a:avLst/>
          </a:prstGeom>
          <a:noFill/>
          <a:ln w="9525">
            <a:solidFill>
              <a:srgbClr val="D9E1EA"/>
            </a:solidFill>
            <a:prstDash val="solid"/>
          </a:ln>
        </p:spPr>
      </p:sp>
      <p:sp>
        <p:nvSpPr>
          <p:cNvPr id="18" name="Text 16"/>
          <p:cNvSpPr txBox="1"/>
          <p:nvPr/>
        </p:nvSpPr>
        <p:spPr>
          <a:xfrm>
            <a:off x="6434176" y="2587752"/>
            <a:ext cx="2119808"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Financial exposure</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Anomalies, uncertainty</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Risk levels</a:t>
            </a:r>
            <a:endParaRPr lang="en-US" sz="1300" dirty="0"/>
          </a:p>
        </p:txBody>
      </p:sp>
      <p:sp>
        <p:nvSpPr>
          <p:cNvPr id="19" name="Shape 17"/>
          <p:cNvSpPr/>
          <p:nvPr/>
        </p:nvSpPr>
        <p:spPr>
          <a:xfrm>
            <a:off x="9029471" y="1417320"/>
            <a:ext cx="2522144" cy="2194560"/>
          </a:xfrm>
          <a:prstGeom prst="rect">
            <a:avLst/>
          </a:prstGeom>
          <a:solidFill>
            <a:srgbClr val="FFFFFF"/>
          </a:solidFill>
          <a:ln w="9525">
            <a:solidFill>
              <a:srgbClr val="D9E1EA"/>
            </a:solidFill>
            <a:prstDash val="solid"/>
          </a:ln>
        </p:spPr>
      </p:sp>
      <p:sp>
        <p:nvSpPr>
          <p:cNvPr id="20" name="Text 18"/>
          <p:cNvSpPr txBox="1"/>
          <p:nvPr/>
        </p:nvSpPr>
        <p:spPr>
          <a:xfrm>
            <a:off x="9230639" y="160020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04</a:t>
            </a:r>
            <a:endParaRPr lang="en-US" sz="1300" dirty="0"/>
          </a:p>
        </p:txBody>
      </p:sp>
      <p:sp>
        <p:nvSpPr>
          <p:cNvPr id="21" name="Text 19"/>
          <p:cNvSpPr txBox="1"/>
          <p:nvPr/>
        </p:nvSpPr>
        <p:spPr>
          <a:xfrm>
            <a:off x="9230639" y="1874520"/>
            <a:ext cx="2119808" cy="548640"/>
          </a:xfrm>
          <a:prstGeom prst="rect">
            <a:avLst/>
          </a:prstGeom>
          <a:noFill/>
          <a:ln/>
        </p:spPr>
        <p:txBody>
          <a:bodyPr wrap="square" lIns="0" tIns="0" rIns="0" bIns="0" rtlCol="0" anchor="t"/>
          <a:lstStyle/>
          <a:p>
            <a:pPr algn="l" indent="0" marL="0">
              <a:buNone/>
            </a:pPr>
            <a:r>
              <a:rPr lang="en-US" sz="1500" b="1" dirty="0">
                <a:solidFill>
                  <a:srgbClr val="0B1F33"/>
                </a:solidFill>
                <a:latin typeface="Arial" pitchFamily="34" charset="0"/>
                <a:ea typeface="Arial" pitchFamily="34" charset="-122"/>
                <a:cs typeface="Arial" pitchFamily="34" charset="-120"/>
              </a:rPr>
              <a:t>Payment Agent</a:t>
            </a:r>
            <a:endParaRPr lang="en-US" sz="1500" dirty="0"/>
          </a:p>
        </p:txBody>
      </p:sp>
      <p:sp>
        <p:nvSpPr>
          <p:cNvPr id="22" name="Shape 20"/>
          <p:cNvSpPr/>
          <p:nvPr/>
        </p:nvSpPr>
        <p:spPr>
          <a:xfrm>
            <a:off x="9230639" y="2468880"/>
            <a:ext cx="2119808" cy="0"/>
          </a:xfrm>
          <a:prstGeom prst="line">
            <a:avLst/>
          </a:prstGeom>
          <a:noFill/>
          <a:ln w="9525">
            <a:solidFill>
              <a:srgbClr val="D9E1EA"/>
            </a:solidFill>
            <a:prstDash val="solid"/>
          </a:ln>
        </p:spPr>
      </p:sp>
      <p:sp>
        <p:nvSpPr>
          <p:cNvPr id="23" name="Text 21"/>
          <p:cNvSpPr txBox="1"/>
          <p:nvPr/>
        </p:nvSpPr>
        <p:spPr>
          <a:xfrm>
            <a:off x="9230639" y="2587752"/>
            <a:ext cx="2119808"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Payment prioritization</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Due dates, critical obligations</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Payment scheduling</a:t>
            </a:r>
            <a:endParaRPr lang="en-US" sz="1300" dirty="0"/>
          </a:p>
        </p:txBody>
      </p:sp>
      <p:sp>
        <p:nvSpPr>
          <p:cNvPr id="24" name="Shape 22"/>
          <p:cNvSpPr/>
          <p:nvPr/>
        </p:nvSpPr>
        <p:spPr>
          <a:xfrm>
            <a:off x="640080" y="3886200"/>
            <a:ext cx="2522144" cy="2194560"/>
          </a:xfrm>
          <a:prstGeom prst="rect">
            <a:avLst/>
          </a:prstGeom>
          <a:solidFill>
            <a:srgbClr val="FFFFFF"/>
          </a:solidFill>
          <a:ln w="9525">
            <a:solidFill>
              <a:srgbClr val="D9E1EA"/>
            </a:solidFill>
            <a:prstDash val="solid"/>
          </a:ln>
        </p:spPr>
      </p:sp>
      <p:sp>
        <p:nvSpPr>
          <p:cNvPr id="25" name="Text 23"/>
          <p:cNvSpPr txBox="1"/>
          <p:nvPr/>
        </p:nvSpPr>
        <p:spPr>
          <a:xfrm>
            <a:off x="841248" y="406908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05</a:t>
            </a:r>
            <a:endParaRPr lang="en-US" sz="1300" dirty="0"/>
          </a:p>
        </p:txBody>
      </p:sp>
      <p:sp>
        <p:nvSpPr>
          <p:cNvPr id="26" name="Text 24"/>
          <p:cNvSpPr txBox="1"/>
          <p:nvPr/>
        </p:nvSpPr>
        <p:spPr>
          <a:xfrm>
            <a:off x="841248" y="4343400"/>
            <a:ext cx="2119808" cy="548640"/>
          </a:xfrm>
          <a:prstGeom prst="rect">
            <a:avLst/>
          </a:prstGeom>
          <a:noFill/>
          <a:ln/>
        </p:spPr>
        <p:txBody>
          <a:bodyPr wrap="square" lIns="0" tIns="0" rIns="0" bIns="0" rtlCol="0" anchor="t"/>
          <a:lstStyle/>
          <a:p>
            <a:pPr algn="l" indent="0" marL="0">
              <a:buNone/>
            </a:pPr>
            <a:r>
              <a:rPr lang="en-US" sz="1500" b="1" dirty="0">
                <a:solidFill>
                  <a:srgbClr val="0B1F33"/>
                </a:solidFill>
                <a:latin typeface="Arial" pitchFamily="34" charset="0"/>
                <a:ea typeface="Arial" pitchFamily="34" charset="-122"/>
                <a:cs typeface="Arial" pitchFamily="34" charset="-120"/>
              </a:rPr>
              <a:t>Financial Planning Agent</a:t>
            </a:r>
            <a:endParaRPr lang="en-US" sz="1500" dirty="0"/>
          </a:p>
        </p:txBody>
      </p:sp>
      <p:sp>
        <p:nvSpPr>
          <p:cNvPr id="27" name="Shape 25"/>
          <p:cNvSpPr/>
          <p:nvPr/>
        </p:nvSpPr>
        <p:spPr>
          <a:xfrm>
            <a:off x="841248" y="4937760"/>
            <a:ext cx="2119808" cy="0"/>
          </a:xfrm>
          <a:prstGeom prst="line">
            <a:avLst/>
          </a:prstGeom>
          <a:noFill/>
          <a:ln w="9525">
            <a:solidFill>
              <a:srgbClr val="D9E1EA"/>
            </a:solidFill>
            <a:prstDash val="solid"/>
          </a:ln>
        </p:spPr>
      </p:sp>
      <p:sp>
        <p:nvSpPr>
          <p:cNvPr id="28" name="Text 26"/>
          <p:cNvSpPr txBox="1"/>
          <p:nvPr/>
        </p:nvSpPr>
        <p:spPr>
          <a:xfrm>
            <a:off x="841248" y="5056632"/>
            <a:ext cx="2119808"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Allocation plans</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Funding strategies</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Payment plans</a:t>
            </a:r>
            <a:endParaRPr lang="en-US" sz="1300" dirty="0"/>
          </a:p>
        </p:txBody>
      </p:sp>
      <p:sp>
        <p:nvSpPr>
          <p:cNvPr id="29" name="Shape 27"/>
          <p:cNvSpPr/>
          <p:nvPr/>
        </p:nvSpPr>
        <p:spPr>
          <a:xfrm>
            <a:off x="3436544" y="3886200"/>
            <a:ext cx="2522144" cy="2194560"/>
          </a:xfrm>
          <a:prstGeom prst="rect">
            <a:avLst/>
          </a:prstGeom>
          <a:solidFill>
            <a:srgbClr val="FFFFFF"/>
          </a:solidFill>
          <a:ln w="9525">
            <a:solidFill>
              <a:srgbClr val="D9E1EA"/>
            </a:solidFill>
            <a:prstDash val="solid"/>
          </a:ln>
        </p:spPr>
      </p:sp>
      <p:sp>
        <p:nvSpPr>
          <p:cNvPr id="30" name="Text 28"/>
          <p:cNvSpPr txBox="1"/>
          <p:nvPr/>
        </p:nvSpPr>
        <p:spPr>
          <a:xfrm>
            <a:off x="3637712" y="406908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06</a:t>
            </a:r>
            <a:endParaRPr lang="en-US" sz="1300" dirty="0"/>
          </a:p>
        </p:txBody>
      </p:sp>
      <p:sp>
        <p:nvSpPr>
          <p:cNvPr id="31" name="Text 29"/>
          <p:cNvSpPr txBox="1"/>
          <p:nvPr/>
        </p:nvSpPr>
        <p:spPr>
          <a:xfrm>
            <a:off x="3637712" y="4343400"/>
            <a:ext cx="2119808" cy="548640"/>
          </a:xfrm>
          <a:prstGeom prst="rect">
            <a:avLst/>
          </a:prstGeom>
          <a:noFill/>
          <a:ln/>
        </p:spPr>
        <p:txBody>
          <a:bodyPr wrap="square" lIns="0" tIns="0" rIns="0" bIns="0" rtlCol="0" anchor="t"/>
          <a:lstStyle/>
          <a:p>
            <a:pPr algn="l" indent="0" marL="0">
              <a:buNone/>
            </a:pPr>
            <a:r>
              <a:rPr lang="en-US" sz="1500" b="1" dirty="0">
                <a:solidFill>
                  <a:srgbClr val="0B1F33"/>
                </a:solidFill>
                <a:latin typeface="Arial" pitchFamily="34" charset="0"/>
                <a:ea typeface="Arial" pitchFamily="34" charset="-122"/>
                <a:cs typeface="Arial" pitchFamily="34" charset="-120"/>
              </a:rPr>
              <a:t>Optimization Engine</a:t>
            </a:r>
            <a:endParaRPr lang="en-US" sz="1500" dirty="0"/>
          </a:p>
        </p:txBody>
      </p:sp>
      <p:sp>
        <p:nvSpPr>
          <p:cNvPr id="32" name="Shape 30"/>
          <p:cNvSpPr/>
          <p:nvPr/>
        </p:nvSpPr>
        <p:spPr>
          <a:xfrm>
            <a:off x="3637712" y="4937760"/>
            <a:ext cx="2119808" cy="0"/>
          </a:xfrm>
          <a:prstGeom prst="line">
            <a:avLst/>
          </a:prstGeom>
          <a:noFill/>
          <a:ln w="9525">
            <a:solidFill>
              <a:srgbClr val="D9E1EA"/>
            </a:solidFill>
            <a:prstDash val="solid"/>
          </a:ln>
        </p:spPr>
      </p:sp>
      <p:sp>
        <p:nvSpPr>
          <p:cNvPr id="33" name="Text 31"/>
          <p:cNvSpPr txBox="1"/>
          <p:nvPr/>
        </p:nvSpPr>
        <p:spPr>
          <a:xfrm>
            <a:off x="3637712" y="5056632"/>
            <a:ext cx="2119808"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A* search</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Constraint satisfaction</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Cost optimization</a:t>
            </a:r>
            <a:endParaRPr lang="en-US" sz="1300" dirty="0"/>
          </a:p>
        </p:txBody>
      </p:sp>
      <p:sp>
        <p:nvSpPr>
          <p:cNvPr id="34" name="Shape 32"/>
          <p:cNvSpPr/>
          <p:nvPr/>
        </p:nvSpPr>
        <p:spPr>
          <a:xfrm>
            <a:off x="6233008" y="3886200"/>
            <a:ext cx="2522144" cy="2194560"/>
          </a:xfrm>
          <a:prstGeom prst="rect">
            <a:avLst/>
          </a:prstGeom>
          <a:solidFill>
            <a:srgbClr val="FFFFFF"/>
          </a:solidFill>
          <a:ln w="9525">
            <a:solidFill>
              <a:srgbClr val="D9E1EA"/>
            </a:solidFill>
            <a:prstDash val="solid"/>
          </a:ln>
        </p:spPr>
      </p:sp>
      <p:sp>
        <p:nvSpPr>
          <p:cNvPr id="35" name="Text 33"/>
          <p:cNvSpPr txBox="1"/>
          <p:nvPr/>
        </p:nvSpPr>
        <p:spPr>
          <a:xfrm>
            <a:off x="6434176" y="406908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07</a:t>
            </a:r>
            <a:endParaRPr lang="en-US" sz="1300" dirty="0"/>
          </a:p>
        </p:txBody>
      </p:sp>
      <p:sp>
        <p:nvSpPr>
          <p:cNvPr id="36" name="Text 34"/>
          <p:cNvSpPr txBox="1"/>
          <p:nvPr/>
        </p:nvSpPr>
        <p:spPr>
          <a:xfrm>
            <a:off x="6434176" y="4343400"/>
            <a:ext cx="2119808" cy="548640"/>
          </a:xfrm>
          <a:prstGeom prst="rect">
            <a:avLst/>
          </a:prstGeom>
          <a:noFill/>
          <a:ln/>
        </p:spPr>
        <p:txBody>
          <a:bodyPr wrap="square" lIns="0" tIns="0" rIns="0" bIns="0" rtlCol="0" anchor="t"/>
          <a:lstStyle/>
          <a:p>
            <a:pPr algn="l" indent="0" marL="0">
              <a:buNone/>
            </a:pPr>
            <a:r>
              <a:rPr lang="en-US" sz="1500" b="1" dirty="0">
                <a:solidFill>
                  <a:srgbClr val="0B1F33"/>
                </a:solidFill>
                <a:latin typeface="Arial" pitchFamily="34" charset="0"/>
                <a:ea typeface="Arial" pitchFamily="34" charset="-122"/>
                <a:cs typeface="Arial" pitchFamily="34" charset="-120"/>
              </a:rPr>
              <a:t>Policy Guardian</a:t>
            </a:r>
            <a:endParaRPr lang="en-US" sz="1500" dirty="0"/>
          </a:p>
        </p:txBody>
      </p:sp>
      <p:sp>
        <p:nvSpPr>
          <p:cNvPr id="37" name="Shape 35"/>
          <p:cNvSpPr/>
          <p:nvPr/>
        </p:nvSpPr>
        <p:spPr>
          <a:xfrm>
            <a:off x="6434176" y="4937760"/>
            <a:ext cx="2119808" cy="0"/>
          </a:xfrm>
          <a:prstGeom prst="line">
            <a:avLst/>
          </a:prstGeom>
          <a:noFill/>
          <a:ln w="9525">
            <a:solidFill>
              <a:srgbClr val="D9E1EA"/>
            </a:solidFill>
            <a:prstDash val="solid"/>
          </a:ln>
        </p:spPr>
      </p:sp>
      <p:sp>
        <p:nvSpPr>
          <p:cNvPr id="38" name="Text 36"/>
          <p:cNvSpPr txBox="1"/>
          <p:nvPr/>
        </p:nvSpPr>
        <p:spPr>
          <a:xfrm>
            <a:off x="6434176" y="5056632"/>
            <a:ext cx="2119808"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Budget, authorization limits</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Reserve requirements</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Policy rules</a:t>
            </a:r>
            <a:endParaRPr lang="en-US" sz="1300" dirty="0"/>
          </a:p>
        </p:txBody>
      </p:sp>
      <p:sp>
        <p:nvSpPr>
          <p:cNvPr id="39" name="Shape 37"/>
          <p:cNvSpPr/>
          <p:nvPr/>
        </p:nvSpPr>
        <p:spPr>
          <a:xfrm>
            <a:off x="9029471" y="3886200"/>
            <a:ext cx="2522144" cy="2194560"/>
          </a:xfrm>
          <a:prstGeom prst="rect">
            <a:avLst/>
          </a:prstGeom>
          <a:solidFill>
            <a:srgbClr val="FFFFFF"/>
          </a:solidFill>
          <a:ln w="9525">
            <a:solidFill>
              <a:srgbClr val="D9E1EA"/>
            </a:solidFill>
            <a:prstDash val="solid"/>
          </a:ln>
        </p:spPr>
      </p:sp>
      <p:sp>
        <p:nvSpPr>
          <p:cNvPr id="40" name="Text 38"/>
          <p:cNvSpPr txBox="1"/>
          <p:nvPr/>
        </p:nvSpPr>
        <p:spPr>
          <a:xfrm>
            <a:off x="9230639" y="406908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08</a:t>
            </a:r>
            <a:endParaRPr lang="en-US" sz="1300" dirty="0"/>
          </a:p>
        </p:txBody>
      </p:sp>
      <p:sp>
        <p:nvSpPr>
          <p:cNvPr id="41" name="Text 39"/>
          <p:cNvSpPr txBox="1"/>
          <p:nvPr/>
        </p:nvSpPr>
        <p:spPr>
          <a:xfrm>
            <a:off x="9230639" y="4343400"/>
            <a:ext cx="2119808" cy="548640"/>
          </a:xfrm>
          <a:prstGeom prst="rect">
            <a:avLst/>
          </a:prstGeom>
          <a:noFill/>
          <a:ln/>
        </p:spPr>
        <p:txBody>
          <a:bodyPr wrap="square" lIns="0" tIns="0" rIns="0" bIns="0" rtlCol="0" anchor="t"/>
          <a:lstStyle/>
          <a:p>
            <a:pPr algn="l" indent="0" marL="0">
              <a:buNone/>
            </a:pPr>
            <a:r>
              <a:rPr lang="en-US" sz="1500" b="1" dirty="0">
                <a:solidFill>
                  <a:srgbClr val="0B1F33"/>
                </a:solidFill>
                <a:latin typeface="Arial" pitchFamily="34" charset="0"/>
                <a:ea typeface="Arial" pitchFamily="34" charset="-122"/>
                <a:cs typeface="Arial" pitchFamily="34" charset="-120"/>
              </a:rPr>
              <a:t>Verification &amp; Audit Agent</a:t>
            </a:r>
            <a:endParaRPr lang="en-US" sz="1500" dirty="0"/>
          </a:p>
        </p:txBody>
      </p:sp>
      <p:sp>
        <p:nvSpPr>
          <p:cNvPr id="42" name="Shape 40"/>
          <p:cNvSpPr/>
          <p:nvPr/>
        </p:nvSpPr>
        <p:spPr>
          <a:xfrm>
            <a:off x="9230639" y="4937760"/>
            <a:ext cx="2119808" cy="0"/>
          </a:xfrm>
          <a:prstGeom prst="line">
            <a:avLst/>
          </a:prstGeom>
          <a:noFill/>
          <a:ln w="9525">
            <a:solidFill>
              <a:srgbClr val="D9E1EA"/>
            </a:solidFill>
            <a:prstDash val="solid"/>
          </a:ln>
        </p:spPr>
      </p:sp>
      <p:sp>
        <p:nvSpPr>
          <p:cNvPr id="43" name="Text 41"/>
          <p:cNvSpPr txBox="1"/>
          <p:nvPr/>
        </p:nvSpPr>
        <p:spPr>
          <a:xfrm>
            <a:off x="9230639" y="5056632"/>
            <a:ext cx="2119808"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Outcome verification</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Audit logging</a:t>
            </a:r>
            <a:endParaRPr lang="en-US" sz="1300" dirty="0"/>
          </a:p>
          <a:p>
            <a:pPr algn="l" marL="152400" indent="-152400">
              <a:spcAft>
                <a:spcPts val="300"/>
              </a:spcAft>
              <a:buSzPct val="100000"/>
              <a:buChar char="•"/>
            </a:pPr>
            <a:r>
              <a:rPr lang="en-US" sz="1300" dirty="0">
                <a:solidFill>
                  <a:srgbClr val="344054"/>
                </a:solidFill>
                <a:latin typeface="Arial" pitchFamily="34" charset="0"/>
                <a:ea typeface="Arial" pitchFamily="34" charset="-122"/>
                <a:cs typeface="Arial" pitchFamily="34" charset="-120"/>
              </a:rPr>
              <a:t>Exceptions, replanning trigger</a:t>
            </a:r>
            <a:endParaRPr lang="en-US" sz="1300" dirty="0"/>
          </a:p>
        </p:txBody>
      </p:sp>
      <p:sp>
        <p:nvSpPr>
          <p:cNvPr id="44" name="Shape 42"/>
          <p:cNvSpPr/>
          <p:nvPr/>
        </p:nvSpPr>
        <p:spPr>
          <a:xfrm>
            <a:off x="640080" y="6382512"/>
            <a:ext cx="10911535" cy="0"/>
          </a:xfrm>
          <a:prstGeom prst="line">
            <a:avLst/>
          </a:prstGeom>
          <a:noFill/>
          <a:ln w="9525">
            <a:solidFill>
              <a:srgbClr val="D9E1EA"/>
            </a:solidFill>
            <a:prstDash val="solid"/>
          </a:ln>
        </p:spPr>
      </p:sp>
      <p:sp>
        <p:nvSpPr>
          <p:cNvPr id="45" name="Text 43"/>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METHODS</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AI Techniques Used in FINOS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2743200"/>
                <a:gridCol w="3840480"/>
                <a:gridCol w="4327855"/>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AI Technique</a:t>
                      </a:r>
                      <a:endParaRPr lang="en-US" sz="13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FINOS Application</a:t>
                      </a:r>
                      <a:endParaRPr lang="en-US" sz="13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Example</a:t>
                      </a:r>
                      <a:endParaRPr lang="en-US" sz="13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0B1F33"/>
                    </a:solidFill>
                  </a:tcPr>
                </a:tc>
              </a:tr>
              <a:tr h="548640">
                <a:tc>
                  <a:txBody>
                    <a:bodyPr/>
                    <a:lstStyle/>
                    <a:p>
                      <a:pPr indent="0" marL="0">
                        <a:buNone/>
                      </a:pPr>
                      <a:r>
                        <a:rPr lang="en-US" sz="1400" b="1" dirty="0">
                          <a:solidFill>
                            <a:srgbClr val="1769AA"/>
                          </a:solidFill>
                          <a:latin typeface="Arial" pitchFamily="34" charset="0"/>
                          <a:ea typeface="Arial" pitchFamily="34" charset="-122"/>
                          <a:cs typeface="Arial" pitchFamily="34" charset="-120"/>
                        </a:rPr>
                        <a:t>Intelligent Agents</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Arial" pitchFamily="34" charset="0"/>
                          <a:ea typeface="Arial" pitchFamily="34" charset="-122"/>
                          <a:cs typeface="Arial" pitchFamily="34" charset="-120"/>
                        </a:rPr>
                        <a:t>Autonomous financial task execution</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344054"/>
                          </a:solidFill>
                          <a:latin typeface="Arial" pitchFamily="34" charset="0"/>
                          <a:ea typeface="Arial" pitchFamily="34" charset="-122"/>
                          <a:cs typeface="Arial" pitchFamily="34" charset="-120"/>
                        </a:rPr>
                        <a:t>Monitoring Agent tracks cash and budget</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769AA"/>
                          </a:solidFill>
                          <a:latin typeface="Arial" pitchFamily="34" charset="0"/>
                          <a:ea typeface="Arial" pitchFamily="34" charset="-122"/>
                          <a:cs typeface="Arial" pitchFamily="34" charset="-120"/>
                        </a:rPr>
                        <a:t>A* Search</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400" dirty="0">
                          <a:solidFill>
                            <a:srgbClr val="0B1F33"/>
                          </a:solidFill>
                          <a:latin typeface="Arial" pitchFamily="34" charset="0"/>
                          <a:ea typeface="Arial" pitchFamily="34" charset="-122"/>
                          <a:cs typeface="Arial" pitchFamily="34" charset="-120"/>
                        </a:rPr>
                        <a:t>Find efficient action paths</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400" dirty="0">
                          <a:solidFill>
                            <a:srgbClr val="344054"/>
                          </a:solidFill>
                          <a:latin typeface="Arial" pitchFamily="34" charset="0"/>
                          <a:ea typeface="Arial" pitchFamily="34" charset="-122"/>
                          <a:cs typeface="Arial" pitchFamily="34" charset="-120"/>
                        </a:rPr>
                        <a:t>Choose a low-cost payment or funding plan</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r>
              <a:tr h="548640">
                <a:tc>
                  <a:txBody>
                    <a:bodyPr/>
                    <a:lstStyle/>
                    <a:p>
                      <a:pPr indent="0" marL="0">
                        <a:buNone/>
                      </a:pPr>
                      <a:r>
                        <a:rPr lang="en-US" sz="1400" b="1" dirty="0">
                          <a:solidFill>
                            <a:srgbClr val="1769AA"/>
                          </a:solidFill>
                          <a:latin typeface="Arial" pitchFamily="34" charset="0"/>
                          <a:ea typeface="Arial" pitchFamily="34" charset="-122"/>
                          <a:cs typeface="Arial" pitchFamily="34" charset="-120"/>
                        </a:rPr>
                        <a:t>Constraint Satisfaction</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Arial" pitchFamily="34" charset="0"/>
                          <a:ea typeface="Arial" pitchFamily="34" charset="-122"/>
                          <a:cs typeface="Arial" pitchFamily="34" charset="-120"/>
                        </a:rPr>
                        <a:t>Enforce financial rules</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344054"/>
                          </a:solidFill>
                          <a:latin typeface="Arial" pitchFamily="34" charset="0"/>
                          <a:ea typeface="Arial" pitchFamily="34" charset="-122"/>
                          <a:cs typeface="Arial" pitchFamily="34" charset="-120"/>
                        </a:rPr>
                        <a:t>Budget, reserve and authorization constraints</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769AA"/>
                          </a:solidFill>
                          <a:latin typeface="Arial" pitchFamily="34" charset="0"/>
                          <a:ea typeface="Arial" pitchFamily="34" charset="-122"/>
                          <a:cs typeface="Arial" pitchFamily="34" charset="-120"/>
                        </a:rPr>
                        <a:t>Bayesian Reasoning</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400" dirty="0">
                          <a:solidFill>
                            <a:srgbClr val="0B1F33"/>
                          </a:solidFill>
                          <a:latin typeface="Arial" pitchFamily="34" charset="0"/>
                          <a:ea typeface="Arial" pitchFamily="34" charset="-122"/>
                          <a:cs typeface="Arial" pitchFamily="34" charset="-120"/>
                        </a:rPr>
                        <a:t>Handle uncertainty</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400" dirty="0">
                          <a:solidFill>
                            <a:srgbClr val="344054"/>
                          </a:solidFill>
                          <a:latin typeface="Arial" pitchFamily="34" charset="0"/>
                          <a:ea typeface="Arial" pitchFamily="34" charset="-122"/>
                          <a:cs typeface="Arial" pitchFamily="34" charset="-120"/>
                        </a:rPr>
                        <a:t>Financial risk assessment from uncertain signals</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r>
              <a:tr h="548640">
                <a:tc>
                  <a:txBody>
                    <a:bodyPr/>
                    <a:lstStyle/>
                    <a:p>
                      <a:pPr indent="0" marL="0">
                        <a:buNone/>
                      </a:pPr>
                      <a:r>
                        <a:rPr lang="en-US" sz="1400" b="1" dirty="0">
                          <a:solidFill>
                            <a:srgbClr val="1769AA"/>
                          </a:solidFill>
                          <a:latin typeface="Arial" pitchFamily="34" charset="0"/>
                          <a:ea typeface="Arial" pitchFamily="34" charset="-122"/>
                          <a:cs typeface="Arial" pitchFamily="34" charset="-120"/>
                        </a:rPr>
                        <a:t>Forward Chaining</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Arial" pitchFamily="34" charset="0"/>
                          <a:ea typeface="Arial" pitchFamily="34" charset="-122"/>
                          <a:cs typeface="Arial" pitchFamily="34" charset="-120"/>
                        </a:rPr>
                        <a:t>Apply known policy rules</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344054"/>
                          </a:solidFill>
                          <a:latin typeface="Arial" pitchFamily="34" charset="0"/>
                          <a:ea typeface="Arial" pitchFamily="34" charset="-122"/>
                          <a:cs typeface="Arial" pitchFamily="34" charset="-120"/>
                        </a:rPr>
                        <a:t>Validate transaction conditions against policy</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769AA"/>
                          </a:solidFill>
                          <a:latin typeface="Arial" pitchFamily="34" charset="0"/>
                          <a:ea typeface="Arial" pitchFamily="34" charset="-122"/>
                          <a:cs typeface="Arial" pitchFamily="34" charset="-120"/>
                        </a:rPr>
                        <a:t>Backward Chaining</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400" dirty="0">
                          <a:solidFill>
                            <a:srgbClr val="0B1F33"/>
                          </a:solidFill>
                          <a:latin typeface="Arial" pitchFamily="34" charset="0"/>
                          <a:ea typeface="Arial" pitchFamily="34" charset="-122"/>
                          <a:cs typeface="Arial" pitchFamily="34" charset="-120"/>
                        </a:rPr>
                        <a:t>Determine required conditions</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c>
                  <a:txBody>
                    <a:bodyPr/>
                    <a:lstStyle/>
                    <a:p>
                      <a:pPr indent="0" marL="0">
                        <a:buNone/>
                      </a:pPr>
                      <a:r>
                        <a:rPr lang="en-US" sz="1400" dirty="0">
                          <a:solidFill>
                            <a:srgbClr val="344054"/>
                          </a:solidFill>
                          <a:latin typeface="Arial" pitchFamily="34" charset="0"/>
                          <a:ea typeface="Arial" pitchFamily="34" charset="-122"/>
                          <a:cs typeface="Arial" pitchFamily="34" charset="-120"/>
                        </a:rPr>
                        <a:t>Check whether an action is permissible</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EEF2F7"/>
                    </a:solidFill>
                  </a:tcPr>
                </a:tc>
              </a:tr>
              <a:tr h="548640">
                <a:tc>
                  <a:txBody>
                    <a:bodyPr/>
                    <a:lstStyle/>
                    <a:p>
                      <a:pPr indent="0" marL="0">
                        <a:buNone/>
                      </a:pPr>
                      <a:r>
                        <a:rPr lang="en-US" sz="1400" b="1" dirty="0">
                          <a:solidFill>
                            <a:srgbClr val="1769AA"/>
                          </a:solidFill>
                          <a:latin typeface="Arial" pitchFamily="34" charset="0"/>
                          <a:ea typeface="Arial" pitchFamily="34" charset="-122"/>
                          <a:cs typeface="Arial" pitchFamily="34" charset="-120"/>
                        </a:rPr>
                        <a:t>Optimization</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latin typeface="Arial" pitchFamily="34" charset="0"/>
                          <a:ea typeface="Arial" pitchFamily="34" charset="-122"/>
                          <a:cs typeface="Arial" pitchFamily="34" charset="-120"/>
                        </a:rPr>
                        <a:t>Minimize financial cost and risk</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344054"/>
                          </a:solidFill>
                          <a:latin typeface="Arial" pitchFamily="34" charset="0"/>
                          <a:ea typeface="Arial" pitchFamily="34" charset="-122"/>
                          <a:cs typeface="Arial" pitchFamily="34" charset="-120"/>
                        </a:rPr>
                        <a:t>Select the best feasible financial plan</a:t>
                      </a:r>
                      <a:endParaRPr lang="en-US" sz="1400" dirty="0">
                        <a:latin typeface="Arial" charset="0"/>
                        <a:ea typeface="Arial" charset="0"/>
                        <a:cs typeface="Arial" charset="0"/>
                      </a:endParaRPr>
                    </a:p>
                  </a:txBody>
                  <a:tcPr marL="146304" marR="146304" marT="36576" marB="36576"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897880"/>
            <a:ext cx="10911535" cy="274320"/>
          </a:xfrm>
          <a:prstGeom prst="rect">
            <a:avLst/>
          </a:prstGeom>
          <a:noFill/>
          <a:ln/>
        </p:spPr>
        <p:txBody>
          <a:bodyPr wrap="square" lIns="0" tIns="0" rIns="0" bIns="0" rtlCol="0" anchor="t"/>
          <a:lstStyle/>
          <a:p>
            <a:pPr algn="l" indent="0" marL="0">
              <a:buNone/>
            </a:pPr>
            <a:r>
              <a:rPr lang="en-US" sz="1150" i="1" dirty="0">
                <a:solidFill>
                  <a:srgbClr val="667085"/>
                </a:solidFill>
                <a:latin typeface="Arial" pitchFamily="34" charset="0"/>
                <a:ea typeface="Arial" pitchFamily="34" charset="-122"/>
                <a:cs typeface="Arial" pitchFamily="34" charset="-120"/>
              </a:rPr>
              <a:t>Each technique maps to a specific step in the decision workflow rather than being applied generically.</a:t>
            </a:r>
            <a:endParaRPr lang="en-US" sz="1150" dirty="0"/>
          </a:p>
        </p:txBody>
      </p:sp>
      <p:sp>
        <p:nvSpPr>
          <p:cNvPr id="6" name="Shape 3"/>
          <p:cNvSpPr/>
          <p:nvPr/>
        </p:nvSpPr>
        <p:spPr>
          <a:xfrm>
            <a:off x="640080" y="6382512"/>
            <a:ext cx="10911535" cy="0"/>
          </a:xfrm>
          <a:prstGeom prst="line">
            <a:avLst/>
          </a:prstGeom>
          <a:noFill/>
          <a:ln w="9525">
            <a:solidFill>
              <a:srgbClr val="D9E1EA"/>
            </a:solidFill>
            <a:prstDash val="solid"/>
          </a:ln>
        </p:spPr>
      </p:sp>
      <p:sp>
        <p:nvSpPr>
          <p:cNvPr id="7" name="Text 4"/>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WORKFLOW</a:t>
            </a:r>
            <a:endParaRPr lang="en-US" sz="1050" dirty="0"/>
          </a:p>
        </p:txBody>
      </p:sp>
      <p:sp>
        <p:nvSpPr>
          <p:cNvPr id="3" name="Text 1"/>
          <p:cNvSpPr txBox="1"/>
          <p:nvPr/>
        </p:nvSpPr>
        <p:spPr>
          <a:xfrm>
            <a:off x="640080" y="585216"/>
            <a:ext cx="8229600"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Agentic Financial Decision Workflow</a:t>
            </a:r>
            <a:endParaRPr lang="en-US" sz="3000" dirty="0"/>
          </a:p>
        </p:txBody>
      </p:sp>
      <p:sp>
        <p:nvSpPr>
          <p:cNvPr id="4" name="Text 2"/>
          <p:cNvSpPr txBox="1"/>
          <p:nvPr/>
        </p:nvSpPr>
        <p:spPr>
          <a:xfrm>
            <a:off x="9037015" y="676656"/>
            <a:ext cx="2514600" cy="310896"/>
          </a:xfrm>
          <a:prstGeom prst="rect">
            <a:avLst/>
          </a:prstGeom>
          <a:noFill/>
          <a:ln w="9525">
            <a:solidFill>
              <a:srgbClr val="667085"/>
            </a:solidFill>
          </a:ln>
        </p:spPr>
        <p:txBody>
          <a:bodyPr wrap="square" lIns="762" tIns="762" rIns="762" bIns="762" rtlCol="0" anchor="ctr"/>
          <a:lstStyle/>
          <a:p>
            <a:pPr algn="ctr" indent="0" marL="0">
              <a:buNone/>
            </a:pPr>
            <a:r>
              <a:rPr lang="en-US" sz="1000" b="1" spc="50" kern="0" dirty="0">
                <a:solidFill>
                  <a:srgbClr val="667085"/>
                </a:solidFill>
                <a:latin typeface="Arial" pitchFamily="34" charset="0"/>
                <a:ea typeface="Arial" pitchFamily="34" charset="-122"/>
                <a:cs typeface="Arial" pitchFamily="34" charset="-120"/>
              </a:rPr>
              <a:t>ILLUSTRATIVE / SIMULATED DATA</a:t>
            </a:r>
            <a:endParaRPr lang="en-US" sz="1000" dirty="0"/>
          </a:p>
        </p:txBody>
      </p:sp>
      <p:sp>
        <p:nvSpPr>
          <p:cNvPr id="5" name="Shape 3"/>
          <p:cNvSpPr/>
          <p:nvPr/>
        </p:nvSpPr>
        <p:spPr>
          <a:xfrm>
            <a:off x="640080" y="1371600"/>
            <a:ext cx="1171918" cy="1188720"/>
          </a:xfrm>
          <a:prstGeom prst="rect">
            <a:avLst/>
          </a:prstGeom>
          <a:solidFill>
            <a:srgbClr val="12395A"/>
          </a:solidFill>
          <a:ln/>
        </p:spPr>
      </p:sp>
      <p:sp>
        <p:nvSpPr>
          <p:cNvPr id="6" name="Text 4"/>
          <p:cNvSpPr txBox="1"/>
          <p:nvPr/>
        </p:nvSpPr>
        <p:spPr>
          <a:xfrm>
            <a:off x="749808" y="1481328"/>
            <a:ext cx="548640" cy="201168"/>
          </a:xfrm>
          <a:prstGeom prst="rect">
            <a:avLst/>
          </a:prstGeom>
          <a:noFill/>
          <a:ln/>
        </p:spPr>
        <p:txBody>
          <a:bodyPr wrap="square" lIns="0" tIns="0" rIns="0" bIns="0" rtlCol="0" anchor="t"/>
          <a:lstStyle/>
          <a:p>
            <a:pPr algn="l" indent="0" marL="0">
              <a:buNone/>
            </a:pPr>
            <a:r>
              <a:rPr lang="en-US" sz="1100" b="1" dirty="0">
                <a:solidFill>
                  <a:srgbClr val="CADCFC"/>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749808" y="1755648"/>
            <a:ext cx="989038" cy="274320"/>
          </a:xfrm>
          <a:prstGeom prst="rect">
            <a:avLst/>
          </a:prstGeom>
          <a:noFill/>
          <a:ln/>
        </p:spPr>
        <p:txBody>
          <a:bodyPr wrap="square" lIns="0" tIns="0" rIns="0" bIns="0" rtlCol="0" anchor="t"/>
          <a:lstStyle/>
          <a:p>
            <a:pPr algn="l" indent="0" marL="0">
              <a:buNone/>
            </a:pPr>
            <a:r>
              <a:rPr lang="en-US" sz="1350" b="1" dirty="0">
                <a:solidFill>
                  <a:srgbClr val="FFFFFF"/>
                </a:solidFill>
                <a:latin typeface="Arial" pitchFamily="34" charset="0"/>
                <a:ea typeface="Arial" pitchFamily="34" charset="-122"/>
                <a:cs typeface="Arial" pitchFamily="34" charset="-120"/>
              </a:rPr>
              <a:t>OBSERVE</a:t>
            </a:r>
            <a:endParaRPr lang="en-US" sz="1350" dirty="0"/>
          </a:p>
        </p:txBody>
      </p:sp>
      <p:sp>
        <p:nvSpPr>
          <p:cNvPr id="8" name="Text 6"/>
          <p:cNvSpPr txBox="1"/>
          <p:nvPr/>
        </p:nvSpPr>
        <p:spPr>
          <a:xfrm>
            <a:off x="749808" y="2066544"/>
            <a:ext cx="989038" cy="457200"/>
          </a:xfrm>
          <a:prstGeom prst="rect">
            <a:avLst/>
          </a:prstGeom>
          <a:noFill/>
          <a:ln/>
        </p:spPr>
        <p:txBody>
          <a:bodyPr wrap="square" lIns="0" tIns="0" rIns="0" bIns="0" rtlCol="0" anchor="t"/>
          <a:lstStyle/>
          <a:p>
            <a:pPr algn="l" indent="0" marL="0">
              <a:buNone/>
            </a:pPr>
            <a:r>
              <a:rPr lang="en-US" sz="1100" dirty="0">
                <a:solidFill>
                  <a:srgbClr val="EAF1F8"/>
                </a:solidFill>
                <a:latin typeface="Arial" pitchFamily="34" charset="0"/>
                <a:ea typeface="Arial" pitchFamily="34" charset="-122"/>
                <a:cs typeface="Arial" pitchFamily="34" charset="-120"/>
              </a:rPr>
              <a:t>Financial state</a:t>
            </a:r>
            <a:endParaRPr lang="en-US" sz="1100" dirty="0"/>
          </a:p>
        </p:txBody>
      </p:sp>
      <p:sp>
        <p:nvSpPr>
          <p:cNvPr id="9" name="Shape 7"/>
          <p:cNvSpPr/>
          <p:nvPr/>
        </p:nvSpPr>
        <p:spPr>
          <a:xfrm>
            <a:off x="1830286" y="1965960"/>
            <a:ext cx="182880" cy="0"/>
          </a:xfrm>
          <a:prstGeom prst="line">
            <a:avLst/>
          </a:prstGeom>
          <a:noFill/>
          <a:ln w="15875">
            <a:solidFill>
              <a:srgbClr val="667085"/>
            </a:solidFill>
            <a:prstDash val="solid"/>
            <a:tailEnd type="triangle"/>
          </a:ln>
        </p:spPr>
      </p:sp>
      <p:sp>
        <p:nvSpPr>
          <p:cNvPr id="10" name="Shape 8"/>
          <p:cNvSpPr/>
          <p:nvPr/>
        </p:nvSpPr>
        <p:spPr>
          <a:xfrm>
            <a:off x="2031454" y="1371600"/>
            <a:ext cx="1171918" cy="1188720"/>
          </a:xfrm>
          <a:prstGeom prst="rect">
            <a:avLst/>
          </a:prstGeom>
          <a:solidFill>
            <a:srgbClr val="12395A"/>
          </a:solidFill>
          <a:ln/>
        </p:spPr>
      </p:sp>
      <p:sp>
        <p:nvSpPr>
          <p:cNvPr id="11" name="Text 9"/>
          <p:cNvSpPr txBox="1"/>
          <p:nvPr/>
        </p:nvSpPr>
        <p:spPr>
          <a:xfrm>
            <a:off x="2141182" y="1481328"/>
            <a:ext cx="548640" cy="201168"/>
          </a:xfrm>
          <a:prstGeom prst="rect">
            <a:avLst/>
          </a:prstGeom>
          <a:noFill/>
          <a:ln/>
        </p:spPr>
        <p:txBody>
          <a:bodyPr wrap="square" lIns="0" tIns="0" rIns="0" bIns="0" rtlCol="0" anchor="t"/>
          <a:lstStyle/>
          <a:p>
            <a:pPr algn="l" indent="0" marL="0">
              <a:buNone/>
            </a:pPr>
            <a:r>
              <a:rPr lang="en-US" sz="1100" b="1" dirty="0">
                <a:solidFill>
                  <a:srgbClr val="CADCFC"/>
                </a:solidFill>
                <a:latin typeface="Arial" pitchFamily="34" charset="0"/>
                <a:ea typeface="Arial" pitchFamily="34" charset="-122"/>
                <a:cs typeface="Arial" pitchFamily="34" charset="-120"/>
              </a:rPr>
              <a:t>02</a:t>
            </a:r>
            <a:endParaRPr lang="en-US" sz="1100" dirty="0"/>
          </a:p>
        </p:txBody>
      </p:sp>
      <p:sp>
        <p:nvSpPr>
          <p:cNvPr id="12" name="Text 10"/>
          <p:cNvSpPr txBox="1"/>
          <p:nvPr/>
        </p:nvSpPr>
        <p:spPr>
          <a:xfrm>
            <a:off x="2141182" y="1755648"/>
            <a:ext cx="989038" cy="274320"/>
          </a:xfrm>
          <a:prstGeom prst="rect">
            <a:avLst/>
          </a:prstGeom>
          <a:noFill/>
          <a:ln/>
        </p:spPr>
        <p:txBody>
          <a:bodyPr wrap="square" lIns="0" tIns="0" rIns="0" bIns="0" rtlCol="0" anchor="t"/>
          <a:lstStyle/>
          <a:p>
            <a:pPr algn="l" indent="0" marL="0">
              <a:buNone/>
            </a:pPr>
            <a:r>
              <a:rPr lang="en-US" sz="1350" b="1" dirty="0">
                <a:solidFill>
                  <a:srgbClr val="FFFFFF"/>
                </a:solidFill>
                <a:latin typeface="Arial" pitchFamily="34" charset="0"/>
                <a:ea typeface="Arial" pitchFamily="34" charset="-122"/>
                <a:cs typeface="Arial" pitchFamily="34" charset="-120"/>
              </a:rPr>
              <a:t>REASON</a:t>
            </a:r>
            <a:endParaRPr lang="en-US" sz="1350" dirty="0"/>
          </a:p>
        </p:txBody>
      </p:sp>
      <p:sp>
        <p:nvSpPr>
          <p:cNvPr id="13" name="Text 11"/>
          <p:cNvSpPr txBox="1"/>
          <p:nvPr/>
        </p:nvSpPr>
        <p:spPr>
          <a:xfrm>
            <a:off x="2141182" y="2066544"/>
            <a:ext cx="989038" cy="457200"/>
          </a:xfrm>
          <a:prstGeom prst="rect">
            <a:avLst/>
          </a:prstGeom>
          <a:noFill/>
          <a:ln/>
        </p:spPr>
        <p:txBody>
          <a:bodyPr wrap="square" lIns="0" tIns="0" rIns="0" bIns="0" rtlCol="0" anchor="t"/>
          <a:lstStyle/>
          <a:p>
            <a:pPr algn="l" indent="0" marL="0">
              <a:buNone/>
            </a:pPr>
            <a:r>
              <a:rPr lang="en-US" sz="1100" dirty="0">
                <a:solidFill>
                  <a:srgbClr val="EAF1F8"/>
                </a:solidFill>
                <a:latin typeface="Arial" pitchFamily="34" charset="0"/>
                <a:ea typeface="Arial" pitchFamily="34" charset="-122"/>
                <a:cs typeface="Arial" pitchFamily="34" charset="-120"/>
              </a:rPr>
              <a:t>Cash + risk + obligations</a:t>
            </a:r>
            <a:endParaRPr lang="en-US" sz="1100" dirty="0"/>
          </a:p>
        </p:txBody>
      </p:sp>
      <p:sp>
        <p:nvSpPr>
          <p:cNvPr id="14" name="Shape 12"/>
          <p:cNvSpPr/>
          <p:nvPr/>
        </p:nvSpPr>
        <p:spPr>
          <a:xfrm>
            <a:off x="3221660" y="1965960"/>
            <a:ext cx="182880" cy="0"/>
          </a:xfrm>
          <a:prstGeom prst="line">
            <a:avLst/>
          </a:prstGeom>
          <a:noFill/>
          <a:ln w="15875">
            <a:solidFill>
              <a:srgbClr val="667085"/>
            </a:solidFill>
            <a:prstDash val="solid"/>
            <a:tailEnd type="triangle"/>
          </a:ln>
        </p:spPr>
      </p:sp>
      <p:sp>
        <p:nvSpPr>
          <p:cNvPr id="15" name="Shape 13"/>
          <p:cNvSpPr/>
          <p:nvPr/>
        </p:nvSpPr>
        <p:spPr>
          <a:xfrm>
            <a:off x="3422828" y="1371600"/>
            <a:ext cx="1171918" cy="1188720"/>
          </a:xfrm>
          <a:prstGeom prst="rect">
            <a:avLst/>
          </a:prstGeom>
          <a:solidFill>
            <a:srgbClr val="12395A"/>
          </a:solidFill>
          <a:ln/>
        </p:spPr>
      </p:sp>
      <p:sp>
        <p:nvSpPr>
          <p:cNvPr id="16" name="Text 14"/>
          <p:cNvSpPr txBox="1"/>
          <p:nvPr/>
        </p:nvSpPr>
        <p:spPr>
          <a:xfrm>
            <a:off x="3532556" y="1481328"/>
            <a:ext cx="548640" cy="201168"/>
          </a:xfrm>
          <a:prstGeom prst="rect">
            <a:avLst/>
          </a:prstGeom>
          <a:noFill/>
          <a:ln/>
        </p:spPr>
        <p:txBody>
          <a:bodyPr wrap="square" lIns="0" tIns="0" rIns="0" bIns="0" rtlCol="0" anchor="t"/>
          <a:lstStyle/>
          <a:p>
            <a:pPr algn="l" indent="0" marL="0">
              <a:buNone/>
            </a:pPr>
            <a:r>
              <a:rPr lang="en-US" sz="1100" b="1" dirty="0">
                <a:solidFill>
                  <a:srgbClr val="CADCFC"/>
                </a:solidFill>
                <a:latin typeface="Arial" pitchFamily="34" charset="0"/>
                <a:ea typeface="Arial" pitchFamily="34" charset="-122"/>
                <a:cs typeface="Arial" pitchFamily="34" charset="-120"/>
              </a:rPr>
              <a:t>03</a:t>
            </a:r>
            <a:endParaRPr lang="en-US" sz="1100" dirty="0"/>
          </a:p>
        </p:txBody>
      </p:sp>
      <p:sp>
        <p:nvSpPr>
          <p:cNvPr id="17" name="Text 15"/>
          <p:cNvSpPr txBox="1"/>
          <p:nvPr/>
        </p:nvSpPr>
        <p:spPr>
          <a:xfrm>
            <a:off x="3532556" y="1755648"/>
            <a:ext cx="989038" cy="274320"/>
          </a:xfrm>
          <a:prstGeom prst="rect">
            <a:avLst/>
          </a:prstGeom>
          <a:noFill/>
          <a:ln/>
        </p:spPr>
        <p:txBody>
          <a:bodyPr wrap="square" lIns="0" tIns="0" rIns="0" bIns="0" rtlCol="0" anchor="t"/>
          <a:lstStyle/>
          <a:p>
            <a:pPr algn="l" indent="0" marL="0">
              <a:buNone/>
            </a:pPr>
            <a:r>
              <a:rPr lang="en-US" sz="1350" b="1" dirty="0">
                <a:solidFill>
                  <a:srgbClr val="FFFFFF"/>
                </a:solidFill>
                <a:latin typeface="Arial" pitchFamily="34" charset="0"/>
                <a:ea typeface="Arial" pitchFamily="34" charset="-122"/>
                <a:cs typeface="Arial" pitchFamily="34" charset="-120"/>
              </a:rPr>
              <a:t>PLAN</a:t>
            </a:r>
            <a:endParaRPr lang="en-US" sz="1350" dirty="0"/>
          </a:p>
        </p:txBody>
      </p:sp>
      <p:sp>
        <p:nvSpPr>
          <p:cNvPr id="18" name="Text 16"/>
          <p:cNvSpPr txBox="1"/>
          <p:nvPr/>
        </p:nvSpPr>
        <p:spPr>
          <a:xfrm>
            <a:off x="3532556" y="2066544"/>
            <a:ext cx="989038" cy="457200"/>
          </a:xfrm>
          <a:prstGeom prst="rect">
            <a:avLst/>
          </a:prstGeom>
          <a:noFill/>
          <a:ln/>
        </p:spPr>
        <p:txBody>
          <a:bodyPr wrap="square" lIns="0" tIns="0" rIns="0" bIns="0" rtlCol="0" anchor="t"/>
          <a:lstStyle/>
          <a:p>
            <a:pPr algn="l" indent="0" marL="0">
              <a:buNone/>
            </a:pPr>
            <a:r>
              <a:rPr lang="en-US" sz="1100" dirty="0">
                <a:solidFill>
                  <a:srgbClr val="EAF1F8"/>
                </a:solidFill>
                <a:latin typeface="Arial" pitchFamily="34" charset="0"/>
                <a:ea typeface="Arial" pitchFamily="34" charset="-122"/>
                <a:cs typeface="Arial" pitchFamily="34" charset="-120"/>
              </a:rPr>
              <a:t>Generate alternatives</a:t>
            </a:r>
            <a:endParaRPr lang="en-US" sz="1100" dirty="0"/>
          </a:p>
        </p:txBody>
      </p:sp>
      <p:sp>
        <p:nvSpPr>
          <p:cNvPr id="19" name="Shape 17"/>
          <p:cNvSpPr/>
          <p:nvPr/>
        </p:nvSpPr>
        <p:spPr>
          <a:xfrm>
            <a:off x="4613034" y="1965960"/>
            <a:ext cx="182880" cy="0"/>
          </a:xfrm>
          <a:prstGeom prst="line">
            <a:avLst/>
          </a:prstGeom>
          <a:noFill/>
          <a:ln w="15875">
            <a:solidFill>
              <a:srgbClr val="667085"/>
            </a:solidFill>
            <a:prstDash val="solid"/>
            <a:tailEnd type="triangle"/>
          </a:ln>
        </p:spPr>
      </p:sp>
      <p:sp>
        <p:nvSpPr>
          <p:cNvPr id="20" name="Shape 18"/>
          <p:cNvSpPr/>
          <p:nvPr/>
        </p:nvSpPr>
        <p:spPr>
          <a:xfrm>
            <a:off x="4814202" y="1371600"/>
            <a:ext cx="1171918" cy="1188720"/>
          </a:xfrm>
          <a:prstGeom prst="rect">
            <a:avLst/>
          </a:prstGeom>
          <a:solidFill>
            <a:srgbClr val="B45F06"/>
          </a:solidFill>
          <a:ln/>
        </p:spPr>
      </p:sp>
      <p:sp>
        <p:nvSpPr>
          <p:cNvPr id="21" name="Text 19"/>
          <p:cNvSpPr txBox="1"/>
          <p:nvPr/>
        </p:nvSpPr>
        <p:spPr>
          <a:xfrm>
            <a:off x="4923930" y="1481328"/>
            <a:ext cx="548640" cy="201168"/>
          </a:xfrm>
          <a:prstGeom prst="rect">
            <a:avLst/>
          </a:prstGeom>
          <a:noFill/>
          <a:ln/>
        </p:spPr>
        <p:txBody>
          <a:bodyPr wrap="square" lIns="0" tIns="0" rIns="0" bIns="0" rtlCol="0" anchor="t"/>
          <a:lstStyle/>
          <a:p>
            <a:pPr algn="l" indent="0" marL="0">
              <a:buNone/>
            </a:pPr>
            <a:r>
              <a:rPr lang="en-US" sz="1100" b="1" dirty="0">
                <a:solidFill>
                  <a:srgbClr val="CADCFC"/>
                </a:solidFill>
                <a:latin typeface="Arial" pitchFamily="34" charset="0"/>
                <a:ea typeface="Arial" pitchFamily="34" charset="-122"/>
                <a:cs typeface="Arial" pitchFamily="34" charset="-120"/>
              </a:rPr>
              <a:t>04</a:t>
            </a:r>
            <a:endParaRPr lang="en-US" sz="1100" dirty="0"/>
          </a:p>
        </p:txBody>
      </p:sp>
      <p:sp>
        <p:nvSpPr>
          <p:cNvPr id="22" name="Text 20"/>
          <p:cNvSpPr txBox="1"/>
          <p:nvPr/>
        </p:nvSpPr>
        <p:spPr>
          <a:xfrm>
            <a:off x="4923930" y="1755648"/>
            <a:ext cx="989038" cy="274320"/>
          </a:xfrm>
          <a:prstGeom prst="rect">
            <a:avLst/>
          </a:prstGeom>
          <a:noFill/>
          <a:ln/>
        </p:spPr>
        <p:txBody>
          <a:bodyPr wrap="square" lIns="0" tIns="0" rIns="0" bIns="0" rtlCol="0" anchor="t"/>
          <a:lstStyle/>
          <a:p>
            <a:pPr algn="l" indent="0" marL="0">
              <a:buNone/>
            </a:pPr>
            <a:r>
              <a:rPr lang="en-US" sz="1350" b="1" dirty="0">
                <a:solidFill>
                  <a:srgbClr val="FFFFFF"/>
                </a:solidFill>
                <a:latin typeface="Arial" pitchFamily="34" charset="0"/>
                <a:ea typeface="Arial" pitchFamily="34" charset="-122"/>
                <a:cs typeface="Arial" pitchFamily="34" charset="-120"/>
              </a:rPr>
              <a:t>VALIDATE</a:t>
            </a:r>
            <a:endParaRPr lang="en-US" sz="1350" dirty="0"/>
          </a:p>
        </p:txBody>
      </p:sp>
      <p:sp>
        <p:nvSpPr>
          <p:cNvPr id="23" name="Text 21"/>
          <p:cNvSpPr txBox="1"/>
          <p:nvPr/>
        </p:nvSpPr>
        <p:spPr>
          <a:xfrm>
            <a:off x="4923930" y="2066544"/>
            <a:ext cx="989038" cy="457200"/>
          </a:xfrm>
          <a:prstGeom prst="rect">
            <a:avLst/>
          </a:prstGeom>
          <a:noFill/>
          <a:ln/>
        </p:spPr>
        <p:txBody>
          <a:bodyPr wrap="square" lIns="0" tIns="0" rIns="0" bIns="0" rtlCol="0" anchor="t"/>
          <a:lstStyle/>
          <a:p>
            <a:pPr algn="l" indent="0" marL="0">
              <a:buNone/>
            </a:pPr>
            <a:r>
              <a:rPr lang="en-US" sz="1100" dirty="0">
                <a:solidFill>
                  <a:srgbClr val="EAF1F8"/>
                </a:solidFill>
                <a:latin typeface="Arial" pitchFamily="34" charset="0"/>
                <a:ea typeface="Arial" pitchFamily="34" charset="-122"/>
                <a:cs typeface="Arial" pitchFamily="34" charset="-120"/>
              </a:rPr>
              <a:t>Policy + constraints</a:t>
            </a:r>
            <a:endParaRPr lang="en-US" sz="1100" dirty="0"/>
          </a:p>
        </p:txBody>
      </p:sp>
      <p:sp>
        <p:nvSpPr>
          <p:cNvPr id="24" name="Shape 22"/>
          <p:cNvSpPr/>
          <p:nvPr/>
        </p:nvSpPr>
        <p:spPr>
          <a:xfrm>
            <a:off x="6004408" y="1965960"/>
            <a:ext cx="182880" cy="0"/>
          </a:xfrm>
          <a:prstGeom prst="line">
            <a:avLst/>
          </a:prstGeom>
          <a:noFill/>
          <a:ln w="15875">
            <a:solidFill>
              <a:srgbClr val="667085"/>
            </a:solidFill>
            <a:prstDash val="solid"/>
            <a:tailEnd type="triangle"/>
          </a:ln>
        </p:spPr>
      </p:sp>
      <p:sp>
        <p:nvSpPr>
          <p:cNvPr id="25" name="Shape 23"/>
          <p:cNvSpPr/>
          <p:nvPr/>
        </p:nvSpPr>
        <p:spPr>
          <a:xfrm>
            <a:off x="6205576" y="1371600"/>
            <a:ext cx="1171918" cy="1188720"/>
          </a:xfrm>
          <a:prstGeom prst="rect">
            <a:avLst/>
          </a:prstGeom>
          <a:solidFill>
            <a:srgbClr val="16845B"/>
          </a:solidFill>
          <a:ln/>
        </p:spPr>
      </p:sp>
      <p:sp>
        <p:nvSpPr>
          <p:cNvPr id="26" name="Text 24"/>
          <p:cNvSpPr txBox="1"/>
          <p:nvPr/>
        </p:nvSpPr>
        <p:spPr>
          <a:xfrm>
            <a:off x="6315304" y="1481328"/>
            <a:ext cx="548640" cy="201168"/>
          </a:xfrm>
          <a:prstGeom prst="rect">
            <a:avLst/>
          </a:prstGeom>
          <a:noFill/>
          <a:ln/>
        </p:spPr>
        <p:txBody>
          <a:bodyPr wrap="square" lIns="0" tIns="0" rIns="0" bIns="0" rtlCol="0" anchor="t"/>
          <a:lstStyle/>
          <a:p>
            <a:pPr algn="l" indent="0" marL="0">
              <a:buNone/>
            </a:pPr>
            <a:r>
              <a:rPr lang="en-US" sz="1100" b="1" dirty="0">
                <a:solidFill>
                  <a:srgbClr val="CADCFC"/>
                </a:solidFill>
                <a:latin typeface="Arial" pitchFamily="34" charset="0"/>
                <a:ea typeface="Arial" pitchFamily="34" charset="-122"/>
                <a:cs typeface="Arial" pitchFamily="34" charset="-120"/>
              </a:rPr>
              <a:t>05</a:t>
            </a:r>
            <a:endParaRPr lang="en-US" sz="1100" dirty="0"/>
          </a:p>
        </p:txBody>
      </p:sp>
      <p:sp>
        <p:nvSpPr>
          <p:cNvPr id="27" name="Text 25"/>
          <p:cNvSpPr txBox="1"/>
          <p:nvPr/>
        </p:nvSpPr>
        <p:spPr>
          <a:xfrm>
            <a:off x="6315304" y="1755648"/>
            <a:ext cx="989038" cy="274320"/>
          </a:xfrm>
          <a:prstGeom prst="rect">
            <a:avLst/>
          </a:prstGeom>
          <a:noFill/>
          <a:ln/>
        </p:spPr>
        <p:txBody>
          <a:bodyPr wrap="square" lIns="0" tIns="0" rIns="0" bIns="0" rtlCol="0" anchor="t"/>
          <a:lstStyle/>
          <a:p>
            <a:pPr algn="l" indent="0" marL="0">
              <a:buNone/>
            </a:pPr>
            <a:r>
              <a:rPr lang="en-US" sz="1350" b="1" dirty="0">
                <a:solidFill>
                  <a:srgbClr val="FFFFFF"/>
                </a:solidFill>
                <a:latin typeface="Arial" pitchFamily="34" charset="0"/>
                <a:ea typeface="Arial" pitchFamily="34" charset="-122"/>
                <a:cs typeface="Arial" pitchFamily="34" charset="-120"/>
              </a:rPr>
              <a:t>APPROVE</a:t>
            </a:r>
            <a:endParaRPr lang="en-US" sz="1350" dirty="0"/>
          </a:p>
        </p:txBody>
      </p:sp>
      <p:sp>
        <p:nvSpPr>
          <p:cNvPr id="28" name="Text 26"/>
          <p:cNvSpPr txBox="1"/>
          <p:nvPr/>
        </p:nvSpPr>
        <p:spPr>
          <a:xfrm>
            <a:off x="6315304" y="2066544"/>
            <a:ext cx="989038" cy="457200"/>
          </a:xfrm>
          <a:prstGeom prst="rect">
            <a:avLst/>
          </a:prstGeom>
          <a:noFill/>
          <a:ln/>
        </p:spPr>
        <p:txBody>
          <a:bodyPr wrap="square" lIns="0" tIns="0" rIns="0" bIns="0" rtlCol="0" anchor="t"/>
          <a:lstStyle/>
          <a:p>
            <a:pPr algn="l" indent="0" marL="0">
              <a:buNone/>
            </a:pPr>
            <a:r>
              <a:rPr lang="en-US" sz="1100" dirty="0">
                <a:solidFill>
                  <a:srgbClr val="EAF1F8"/>
                </a:solidFill>
                <a:latin typeface="Arial" pitchFamily="34" charset="0"/>
                <a:ea typeface="Arial" pitchFamily="34" charset="-122"/>
                <a:cs typeface="Arial" pitchFamily="34" charset="-120"/>
              </a:rPr>
              <a:t>Human decision</a:t>
            </a:r>
            <a:endParaRPr lang="en-US" sz="1100" dirty="0"/>
          </a:p>
        </p:txBody>
      </p:sp>
      <p:sp>
        <p:nvSpPr>
          <p:cNvPr id="29" name="Shape 27"/>
          <p:cNvSpPr/>
          <p:nvPr/>
        </p:nvSpPr>
        <p:spPr>
          <a:xfrm>
            <a:off x="7395782" y="1965960"/>
            <a:ext cx="182880" cy="0"/>
          </a:xfrm>
          <a:prstGeom prst="line">
            <a:avLst/>
          </a:prstGeom>
          <a:noFill/>
          <a:ln w="15875">
            <a:solidFill>
              <a:srgbClr val="667085"/>
            </a:solidFill>
            <a:prstDash val="solid"/>
            <a:tailEnd type="triangle"/>
          </a:ln>
        </p:spPr>
      </p:sp>
      <p:sp>
        <p:nvSpPr>
          <p:cNvPr id="30" name="Shape 28"/>
          <p:cNvSpPr/>
          <p:nvPr/>
        </p:nvSpPr>
        <p:spPr>
          <a:xfrm>
            <a:off x="7596950" y="1371600"/>
            <a:ext cx="1171918" cy="1188720"/>
          </a:xfrm>
          <a:prstGeom prst="rect">
            <a:avLst/>
          </a:prstGeom>
          <a:solidFill>
            <a:srgbClr val="12395A"/>
          </a:solidFill>
          <a:ln/>
        </p:spPr>
      </p:sp>
      <p:sp>
        <p:nvSpPr>
          <p:cNvPr id="31" name="Text 29"/>
          <p:cNvSpPr txBox="1"/>
          <p:nvPr/>
        </p:nvSpPr>
        <p:spPr>
          <a:xfrm>
            <a:off x="7706678" y="1481328"/>
            <a:ext cx="548640" cy="201168"/>
          </a:xfrm>
          <a:prstGeom prst="rect">
            <a:avLst/>
          </a:prstGeom>
          <a:noFill/>
          <a:ln/>
        </p:spPr>
        <p:txBody>
          <a:bodyPr wrap="square" lIns="0" tIns="0" rIns="0" bIns="0" rtlCol="0" anchor="t"/>
          <a:lstStyle/>
          <a:p>
            <a:pPr algn="l" indent="0" marL="0">
              <a:buNone/>
            </a:pPr>
            <a:r>
              <a:rPr lang="en-US" sz="1100" b="1" dirty="0">
                <a:solidFill>
                  <a:srgbClr val="CADCFC"/>
                </a:solidFill>
                <a:latin typeface="Arial" pitchFamily="34" charset="0"/>
                <a:ea typeface="Arial" pitchFamily="34" charset="-122"/>
                <a:cs typeface="Arial" pitchFamily="34" charset="-120"/>
              </a:rPr>
              <a:t>06</a:t>
            </a:r>
            <a:endParaRPr lang="en-US" sz="1100" dirty="0"/>
          </a:p>
        </p:txBody>
      </p:sp>
      <p:sp>
        <p:nvSpPr>
          <p:cNvPr id="32" name="Text 30"/>
          <p:cNvSpPr txBox="1"/>
          <p:nvPr/>
        </p:nvSpPr>
        <p:spPr>
          <a:xfrm>
            <a:off x="7706678" y="1755648"/>
            <a:ext cx="989038" cy="274320"/>
          </a:xfrm>
          <a:prstGeom prst="rect">
            <a:avLst/>
          </a:prstGeom>
          <a:noFill/>
          <a:ln/>
        </p:spPr>
        <p:txBody>
          <a:bodyPr wrap="square" lIns="0" tIns="0" rIns="0" bIns="0" rtlCol="0" anchor="t"/>
          <a:lstStyle/>
          <a:p>
            <a:pPr algn="l" indent="0" marL="0">
              <a:buNone/>
            </a:pPr>
            <a:r>
              <a:rPr lang="en-US" sz="1350" b="1" dirty="0">
                <a:solidFill>
                  <a:srgbClr val="FFFFFF"/>
                </a:solidFill>
                <a:latin typeface="Arial" pitchFamily="34" charset="0"/>
                <a:ea typeface="Arial" pitchFamily="34" charset="-122"/>
                <a:cs typeface="Arial" pitchFamily="34" charset="-120"/>
              </a:rPr>
              <a:t>ACT</a:t>
            </a:r>
            <a:endParaRPr lang="en-US" sz="1350" dirty="0"/>
          </a:p>
        </p:txBody>
      </p:sp>
      <p:sp>
        <p:nvSpPr>
          <p:cNvPr id="33" name="Text 31"/>
          <p:cNvSpPr txBox="1"/>
          <p:nvPr/>
        </p:nvSpPr>
        <p:spPr>
          <a:xfrm>
            <a:off x="7706678" y="2066544"/>
            <a:ext cx="989038" cy="457200"/>
          </a:xfrm>
          <a:prstGeom prst="rect">
            <a:avLst/>
          </a:prstGeom>
          <a:noFill/>
          <a:ln/>
        </p:spPr>
        <p:txBody>
          <a:bodyPr wrap="square" lIns="0" tIns="0" rIns="0" bIns="0" rtlCol="0" anchor="t"/>
          <a:lstStyle/>
          <a:p>
            <a:pPr algn="l" indent="0" marL="0">
              <a:buNone/>
            </a:pPr>
            <a:r>
              <a:rPr lang="en-US" sz="1100" dirty="0">
                <a:solidFill>
                  <a:srgbClr val="EAF1F8"/>
                </a:solidFill>
                <a:latin typeface="Arial" pitchFamily="34" charset="0"/>
                <a:ea typeface="Arial" pitchFamily="34" charset="-122"/>
                <a:cs typeface="Arial" pitchFamily="34" charset="-120"/>
              </a:rPr>
              <a:t>Simulated execution</a:t>
            </a:r>
            <a:endParaRPr lang="en-US" sz="1100" dirty="0"/>
          </a:p>
        </p:txBody>
      </p:sp>
      <p:sp>
        <p:nvSpPr>
          <p:cNvPr id="34" name="Shape 32"/>
          <p:cNvSpPr/>
          <p:nvPr/>
        </p:nvSpPr>
        <p:spPr>
          <a:xfrm>
            <a:off x="8787155" y="1965960"/>
            <a:ext cx="182880" cy="0"/>
          </a:xfrm>
          <a:prstGeom prst="line">
            <a:avLst/>
          </a:prstGeom>
          <a:noFill/>
          <a:ln w="15875">
            <a:solidFill>
              <a:srgbClr val="667085"/>
            </a:solidFill>
            <a:prstDash val="solid"/>
            <a:tailEnd type="triangle"/>
          </a:ln>
        </p:spPr>
      </p:sp>
      <p:sp>
        <p:nvSpPr>
          <p:cNvPr id="35" name="Shape 33"/>
          <p:cNvSpPr/>
          <p:nvPr/>
        </p:nvSpPr>
        <p:spPr>
          <a:xfrm>
            <a:off x="8988323" y="1371600"/>
            <a:ext cx="1171918" cy="1188720"/>
          </a:xfrm>
          <a:prstGeom prst="rect">
            <a:avLst/>
          </a:prstGeom>
          <a:solidFill>
            <a:srgbClr val="12395A"/>
          </a:solidFill>
          <a:ln/>
        </p:spPr>
      </p:sp>
      <p:sp>
        <p:nvSpPr>
          <p:cNvPr id="36" name="Text 34"/>
          <p:cNvSpPr txBox="1"/>
          <p:nvPr/>
        </p:nvSpPr>
        <p:spPr>
          <a:xfrm>
            <a:off x="9098051" y="1481328"/>
            <a:ext cx="548640" cy="201168"/>
          </a:xfrm>
          <a:prstGeom prst="rect">
            <a:avLst/>
          </a:prstGeom>
          <a:noFill/>
          <a:ln/>
        </p:spPr>
        <p:txBody>
          <a:bodyPr wrap="square" lIns="0" tIns="0" rIns="0" bIns="0" rtlCol="0" anchor="t"/>
          <a:lstStyle/>
          <a:p>
            <a:pPr algn="l" indent="0" marL="0">
              <a:buNone/>
            </a:pPr>
            <a:r>
              <a:rPr lang="en-US" sz="1100" b="1" dirty="0">
                <a:solidFill>
                  <a:srgbClr val="CADCFC"/>
                </a:solidFill>
                <a:latin typeface="Arial" pitchFamily="34" charset="0"/>
                <a:ea typeface="Arial" pitchFamily="34" charset="-122"/>
                <a:cs typeface="Arial" pitchFamily="34" charset="-120"/>
              </a:rPr>
              <a:t>07</a:t>
            </a:r>
            <a:endParaRPr lang="en-US" sz="1100" dirty="0"/>
          </a:p>
        </p:txBody>
      </p:sp>
      <p:sp>
        <p:nvSpPr>
          <p:cNvPr id="37" name="Text 35"/>
          <p:cNvSpPr txBox="1"/>
          <p:nvPr/>
        </p:nvSpPr>
        <p:spPr>
          <a:xfrm>
            <a:off x="9098051" y="1755648"/>
            <a:ext cx="989038" cy="274320"/>
          </a:xfrm>
          <a:prstGeom prst="rect">
            <a:avLst/>
          </a:prstGeom>
          <a:noFill/>
          <a:ln/>
        </p:spPr>
        <p:txBody>
          <a:bodyPr wrap="square" lIns="0" tIns="0" rIns="0" bIns="0" rtlCol="0" anchor="t"/>
          <a:lstStyle/>
          <a:p>
            <a:pPr algn="l" indent="0" marL="0">
              <a:buNone/>
            </a:pPr>
            <a:r>
              <a:rPr lang="en-US" sz="1350" b="1" dirty="0">
                <a:solidFill>
                  <a:srgbClr val="FFFFFF"/>
                </a:solidFill>
                <a:latin typeface="Arial" pitchFamily="34" charset="0"/>
                <a:ea typeface="Arial" pitchFamily="34" charset="-122"/>
                <a:cs typeface="Arial" pitchFamily="34" charset="-120"/>
              </a:rPr>
              <a:t>VERIFY</a:t>
            </a:r>
            <a:endParaRPr lang="en-US" sz="1350" dirty="0"/>
          </a:p>
        </p:txBody>
      </p:sp>
      <p:sp>
        <p:nvSpPr>
          <p:cNvPr id="38" name="Text 36"/>
          <p:cNvSpPr txBox="1"/>
          <p:nvPr/>
        </p:nvSpPr>
        <p:spPr>
          <a:xfrm>
            <a:off x="9098051" y="2066544"/>
            <a:ext cx="989038" cy="457200"/>
          </a:xfrm>
          <a:prstGeom prst="rect">
            <a:avLst/>
          </a:prstGeom>
          <a:noFill/>
          <a:ln/>
        </p:spPr>
        <p:txBody>
          <a:bodyPr wrap="square" lIns="0" tIns="0" rIns="0" bIns="0" rtlCol="0" anchor="t"/>
          <a:lstStyle/>
          <a:p>
            <a:pPr algn="l" indent="0" marL="0">
              <a:buNone/>
            </a:pPr>
            <a:r>
              <a:rPr lang="en-US" sz="1100" dirty="0">
                <a:solidFill>
                  <a:srgbClr val="EAF1F8"/>
                </a:solidFill>
                <a:latin typeface="Arial" pitchFamily="34" charset="0"/>
                <a:ea typeface="Arial" pitchFamily="34" charset="-122"/>
                <a:cs typeface="Arial" pitchFamily="34" charset="-120"/>
              </a:rPr>
              <a:t>Check result</a:t>
            </a:r>
            <a:endParaRPr lang="en-US" sz="1100" dirty="0"/>
          </a:p>
        </p:txBody>
      </p:sp>
      <p:sp>
        <p:nvSpPr>
          <p:cNvPr id="39" name="Shape 37"/>
          <p:cNvSpPr/>
          <p:nvPr/>
        </p:nvSpPr>
        <p:spPr>
          <a:xfrm>
            <a:off x="10178529" y="1965960"/>
            <a:ext cx="182880" cy="0"/>
          </a:xfrm>
          <a:prstGeom prst="line">
            <a:avLst/>
          </a:prstGeom>
          <a:noFill/>
          <a:ln w="15875">
            <a:solidFill>
              <a:srgbClr val="667085"/>
            </a:solidFill>
            <a:prstDash val="solid"/>
            <a:tailEnd type="triangle"/>
          </a:ln>
        </p:spPr>
      </p:sp>
      <p:sp>
        <p:nvSpPr>
          <p:cNvPr id="40" name="Shape 38"/>
          <p:cNvSpPr/>
          <p:nvPr/>
        </p:nvSpPr>
        <p:spPr>
          <a:xfrm>
            <a:off x="10379697" y="1371600"/>
            <a:ext cx="1171918" cy="1188720"/>
          </a:xfrm>
          <a:prstGeom prst="rect">
            <a:avLst/>
          </a:prstGeom>
          <a:solidFill>
            <a:srgbClr val="1769AA"/>
          </a:solidFill>
          <a:ln/>
        </p:spPr>
      </p:sp>
      <p:sp>
        <p:nvSpPr>
          <p:cNvPr id="41" name="Text 39"/>
          <p:cNvSpPr txBox="1"/>
          <p:nvPr/>
        </p:nvSpPr>
        <p:spPr>
          <a:xfrm>
            <a:off x="10489425" y="1481328"/>
            <a:ext cx="548640" cy="201168"/>
          </a:xfrm>
          <a:prstGeom prst="rect">
            <a:avLst/>
          </a:prstGeom>
          <a:noFill/>
          <a:ln/>
        </p:spPr>
        <p:txBody>
          <a:bodyPr wrap="square" lIns="0" tIns="0" rIns="0" bIns="0" rtlCol="0" anchor="t"/>
          <a:lstStyle/>
          <a:p>
            <a:pPr algn="l" indent="0" marL="0">
              <a:buNone/>
            </a:pPr>
            <a:r>
              <a:rPr lang="en-US" sz="1100" b="1" dirty="0">
                <a:solidFill>
                  <a:srgbClr val="CADCFC"/>
                </a:solidFill>
                <a:latin typeface="Arial" pitchFamily="34" charset="0"/>
                <a:ea typeface="Arial" pitchFamily="34" charset="-122"/>
                <a:cs typeface="Arial" pitchFamily="34" charset="-120"/>
              </a:rPr>
              <a:t>08</a:t>
            </a:r>
            <a:endParaRPr lang="en-US" sz="1100" dirty="0"/>
          </a:p>
        </p:txBody>
      </p:sp>
      <p:sp>
        <p:nvSpPr>
          <p:cNvPr id="42" name="Text 40"/>
          <p:cNvSpPr txBox="1"/>
          <p:nvPr/>
        </p:nvSpPr>
        <p:spPr>
          <a:xfrm>
            <a:off x="10489425" y="1755648"/>
            <a:ext cx="989038" cy="274320"/>
          </a:xfrm>
          <a:prstGeom prst="rect">
            <a:avLst/>
          </a:prstGeom>
          <a:noFill/>
          <a:ln/>
        </p:spPr>
        <p:txBody>
          <a:bodyPr wrap="square" lIns="0" tIns="0" rIns="0" bIns="0" rtlCol="0" anchor="t"/>
          <a:lstStyle/>
          <a:p>
            <a:pPr algn="l" indent="0" marL="0">
              <a:buNone/>
            </a:pPr>
            <a:r>
              <a:rPr lang="en-US" sz="1350" b="1" dirty="0">
                <a:solidFill>
                  <a:srgbClr val="FFFFFF"/>
                </a:solidFill>
                <a:latin typeface="Arial" pitchFamily="34" charset="0"/>
                <a:ea typeface="Arial" pitchFamily="34" charset="-122"/>
                <a:cs typeface="Arial" pitchFamily="34" charset="-120"/>
              </a:rPr>
              <a:t>REPLAN</a:t>
            </a:r>
            <a:endParaRPr lang="en-US" sz="1350" dirty="0"/>
          </a:p>
        </p:txBody>
      </p:sp>
      <p:sp>
        <p:nvSpPr>
          <p:cNvPr id="43" name="Text 41"/>
          <p:cNvSpPr txBox="1"/>
          <p:nvPr/>
        </p:nvSpPr>
        <p:spPr>
          <a:xfrm>
            <a:off x="10489425" y="2066544"/>
            <a:ext cx="989038" cy="457200"/>
          </a:xfrm>
          <a:prstGeom prst="rect">
            <a:avLst/>
          </a:prstGeom>
          <a:noFill/>
          <a:ln/>
        </p:spPr>
        <p:txBody>
          <a:bodyPr wrap="square" lIns="0" tIns="0" rIns="0" bIns="0" rtlCol="0" anchor="t"/>
          <a:lstStyle/>
          <a:p>
            <a:pPr algn="l" indent="0" marL="0">
              <a:buNone/>
            </a:pPr>
            <a:r>
              <a:rPr lang="en-US" sz="1100" dirty="0">
                <a:solidFill>
                  <a:srgbClr val="EAF1F8"/>
                </a:solidFill>
                <a:latin typeface="Arial" pitchFamily="34" charset="0"/>
                <a:ea typeface="Arial" pitchFamily="34" charset="-122"/>
                <a:cs typeface="Arial" pitchFamily="34" charset="-120"/>
              </a:rPr>
              <a:t>Adapt to change</a:t>
            </a:r>
            <a:endParaRPr lang="en-US" sz="1100" dirty="0"/>
          </a:p>
        </p:txBody>
      </p:sp>
      <p:sp>
        <p:nvSpPr>
          <p:cNvPr id="44" name="Shape 42"/>
          <p:cNvSpPr/>
          <p:nvPr/>
        </p:nvSpPr>
        <p:spPr>
          <a:xfrm>
            <a:off x="10965656" y="2560320"/>
            <a:ext cx="0" cy="274320"/>
          </a:xfrm>
          <a:prstGeom prst="line">
            <a:avLst/>
          </a:prstGeom>
          <a:noFill/>
          <a:ln w="15875">
            <a:solidFill>
              <a:srgbClr val="1769AA"/>
            </a:solidFill>
            <a:prstDash val="dash"/>
          </a:ln>
        </p:spPr>
      </p:sp>
      <p:sp>
        <p:nvSpPr>
          <p:cNvPr id="45" name="Shape 43"/>
          <p:cNvSpPr/>
          <p:nvPr/>
        </p:nvSpPr>
        <p:spPr>
          <a:xfrm>
            <a:off x="1226039" y="2834640"/>
            <a:ext cx="9739617" cy="0"/>
          </a:xfrm>
          <a:prstGeom prst="line">
            <a:avLst/>
          </a:prstGeom>
          <a:noFill/>
          <a:ln w="15875">
            <a:solidFill>
              <a:srgbClr val="1769AA"/>
            </a:solidFill>
            <a:prstDash val="dash"/>
          </a:ln>
        </p:spPr>
      </p:sp>
      <p:sp>
        <p:nvSpPr>
          <p:cNvPr id="46" name="Shape 44"/>
          <p:cNvSpPr/>
          <p:nvPr/>
        </p:nvSpPr>
        <p:spPr>
          <a:xfrm>
            <a:off x="1226039" y="2560320"/>
            <a:ext cx="0" cy="274320"/>
          </a:xfrm>
          <a:prstGeom prst="line">
            <a:avLst/>
          </a:prstGeom>
          <a:noFill/>
          <a:ln w="15875">
            <a:solidFill>
              <a:srgbClr val="1769AA"/>
            </a:solidFill>
            <a:prstDash val="dash"/>
            <a:headEnd type="triangle"/>
          </a:ln>
        </p:spPr>
      </p:sp>
      <p:sp>
        <p:nvSpPr>
          <p:cNvPr id="47" name="Text 45"/>
          <p:cNvSpPr txBox="1"/>
          <p:nvPr/>
        </p:nvSpPr>
        <p:spPr>
          <a:xfrm>
            <a:off x="4084168" y="2706624"/>
            <a:ext cx="4023360" cy="256032"/>
          </a:xfrm>
          <a:prstGeom prst="rect">
            <a:avLst/>
          </a:prstGeom>
          <a:solidFill>
            <a:srgbClr val="F5F7FA"/>
          </a:solidFill>
          <a:ln/>
        </p:spPr>
        <p:txBody>
          <a:bodyPr wrap="square" lIns="762" tIns="762" rIns="762" bIns="762" rtlCol="0" anchor="ctr"/>
          <a:lstStyle/>
          <a:p>
            <a:pPr algn="ctr" indent="0" marL="0">
              <a:buNone/>
            </a:pPr>
            <a:r>
              <a:rPr lang="en-US" sz="1100" dirty="0">
                <a:solidFill>
                  <a:srgbClr val="1769AA"/>
                </a:solidFill>
                <a:latin typeface="Arial" pitchFamily="34" charset="0"/>
                <a:ea typeface="Arial" pitchFamily="34" charset="-122"/>
                <a:cs typeface="Arial" pitchFamily="34" charset="-120"/>
              </a:rPr>
              <a:t>Loop repeats as financial conditions change</a:t>
            </a:r>
            <a:endParaRPr lang="en-US" sz="1100" dirty="0"/>
          </a:p>
        </p:txBody>
      </p:sp>
      <p:sp>
        <p:nvSpPr>
          <p:cNvPr id="48" name="Shape 46"/>
          <p:cNvSpPr/>
          <p:nvPr/>
        </p:nvSpPr>
        <p:spPr>
          <a:xfrm>
            <a:off x="640080" y="3291840"/>
            <a:ext cx="3749040" cy="2926080"/>
          </a:xfrm>
          <a:prstGeom prst="rect">
            <a:avLst/>
          </a:prstGeom>
          <a:solidFill>
            <a:srgbClr val="FFFFFF"/>
          </a:solidFill>
          <a:ln w="9525">
            <a:solidFill>
              <a:srgbClr val="D9E1EA"/>
            </a:solidFill>
            <a:prstDash val="solid"/>
          </a:ln>
        </p:spPr>
      </p:sp>
      <p:sp>
        <p:nvSpPr>
          <p:cNvPr id="49" name="Text 47"/>
          <p:cNvSpPr txBox="1"/>
          <p:nvPr/>
        </p:nvSpPr>
        <p:spPr>
          <a:xfrm>
            <a:off x="868680" y="3474720"/>
            <a:ext cx="2743200" cy="201168"/>
          </a:xfrm>
          <a:prstGeom prst="rect">
            <a:avLst/>
          </a:prstGeom>
          <a:noFill/>
          <a:ln/>
        </p:spPr>
        <p:txBody>
          <a:bodyPr wrap="square" lIns="0" tIns="0" rIns="0" bIns="0" rtlCol="0" anchor="t"/>
          <a:lstStyle/>
          <a:p>
            <a:pPr algn="l" indent="0" marL="0">
              <a:buNone/>
            </a:pPr>
            <a:r>
              <a:rPr lang="en-US" sz="1100" b="1" spc="200" kern="0" dirty="0">
                <a:solidFill>
                  <a:srgbClr val="1769AA"/>
                </a:solidFill>
                <a:latin typeface="Arial" pitchFamily="34" charset="0"/>
                <a:ea typeface="Arial" pitchFamily="34" charset="-122"/>
                <a:cs typeface="Arial" pitchFamily="34" charset="-120"/>
              </a:rPr>
              <a:t>SCENARIO INPUTS</a:t>
            </a:r>
            <a:endParaRPr lang="en-US" sz="1100" dirty="0"/>
          </a:p>
        </p:txBody>
      </p:sp>
      <p:sp>
        <p:nvSpPr>
          <p:cNvPr id="50" name="Shape 48"/>
          <p:cNvSpPr/>
          <p:nvPr/>
        </p:nvSpPr>
        <p:spPr>
          <a:xfrm>
            <a:off x="868680" y="3794760"/>
            <a:ext cx="1577340" cy="804672"/>
          </a:xfrm>
          <a:prstGeom prst="rect">
            <a:avLst/>
          </a:prstGeom>
          <a:solidFill>
            <a:srgbClr val="F5F7FA"/>
          </a:solidFill>
          <a:ln w="9525">
            <a:solidFill>
              <a:srgbClr val="D9E1EA"/>
            </a:solidFill>
            <a:prstDash val="solid"/>
          </a:ln>
        </p:spPr>
      </p:sp>
      <p:sp>
        <p:nvSpPr>
          <p:cNvPr id="51" name="Text 49"/>
          <p:cNvSpPr txBox="1"/>
          <p:nvPr/>
        </p:nvSpPr>
        <p:spPr>
          <a:xfrm>
            <a:off x="996696" y="3867912"/>
            <a:ext cx="1394460" cy="329184"/>
          </a:xfrm>
          <a:prstGeom prst="rect">
            <a:avLst/>
          </a:prstGeom>
          <a:noFill/>
          <a:ln/>
        </p:spPr>
        <p:txBody>
          <a:bodyPr wrap="square" lIns="0" tIns="0" rIns="0" bIns="0" rtlCol="0" anchor="t"/>
          <a:lstStyle/>
          <a:p>
            <a:pPr algn="l" indent="0" marL="0">
              <a:buNone/>
            </a:pPr>
            <a:r>
              <a:rPr lang="en-US" sz="2000" b="1" dirty="0">
                <a:solidFill>
                  <a:srgbClr val="0B1F33"/>
                </a:solidFill>
                <a:latin typeface="Arial" pitchFamily="34" charset="0"/>
                <a:ea typeface="Arial" pitchFamily="34" charset="-122"/>
                <a:cs typeface="Arial" pitchFamily="34" charset="-120"/>
              </a:rPr>
              <a:t>₹86.7 Cr</a:t>
            </a:r>
            <a:endParaRPr lang="en-US" sz="2000" dirty="0"/>
          </a:p>
        </p:txBody>
      </p:sp>
      <p:sp>
        <p:nvSpPr>
          <p:cNvPr id="52" name="Text 50"/>
          <p:cNvSpPr txBox="1"/>
          <p:nvPr/>
        </p:nvSpPr>
        <p:spPr>
          <a:xfrm>
            <a:off x="996696" y="4215384"/>
            <a:ext cx="1394460" cy="329184"/>
          </a:xfrm>
          <a:prstGeom prst="rect">
            <a:avLst/>
          </a:prstGeom>
          <a:noFill/>
          <a:ln/>
        </p:spPr>
        <p:txBody>
          <a:bodyPr wrap="square" lIns="0" tIns="0" rIns="0" bIns="0" rtlCol="0" anchor="t"/>
          <a:lstStyle/>
          <a:p>
            <a:pPr algn="l" indent="0" marL="0">
              <a:buNone/>
            </a:pPr>
            <a:r>
              <a:rPr lang="en-US" sz="1050" dirty="0">
                <a:solidFill>
                  <a:srgbClr val="667085"/>
                </a:solidFill>
                <a:latin typeface="Arial" pitchFamily="34" charset="0"/>
                <a:ea typeface="Arial" pitchFamily="34" charset="-122"/>
                <a:cs typeface="Arial" pitchFamily="34" charset="-120"/>
              </a:rPr>
              <a:t>Available Cash</a:t>
            </a:r>
            <a:endParaRPr lang="en-US" sz="1050" dirty="0"/>
          </a:p>
        </p:txBody>
      </p:sp>
      <p:sp>
        <p:nvSpPr>
          <p:cNvPr id="53" name="Shape 51"/>
          <p:cNvSpPr/>
          <p:nvPr/>
        </p:nvSpPr>
        <p:spPr>
          <a:xfrm>
            <a:off x="2583180" y="3794760"/>
            <a:ext cx="1577340" cy="804672"/>
          </a:xfrm>
          <a:prstGeom prst="rect">
            <a:avLst/>
          </a:prstGeom>
          <a:solidFill>
            <a:srgbClr val="F5F7FA"/>
          </a:solidFill>
          <a:ln w="9525">
            <a:solidFill>
              <a:srgbClr val="D9E1EA"/>
            </a:solidFill>
            <a:prstDash val="solid"/>
          </a:ln>
        </p:spPr>
      </p:sp>
      <p:sp>
        <p:nvSpPr>
          <p:cNvPr id="54" name="Text 52"/>
          <p:cNvSpPr txBox="1"/>
          <p:nvPr/>
        </p:nvSpPr>
        <p:spPr>
          <a:xfrm>
            <a:off x="2711196" y="3867912"/>
            <a:ext cx="1394460" cy="329184"/>
          </a:xfrm>
          <a:prstGeom prst="rect">
            <a:avLst/>
          </a:prstGeom>
          <a:noFill/>
          <a:ln/>
        </p:spPr>
        <p:txBody>
          <a:bodyPr wrap="square" lIns="0" tIns="0" rIns="0" bIns="0" rtlCol="0" anchor="t"/>
          <a:lstStyle/>
          <a:p>
            <a:pPr algn="l" indent="0" marL="0">
              <a:buNone/>
            </a:pPr>
            <a:r>
              <a:rPr lang="en-US" sz="2000" b="1" dirty="0">
                <a:solidFill>
                  <a:srgbClr val="0B1F33"/>
                </a:solidFill>
                <a:latin typeface="Arial" pitchFamily="34" charset="0"/>
                <a:ea typeface="Arial" pitchFamily="34" charset="-122"/>
                <a:cs typeface="Arial" pitchFamily="34" charset="-120"/>
              </a:rPr>
              <a:t>₹50 Cr</a:t>
            </a:r>
            <a:endParaRPr lang="en-US" sz="2000" dirty="0"/>
          </a:p>
        </p:txBody>
      </p:sp>
      <p:sp>
        <p:nvSpPr>
          <p:cNvPr id="55" name="Text 53"/>
          <p:cNvSpPr txBox="1"/>
          <p:nvPr/>
        </p:nvSpPr>
        <p:spPr>
          <a:xfrm>
            <a:off x="2711196" y="4215384"/>
            <a:ext cx="1394460" cy="329184"/>
          </a:xfrm>
          <a:prstGeom prst="rect">
            <a:avLst/>
          </a:prstGeom>
          <a:noFill/>
          <a:ln/>
        </p:spPr>
        <p:txBody>
          <a:bodyPr wrap="square" lIns="0" tIns="0" rIns="0" bIns="0" rtlCol="0" anchor="t"/>
          <a:lstStyle/>
          <a:p>
            <a:pPr algn="l" indent="0" marL="0">
              <a:buNone/>
            </a:pPr>
            <a:r>
              <a:rPr lang="en-US" sz="1050" dirty="0">
                <a:solidFill>
                  <a:srgbClr val="667085"/>
                </a:solidFill>
                <a:latin typeface="Arial" pitchFamily="34" charset="0"/>
                <a:ea typeface="Arial" pitchFamily="34" charset="-122"/>
                <a:cs typeface="Arial" pitchFamily="34" charset="-120"/>
              </a:rPr>
              <a:t>Minimum Reserve</a:t>
            </a:r>
            <a:endParaRPr lang="en-US" sz="1050" dirty="0"/>
          </a:p>
        </p:txBody>
      </p:sp>
      <p:sp>
        <p:nvSpPr>
          <p:cNvPr id="56" name="Shape 54"/>
          <p:cNvSpPr/>
          <p:nvPr/>
        </p:nvSpPr>
        <p:spPr>
          <a:xfrm>
            <a:off x="868680" y="4690872"/>
            <a:ext cx="1577340" cy="804672"/>
          </a:xfrm>
          <a:prstGeom prst="rect">
            <a:avLst/>
          </a:prstGeom>
          <a:solidFill>
            <a:srgbClr val="F5F7FA"/>
          </a:solidFill>
          <a:ln w="9525">
            <a:solidFill>
              <a:srgbClr val="D9E1EA"/>
            </a:solidFill>
            <a:prstDash val="solid"/>
          </a:ln>
        </p:spPr>
      </p:sp>
      <p:sp>
        <p:nvSpPr>
          <p:cNvPr id="57" name="Text 55"/>
          <p:cNvSpPr txBox="1"/>
          <p:nvPr/>
        </p:nvSpPr>
        <p:spPr>
          <a:xfrm>
            <a:off x="996696" y="4764024"/>
            <a:ext cx="1394460" cy="329184"/>
          </a:xfrm>
          <a:prstGeom prst="rect">
            <a:avLst/>
          </a:prstGeom>
          <a:noFill/>
          <a:ln/>
        </p:spPr>
        <p:txBody>
          <a:bodyPr wrap="square" lIns="0" tIns="0" rIns="0" bIns="0" rtlCol="0" anchor="t"/>
          <a:lstStyle/>
          <a:p>
            <a:pPr algn="l" indent="0" marL="0">
              <a:buNone/>
            </a:pPr>
            <a:r>
              <a:rPr lang="en-US" sz="2000" b="1" dirty="0">
                <a:solidFill>
                  <a:srgbClr val="0B1F33"/>
                </a:solidFill>
                <a:latin typeface="Arial" pitchFamily="34" charset="0"/>
                <a:ea typeface="Arial" pitchFamily="34" charset="-122"/>
                <a:cs typeface="Arial" pitchFamily="34" charset="-120"/>
              </a:rPr>
              <a:t>₹22 Cr</a:t>
            </a:r>
            <a:endParaRPr lang="en-US" sz="2000" dirty="0"/>
          </a:p>
        </p:txBody>
      </p:sp>
      <p:sp>
        <p:nvSpPr>
          <p:cNvPr id="58" name="Text 56"/>
          <p:cNvSpPr txBox="1"/>
          <p:nvPr/>
        </p:nvSpPr>
        <p:spPr>
          <a:xfrm>
            <a:off x="996696" y="5111496"/>
            <a:ext cx="1394460" cy="329184"/>
          </a:xfrm>
          <a:prstGeom prst="rect">
            <a:avLst/>
          </a:prstGeom>
          <a:noFill/>
          <a:ln/>
        </p:spPr>
        <p:txBody>
          <a:bodyPr wrap="square" lIns="0" tIns="0" rIns="0" bIns="0" rtlCol="0" anchor="t"/>
          <a:lstStyle/>
          <a:p>
            <a:pPr algn="l" indent="0" marL="0">
              <a:buNone/>
            </a:pPr>
            <a:r>
              <a:rPr lang="en-US" sz="1050" dirty="0">
                <a:solidFill>
                  <a:srgbClr val="667085"/>
                </a:solidFill>
                <a:latin typeface="Arial" pitchFamily="34" charset="0"/>
                <a:ea typeface="Arial" pitchFamily="34" charset="-122"/>
                <a:cs typeface="Arial" pitchFamily="34" charset="-120"/>
              </a:rPr>
              <a:t>Upcoming Critical Payments</a:t>
            </a:r>
            <a:endParaRPr lang="en-US" sz="1050" dirty="0"/>
          </a:p>
        </p:txBody>
      </p:sp>
      <p:sp>
        <p:nvSpPr>
          <p:cNvPr id="59" name="Shape 57"/>
          <p:cNvSpPr/>
          <p:nvPr/>
        </p:nvSpPr>
        <p:spPr>
          <a:xfrm>
            <a:off x="2583180" y="4690872"/>
            <a:ext cx="1577340" cy="804672"/>
          </a:xfrm>
          <a:prstGeom prst="rect">
            <a:avLst/>
          </a:prstGeom>
          <a:solidFill>
            <a:srgbClr val="F5F7FA"/>
          </a:solidFill>
          <a:ln w="9525">
            <a:solidFill>
              <a:srgbClr val="D9E1EA"/>
            </a:solidFill>
            <a:prstDash val="solid"/>
          </a:ln>
        </p:spPr>
      </p:sp>
      <p:sp>
        <p:nvSpPr>
          <p:cNvPr id="60" name="Text 58"/>
          <p:cNvSpPr txBox="1"/>
          <p:nvPr/>
        </p:nvSpPr>
        <p:spPr>
          <a:xfrm>
            <a:off x="2711196" y="4764024"/>
            <a:ext cx="1394460" cy="329184"/>
          </a:xfrm>
          <a:prstGeom prst="rect">
            <a:avLst/>
          </a:prstGeom>
          <a:noFill/>
          <a:ln/>
        </p:spPr>
        <p:txBody>
          <a:bodyPr wrap="square" lIns="0" tIns="0" rIns="0" bIns="0" rtlCol="0" anchor="t"/>
          <a:lstStyle/>
          <a:p>
            <a:pPr algn="l" indent="0" marL="0">
              <a:buNone/>
            </a:pPr>
            <a:r>
              <a:rPr lang="en-US" sz="2000" b="1" dirty="0">
                <a:solidFill>
                  <a:srgbClr val="0B1F33"/>
                </a:solidFill>
                <a:latin typeface="Arial" pitchFamily="34" charset="0"/>
                <a:ea typeface="Arial" pitchFamily="34" charset="-122"/>
                <a:cs typeface="Arial" pitchFamily="34" charset="-120"/>
              </a:rPr>
              <a:t>72%</a:t>
            </a:r>
            <a:endParaRPr lang="en-US" sz="2000" dirty="0"/>
          </a:p>
        </p:txBody>
      </p:sp>
      <p:sp>
        <p:nvSpPr>
          <p:cNvPr id="61" name="Text 59"/>
          <p:cNvSpPr txBox="1"/>
          <p:nvPr/>
        </p:nvSpPr>
        <p:spPr>
          <a:xfrm>
            <a:off x="2711196" y="5111496"/>
            <a:ext cx="1394460" cy="329184"/>
          </a:xfrm>
          <a:prstGeom prst="rect">
            <a:avLst/>
          </a:prstGeom>
          <a:noFill/>
          <a:ln/>
        </p:spPr>
        <p:txBody>
          <a:bodyPr wrap="square" lIns="0" tIns="0" rIns="0" bIns="0" rtlCol="0" anchor="t"/>
          <a:lstStyle/>
          <a:p>
            <a:pPr algn="l" indent="0" marL="0">
              <a:buNone/>
            </a:pPr>
            <a:r>
              <a:rPr lang="en-US" sz="1050" dirty="0">
                <a:solidFill>
                  <a:srgbClr val="667085"/>
                </a:solidFill>
                <a:latin typeface="Arial" pitchFamily="34" charset="0"/>
                <a:ea typeface="Arial" pitchFamily="34" charset="-122"/>
                <a:cs typeface="Arial" pitchFamily="34" charset="-120"/>
              </a:rPr>
              <a:t>Budget Utilization</a:t>
            </a:r>
            <a:endParaRPr lang="en-US" sz="1050" dirty="0"/>
          </a:p>
        </p:txBody>
      </p:sp>
      <p:sp>
        <p:nvSpPr>
          <p:cNvPr id="62" name="Text 60"/>
          <p:cNvSpPr txBox="1"/>
          <p:nvPr/>
        </p:nvSpPr>
        <p:spPr>
          <a:xfrm>
            <a:off x="868680" y="5669280"/>
            <a:ext cx="3291840" cy="457200"/>
          </a:xfrm>
          <a:prstGeom prst="rect">
            <a:avLst/>
          </a:prstGeom>
          <a:noFill/>
          <a:ln/>
        </p:spPr>
        <p:txBody>
          <a:bodyPr wrap="square" lIns="0" tIns="0" rIns="0" bIns="0" rtlCol="0" anchor="t"/>
          <a:lstStyle/>
          <a:p>
            <a:pPr algn="l" indent="0" marL="0">
              <a:buNone/>
            </a:pPr>
            <a:r>
              <a:rPr lang="en-US" sz="1200" dirty="0">
                <a:solidFill>
                  <a:srgbClr val="344054"/>
                </a:solidFill>
                <a:latin typeface="Arial" pitchFamily="34" charset="0"/>
                <a:ea typeface="Arial" pitchFamily="34" charset="-122"/>
                <a:cs typeface="Arial" pitchFamily="34" charset="-120"/>
              </a:rPr>
              <a:t>The system identifies a potential liquidity constraint and evaluates possible actions.</a:t>
            </a:r>
            <a:endParaRPr lang="en-US" sz="1200" dirty="0"/>
          </a:p>
        </p:txBody>
      </p:sp>
      <p:sp>
        <p:nvSpPr>
          <p:cNvPr id="63" name="Shape 61"/>
          <p:cNvSpPr/>
          <p:nvPr/>
        </p:nvSpPr>
        <p:spPr>
          <a:xfrm>
            <a:off x="4617720" y="3291840"/>
            <a:ext cx="3200400" cy="2926080"/>
          </a:xfrm>
          <a:prstGeom prst="rect">
            <a:avLst/>
          </a:prstGeom>
          <a:solidFill>
            <a:srgbClr val="FFFFFF"/>
          </a:solidFill>
          <a:ln w="9525">
            <a:solidFill>
              <a:srgbClr val="D9E1EA"/>
            </a:solidFill>
            <a:prstDash val="solid"/>
          </a:ln>
        </p:spPr>
      </p:sp>
      <p:sp>
        <p:nvSpPr>
          <p:cNvPr id="64" name="Text 62"/>
          <p:cNvSpPr txBox="1"/>
          <p:nvPr/>
        </p:nvSpPr>
        <p:spPr>
          <a:xfrm>
            <a:off x="4846320" y="3474720"/>
            <a:ext cx="2743200" cy="201168"/>
          </a:xfrm>
          <a:prstGeom prst="rect">
            <a:avLst/>
          </a:prstGeom>
          <a:noFill/>
          <a:ln/>
        </p:spPr>
        <p:txBody>
          <a:bodyPr wrap="square" lIns="0" tIns="0" rIns="0" bIns="0" rtlCol="0" anchor="t"/>
          <a:lstStyle/>
          <a:p>
            <a:pPr algn="l" indent="0" marL="0">
              <a:buNone/>
            </a:pPr>
            <a:r>
              <a:rPr lang="en-US" sz="1100" b="1" spc="200" kern="0" dirty="0">
                <a:solidFill>
                  <a:srgbClr val="1769AA"/>
                </a:solidFill>
                <a:latin typeface="Arial" pitchFamily="34" charset="0"/>
                <a:ea typeface="Arial" pitchFamily="34" charset="-122"/>
                <a:cs typeface="Arial" pitchFamily="34" charset="-120"/>
              </a:rPr>
              <a:t>PLAN MUST SATISFY</a:t>
            </a:r>
            <a:endParaRPr lang="en-US" sz="1100" dirty="0"/>
          </a:p>
        </p:txBody>
      </p:sp>
      <p:sp>
        <p:nvSpPr>
          <p:cNvPr id="65" name="Text 63"/>
          <p:cNvSpPr txBox="1"/>
          <p:nvPr/>
        </p:nvSpPr>
        <p:spPr>
          <a:xfrm>
            <a:off x="4846320" y="3931920"/>
            <a:ext cx="365760" cy="274320"/>
          </a:xfrm>
          <a:prstGeom prst="rect">
            <a:avLst/>
          </a:prstGeom>
          <a:noFill/>
          <a:ln/>
        </p:spPr>
        <p:txBody>
          <a:bodyPr wrap="square" lIns="0" tIns="0" rIns="0" bIns="0" rtlCol="0" anchor="t"/>
          <a:lstStyle/>
          <a:p>
            <a:pPr algn="l" indent="0" marL="0">
              <a:buNone/>
            </a:pPr>
            <a:r>
              <a:rPr lang="en-US" sz="1200" b="1" dirty="0">
                <a:solidFill>
                  <a:srgbClr val="1769AA"/>
                </a:solidFill>
                <a:latin typeface="Arial" pitchFamily="34" charset="0"/>
                <a:ea typeface="Arial" pitchFamily="34" charset="-122"/>
                <a:cs typeface="Arial" pitchFamily="34" charset="-120"/>
              </a:rPr>
              <a:t>01</a:t>
            </a:r>
            <a:endParaRPr lang="en-US" sz="1200" dirty="0"/>
          </a:p>
        </p:txBody>
      </p:sp>
      <p:sp>
        <p:nvSpPr>
          <p:cNvPr id="66" name="Text 64"/>
          <p:cNvSpPr txBox="1"/>
          <p:nvPr/>
        </p:nvSpPr>
        <p:spPr>
          <a:xfrm>
            <a:off x="5257800" y="3913632"/>
            <a:ext cx="2331720" cy="365760"/>
          </a:xfrm>
          <a:prstGeom prst="rect">
            <a:avLst/>
          </a:prstGeom>
          <a:noFill/>
          <a:ln/>
        </p:spPr>
        <p:txBody>
          <a:bodyPr wrap="square" lIns="0" tIns="0" rIns="0" bIns="0" rtlCol="0" anchor="ctr"/>
          <a:lstStyle/>
          <a:p>
            <a:pPr algn="l" indent="0" marL="0">
              <a:buNone/>
            </a:pPr>
            <a:r>
              <a:rPr lang="en-US" sz="1400" dirty="0">
                <a:solidFill>
                  <a:srgbClr val="0B1F33"/>
                </a:solidFill>
                <a:latin typeface="Arial" pitchFamily="34" charset="0"/>
                <a:ea typeface="Arial" pitchFamily="34" charset="-122"/>
                <a:cs typeface="Arial" pitchFamily="34" charset="-120"/>
              </a:rPr>
              <a:t>Cash Reserve ≥ ₹50 Cr</a:t>
            </a:r>
            <a:endParaRPr lang="en-US" sz="1400" dirty="0"/>
          </a:p>
        </p:txBody>
      </p:sp>
      <p:sp>
        <p:nvSpPr>
          <p:cNvPr id="67" name="Shape 65"/>
          <p:cNvSpPr/>
          <p:nvPr/>
        </p:nvSpPr>
        <p:spPr>
          <a:xfrm>
            <a:off x="4846320" y="4334256"/>
            <a:ext cx="2743200" cy="0"/>
          </a:xfrm>
          <a:prstGeom prst="line">
            <a:avLst/>
          </a:prstGeom>
          <a:noFill/>
          <a:ln w="9525">
            <a:solidFill>
              <a:srgbClr val="D9E1EA"/>
            </a:solidFill>
            <a:prstDash val="solid"/>
          </a:ln>
        </p:spPr>
      </p:sp>
      <p:sp>
        <p:nvSpPr>
          <p:cNvPr id="68" name="Text 66"/>
          <p:cNvSpPr txBox="1"/>
          <p:nvPr/>
        </p:nvSpPr>
        <p:spPr>
          <a:xfrm>
            <a:off x="4846320" y="4498848"/>
            <a:ext cx="365760" cy="274320"/>
          </a:xfrm>
          <a:prstGeom prst="rect">
            <a:avLst/>
          </a:prstGeom>
          <a:noFill/>
          <a:ln/>
        </p:spPr>
        <p:txBody>
          <a:bodyPr wrap="square" lIns="0" tIns="0" rIns="0" bIns="0" rtlCol="0" anchor="t"/>
          <a:lstStyle/>
          <a:p>
            <a:pPr algn="l" indent="0" marL="0">
              <a:buNone/>
            </a:pPr>
            <a:r>
              <a:rPr lang="en-US" sz="1200" b="1" dirty="0">
                <a:solidFill>
                  <a:srgbClr val="1769AA"/>
                </a:solidFill>
                <a:latin typeface="Arial" pitchFamily="34" charset="0"/>
                <a:ea typeface="Arial" pitchFamily="34" charset="-122"/>
                <a:cs typeface="Arial" pitchFamily="34" charset="-120"/>
              </a:rPr>
              <a:t>02</a:t>
            </a:r>
            <a:endParaRPr lang="en-US" sz="1200" dirty="0"/>
          </a:p>
        </p:txBody>
      </p:sp>
      <p:sp>
        <p:nvSpPr>
          <p:cNvPr id="69" name="Text 67"/>
          <p:cNvSpPr txBox="1"/>
          <p:nvPr/>
        </p:nvSpPr>
        <p:spPr>
          <a:xfrm>
            <a:off x="5257800" y="4480560"/>
            <a:ext cx="2331720" cy="365760"/>
          </a:xfrm>
          <a:prstGeom prst="rect">
            <a:avLst/>
          </a:prstGeom>
          <a:noFill/>
          <a:ln/>
        </p:spPr>
        <p:txBody>
          <a:bodyPr wrap="square" lIns="0" tIns="0" rIns="0" bIns="0" rtlCol="0" anchor="ctr"/>
          <a:lstStyle/>
          <a:p>
            <a:pPr algn="l" indent="0" marL="0">
              <a:buNone/>
            </a:pPr>
            <a:r>
              <a:rPr lang="en-US" sz="1400" dirty="0">
                <a:solidFill>
                  <a:srgbClr val="0B1F33"/>
                </a:solidFill>
                <a:latin typeface="Arial" pitchFamily="34" charset="0"/>
                <a:ea typeface="Arial" pitchFamily="34" charset="-122"/>
                <a:cs typeface="Arial" pitchFamily="34" charset="-120"/>
              </a:rPr>
              <a:t>Budget ≤ Approved Limit</a:t>
            </a:r>
            <a:endParaRPr lang="en-US" sz="1400" dirty="0"/>
          </a:p>
        </p:txBody>
      </p:sp>
      <p:sp>
        <p:nvSpPr>
          <p:cNvPr id="70" name="Shape 68"/>
          <p:cNvSpPr/>
          <p:nvPr/>
        </p:nvSpPr>
        <p:spPr>
          <a:xfrm>
            <a:off x="4846320" y="4901184"/>
            <a:ext cx="2743200" cy="0"/>
          </a:xfrm>
          <a:prstGeom prst="line">
            <a:avLst/>
          </a:prstGeom>
          <a:noFill/>
          <a:ln w="9525">
            <a:solidFill>
              <a:srgbClr val="D9E1EA"/>
            </a:solidFill>
            <a:prstDash val="solid"/>
          </a:ln>
        </p:spPr>
      </p:sp>
      <p:sp>
        <p:nvSpPr>
          <p:cNvPr id="71" name="Text 69"/>
          <p:cNvSpPr txBox="1"/>
          <p:nvPr/>
        </p:nvSpPr>
        <p:spPr>
          <a:xfrm>
            <a:off x="4846320" y="5065776"/>
            <a:ext cx="365760" cy="274320"/>
          </a:xfrm>
          <a:prstGeom prst="rect">
            <a:avLst/>
          </a:prstGeom>
          <a:noFill/>
          <a:ln/>
        </p:spPr>
        <p:txBody>
          <a:bodyPr wrap="square" lIns="0" tIns="0" rIns="0" bIns="0" rtlCol="0" anchor="t"/>
          <a:lstStyle/>
          <a:p>
            <a:pPr algn="l" indent="0" marL="0">
              <a:buNone/>
            </a:pPr>
            <a:r>
              <a:rPr lang="en-US" sz="1200" b="1" dirty="0">
                <a:solidFill>
                  <a:srgbClr val="1769AA"/>
                </a:solidFill>
                <a:latin typeface="Arial" pitchFamily="34" charset="0"/>
                <a:ea typeface="Arial" pitchFamily="34" charset="-122"/>
                <a:cs typeface="Arial" pitchFamily="34" charset="-120"/>
              </a:rPr>
              <a:t>03</a:t>
            </a:r>
            <a:endParaRPr lang="en-US" sz="1200" dirty="0"/>
          </a:p>
        </p:txBody>
      </p:sp>
      <p:sp>
        <p:nvSpPr>
          <p:cNvPr id="72" name="Text 70"/>
          <p:cNvSpPr txBox="1"/>
          <p:nvPr/>
        </p:nvSpPr>
        <p:spPr>
          <a:xfrm>
            <a:off x="5257800" y="5047488"/>
            <a:ext cx="2331720" cy="365760"/>
          </a:xfrm>
          <a:prstGeom prst="rect">
            <a:avLst/>
          </a:prstGeom>
          <a:noFill/>
          <a:ln/>
        </p:spPr>
        <p:txBody>
          <a:bodyPr wrap="square" lIns="0" tIns="0" rIns="0" bIns="0" rtlCol="0" anchor="ctr"/>
          <a:lstStyle/>
          <a:p>
            <a:pPr algn="l" indent="0" marL="0">
              <a:buNone/>
            </a:pPr>
            <a:r>
              <a:rPr lang="en-US" sz="1400" dirty="0">
                <a:solidFill>
                  <a:srgbClr val="0B1F33"/>
                </a:solidFill>
                <a:latin typeface="Arial" pitchFamily="34" charset="0"/>
                <a:ea typeface="Arial" pitchFamily="34" charset="-122"/>
                <a:cs typeface="Arial" pitchFamily="34" charset="-120"/>
              </a:rPr>
              <a:t>Critical Payments prioritized</a:t>
            </a:r>
            <a:endParaRPr lang="en-US" sz="1400" dirty="0"/>
          </a:p>
        </p:txBody>
      </p:sp>
      <p:sp>
        <p:nvSpPr>
          <p:cNvPr id="73" name="Shape 71"/>
          <p:cNvSpPr/>
          <p:nvPr/>
        </p:nvSpPr>
        <p:spPr>
          <a:xfrm>
            <a:off x="4846320" y="5468112"/>
            <a:ext cx="2743200" cy="0"/>
          </a:xfrm>
          <a:prstGeom prst="line">
            <a:avLst/>
          </a:prstGeom>
          <a:noFill/>
          <a:ln w="9525">
            <a:solidFill>
              <a:srgbClr val="D9E1EA"/>
            </a:solidFill>
            <a:prstDash val="solid"/>
          </a:ln>
        </p:spPr>
      </p:sp>
      <p:sp>
        <p:nvSpPr>
          <p:cNvPr id="74" name="Text 72"/>
          <p:cNvSpPr txBox="1"/>
          <p:nvPr/>
        </p:nvSpPr>
        <p:spPr>
          <a:xfrm>
            <a:off x="4846320" y="5632704"/>
            <a:ext cx="365760" cy="274320"/>
          </a:xfrm>
          <a:prstGeom prst="rect">
            <a:avLst/>
          </a:prstGeom>
          <a:noFill/>
          <a:ln/>
        </p:spPr>
        <p:txBody>
          <a:bodyPr wrap="square" lIns="0" tIns="0" rIns="0" bIns="0" rtlCol="0" anchor="t"/>
          <a:lstStyle/>
          <a:p>
            <a:pPr algn="l" indent="0" marL="0">
              <a:buNone/>
            </a:pPr>
            <a:r>
              <a:rPr lang="en-US" sz="1200" b="1" dirty="0">
                <a:solidFill>
                  <a:srgbClr val="1769AA"/>
                </a:solidFill>
                <a:latin typeface="Arial" pitchFamily="34" charset="0"/>
                <a:ea typeface="Arial" pitchFamily="34" charset="-122"/>
                <a:cs typeface="Arial" pitchFamily="34" charset="-120"/>
              </a:rPr>
              <a:t>04</a:t>
            </a:r>
            <a:endParaRPr lang="en-US" sz="1200" dirty="0"/>
          </a:p>
        </p:txBody>
      </p:sp>
      <p:sp>
        <p:nvSpPr>
          <p:cNvPr id="75" name="Text 73"/>
          <p:cNvSpPr txBox="1"/>
          <p:nvPr/>
        </p:nvSpPr>
        <p:spPr>
          <a:xfrm>
            <a:off x="5257800" y="5614416"/>
            <a:ext cx="2331720" cy="365760"/>
          </a:xfrm>
          <a:prstGeom prst="rect">
            <a:avLst/>
          </a:prstGeom>
          <a:noFill/>
          <a:ln/>
        </p:spPr>
        <p:txBody>
          <a:bodyPr wrap="square" lIns="0" tIns="0" rIns="0" bIns="0" rtlCol="0" anchor="ctr"/>
          <a:lstStyle/>
          <a:p>
            <a:pPr algn="l" indent="0" marL="0">
              <a:buNone/>
            </a:pPr>
            <a:r>
              <a:rPr lang="en-US" sz="1400" dirty="0">
                <a:solidFill>
                  <a:srgbClr val="0B1F33"/>
                </a:solidFill>
                <a:latin typeface="Arial" pitchFamily="34" charset="0"/>
                <a:ea typeface="Arial" pitchFamily="34" charset="-122"/>
                <a:cs typeface="Arial" pitchFamily="34" charset="-120"/>
              </a:rPr>
              <a:t>Authorization required</a:t>
            </a:r>
            <a:endParaRPr lang="en-US" sz="1400" dirty="0"/>
          </a:p>
        </p:txBody>
      </p:sp>
      <p:sp>
        <p:nvSpPr>
          <p:cNvPr id="76" name="Shape 74"/>
          <p:cNvSpPr/>
          <p:nvPr/>
        </p:nvSpPr>
        <p:spPr>
          <a:xfrm>
            <a:off x="8046720" y="3291840"/>
            <a:ext cx="3504895" cy="2926080"/>
          </a:xfrm>
          <a:prstGeom prst="rect">
            <a:avLst/>
          </a:prstGeom>
          <a:solidFill>
            <a:srgbClr val="FFFFFF"/>
          </a:solidFill>
          <a:ln w="9525">
            <a:solidFill>
              <a:srgbClr val="D9E1EA"/>
            </a:solidFill>
            <a:prstDash val="solid"/>
          </a:ln>
        </p:spPr>
      </p:sp>
      <p:sp>
        <p:nvSpPr>
          <p:cNvPr id="77" name="Text 75"/>
          <p:cNvSpPr txBox="1"/>
          <p:nvPr/>
        </p:nvSpPr>
        <p:spPr>
          <a:xfrm>
            <a:off x="8275320" y="3474720"/>
            <a:ext cx="2743200" cy="201168"/>
          </a:xfrm>
          <a:prstGeom prst="rect">
            <a:avLst/>
          </a:prstGeom>
          <a:noFill/>
          <a:ln/>
        </p:spPr>
        <p:txBody>
          <a:bodyPr wrap="square" lIns="0" tIns="0" rIns="0" bIns="0" rtlCol="0" anchor="t"/>
          <a:lstStyle/>
          <a:p>
            <a:pPr algn="l" indent="0" marL="0">
              <a:buNone/>
            </a:pPr>
            <a:r>
              <a:rPr lang="en-US" sz="1100" b="1" spc="200" kern="0" dirty="0">
                <a:solidFill>
                  <a:srgbClr val="1769AA"/>
                </a:solidFill>
                <a:latin typeface="Arial" pitchFamily="34" charset="0"/>
                <a:ea typeface="Arial" pitchFamily="34" charset="-122"/>
                <a:cs typeface="Arial" pitchFamily="34" charset="-120"/>
              </a:rPr>
              <a:t>DECISION SIMULATION</a:t>
            </a:r>
            <a:endParaRPr lang="en-US" sz="1100" dirty="0"/>
          </a:p>
        </p:txBody>
      </p:sp>
      <p:sp>
        <p:nvSpPr>
          <p:cNvPr id="78" name="Text 76"/>
          <p:cNvSpPr txBox="1"/>
          <p:nvPr/>
        </p:nvSpPr>
        <p:spPr>
          <a:xfrm>
            <a:off x="8275320" y="3840480"/>
            <a:ext cx="1325880" cy="182880"/>
          </a:xfrm>
          <a:prstGeom prst="rect">
            <a:avLst/>
          </a:prstGeom>
          <a:noFill/>
          <a:ln/>
        </p:spPr>
        <p:txBody>
          <a:bodyPr wrap="square" lIns="0" tIns="0" rIns="0" bIns="0" rtlCol="0" anchor="t"/>
          <a:lstStyle/>
          <a:p>
            <a:pPr algn="l" indent="0" marL="0">
              <a:buNone/>
            </a:pPr>
            <a:r>
              <a:rPr lang="en-US" sz="1050" b="1" spc="100" kern="0" dirty="0">
                <a:solidFill>
                  <a:srgbClr val="667085"/>
                </a:solidFill>
                <a:latin typeface="Arial" pitchFamily="34" charset="0"/>
                <a:ea typeface="Arial" pitchFamily="34" charset="-122"/>
                <a:cs typeface="Arial" pitchFamily="34" charset="-120"/>
              </a:rPr>
              <a:t>BEFORE</a:t>
            </a:r>
            <a:endParaRPr lang="en-US" sz="1050" dirty="0"/>
          </a:p>
        </p:txBody>
      </p:sp>
      <p:sp>
        <p:nvSpPr>
          <p:cNvPr id="79" name="Text 77"/>
          <p:cNvSpPr txBox="1"/>
          <p:nvPr/>
        </p:nvSpPr>
        <p:spPr>
          <a:xfrm>
            <a:off x="8275320" y="4069080"/>
            <a:ext cx="1325880" cy="365760"/>
          </a:xfrm>
          <a:prstGeom prst="rect">
            <a:avLst/>
          </a:prstGeom>
          <a:noFill/>
          <a:ln/>
        </p:spPr>
        <p:txBody>
          <a:bodyPr wrap="square" lIns="0" tIns="0" rIns="0" bIns="0" rtlCol="0" anchor="t"/>
          <a:lstStyle/>
          <a:p>
            <a:pPr algn="l" indent="0" marL="0">
              <a:buNone/>
            </a:pPr>
            <a:r>
              <a:rPr lang="en-US" sz="2200" b="1" dirty="0">
                <a:solidFill>
                  <a:srgbClr val="0B1F33"/>
                </a:solidFill>
                <a:latin typeface="Arial" pitchFamily="34" charset="0"/>
                <a:ea typeface="Arial" pitchFamily="34" charset="-122"/>
                <a:cs typeface="Arial" pitchFamily="34" charset="-120"/>
              </a:rPr>
              <a:t>₹86.7 Cr</a:t>
            </a:r>
            <a:endParaRPr lang="en-US" sz="2200" dirty="0"/>
          </a:p>
        </p:txBody>
      </p:sp>
      <p:sp>
        <p:nvSpPr>
          <p:cNvPr id="80" name="Shape 78"/>
          <p:cNvSpPr/>
          <p:nvPr/>
        </p:nvSpPr>
        <p:spPr>
          <a:xfrm>
            <a:off x="9692640" y="4251960"/>
            <a:ext cx="213055" cy="0"/>
          </a:xfrm>
          <a:prstGeom prst="line">
            <a:avLst/>
          </a:prstGeom>
          <a:noFill/>
          <a:ln w="19050">
            <a:solidFill>
              <a:srgbClr val="667085"/>
            </a:solidFill>
            <a:prstDash val="solid"/>
            <a:tailEnd type="triangle"/>
          </a:ln>
        </p:spPr>
      </p:sp>
      <p:sp>
        <p:nvSpPr>
          <p:cNvPr id="81" name="Text 79"/>
          <p:cNvSpPr txBox="1"/>
          <p:nvPr/>
        </p:nvSpPr>
        <p:spPr>
          <a:xfrm>
            <a:off x="9997135" y="3840480"/>
            <a:ext cx="1325880" cy="182880"/>
          </a:xfrm>
          <a:prstGeom prst="rect">
            <a:avLst/>
          </a:prstGeom>
          <a:noFill/>
          <a:ln/>
        </p:spPr>
        <p:txBody>
          <a:bodyPr wrap="square" lIns="0" tIns="0" rIns="0" bIns="0" rtlCol="0" anchor="t"/>
          <a:lstStyle/>
          <a:p>
            <a:pPr algn="r" indent="0" marL="0">
              <a:buNone/>
            </a:pPr>
            <a:r>
              <a:rPr lang="en-US" sz="1050" b="1" spc="100" kern="0" dirty="0">
                <a:solidFill>
                  <a:srgbClr val="667085"/>
                </a:solidFill>
                <a:latin typeface="Arial" pitchFamily="34" charset="0"/>
                <a:ea typeface="Arial" pitchFamily="34" charset="-122"/>
                <a:cs typeface="Arial" pitchFamily="34" charset="-120"/>
              </a:rPr>
              <a:t>AFTER</a:t>
            </a:r>
            <a:endParaRPr lang="en-US" sz="1050" dirty="0"/>
          </a:p>
        </p:txBody>
      </p:sp>
      <p:sp>
        <p:nvSpPr>
          <p:cNvPr id="82" name="Text 80"/>
          <p:cNvSpPr txBox="1"/>
          <p:nvPr/>
        </p:nvSpPr>
        <p:spPr>
          <a:xfrm>
            <a:off x="9997135" y="4069080"/>
            <a:ext cx="1325880" cy="365760"/>
          </a:xfrm>
          <a:prstGeom prst="rect">
            <a:avLst/>
          </a:prstGeom>
          <a:noFill/>
          <a:ln/>
        </p:spPr>
        <p:txBody>
          <a:bodyPr wrap="square" lIns="0" tIns="0" rIns="0" bIns="0" rtlCol="0" anchor="t"/>
          <a:lstStyle/>
          <a:p>
            <a:pPr algn="r" indent="0" marL="0">
              <a:buNone/>
            </a:pPr>
            <a:r>
              <a:rPr lang="en-US" sz="2200" b="1" dirty="0">
                <a:solidFill>
                  <a:srgbClr val="0B1F33"/>
                </a:solidFill>
                <a:latin typeface="Arial" pitchFamily="34" charset="0"/>
                <a:ea typeface="Arial" pitchFamily="34" charset="-122"/>
                <a:cs typeface="Arial" pitchFamily="34" charset="-120"/>
              </a:rPr>
              <a:t>₹64.7 Cr</a:t>
            </a:r>
            <a:endParaRPr lang="en-US" sz="2200" dirty="0"/>
          </a:p>
        </p:txBody>
      </p:sp>
      <p:sp>
        <p:nvSpPr>
          <p:cNvPr id="83" name="Shape 81"/>
          <p:cNvSpPr/>
          <p:nvPr/>
        </p:nvSpPr>
        <p:spPr>
          <a:xfrm>
            <a:off x="8275320" y="4663440"/>
            <a:ext cx="3047695" cy="0"/>
          </a:xfrm>
          <a:prstGeom prst="line">
            <a:avLst/>
          </a:prstGeom>
          <a:noFill/>
          <a:ln w="9525">
            <a:solidFill>
              <a:srgbClr val="D9E1EA"/>
            </a:solidFill>
            <a:prstDash val="solid"/>
          </a:ln>
        </p:spPr>
      </p:sp>
      <p:sp>
        <p:nvSpPr>
          <p:cNvPr id="84" name="Text 82"/>
          <p:cNvSpPr txBox="1"/>
          <p:nvPr/>
        </p:nvSpPr>
        <p:spPr>
          <a:xfrm>
            <a:off x="8275320" y="4800600"/>
            <a:ext cx="1828800" cy="182880"/>
          </a:xfrm>
          <a:prstGeom prst="rect">
            <a:avLst/>
          </a:prstGeom>
          <a:noFill/>
          <a:ln/>
        </p:spPr>
        <p:txBody>
          <a:bodyPr wrap="square" lIns="0" tIns="0" rIns="0" bIns="0" rtlCol="0" anchor="t"/>
          <a:lstStyle/>
          <a:p>
            <a:pPr algn="l" indent="0" marL="0">
              <a:buNone/>
            </a:pPr>
            <a:r>
              <a:rPr lang="en-US" sz="1050" b="1" spc="100" kern="0" dirty="0">
                <a:solidFill>
                  <a:srgbClr val="667085"/>
                </a:solidFill>
                <a:latin typeface="Arial" pitchFamily="34" charset="0"/>
                <a:ea typeface="Arial" pitchFamily="34" charset="-122"/>
                <a:cs typeface="Arial" pitchFamily="34" charset="-120"/>
              </a:rPr>
              <a:t>ACTION</a:t>
            </a:r>
            <a:endParaRPr lang="en-US" sz="1050" dirty="0"/>
          </a:p>
        </p:txBody>
      </p:sp>
      <p:sp>
        <p:nvSpPr>
          <p:cNvPr id="85" name="Text 83"/>
          <p:cNvSpPr txBox="1"/>
          <p:nvPr/>
        </p:nvSpPr>
        <p:spPr>
          <a:xfrm>
            <a:off x="8275320" y="5029200"/>
            <a:ext cx="3047695" cy="274320"/>
          </a:xfrm>
          <a:prstGeom prst="rect">
            <a:avLst/>
          </a:prstGeom>
          <a:noFill/>
          <a:ln/>
        </p:spPr>
        <p:txBody>
          <a:bodyPr wrap="square" lIns="0" tIns="0" rIns="0" bIns="0" rtlCol="0" anchor="t"/>
          <a:lstStyle/>
          <a:p>
            <a:pPr algn="l" indent="0" marL="0">
              <a:buNone/>
            </a:pPr>
            <a:r>
              <a:rPr lang="en-US" sz="1400" b="1" dirty="0">
                <a:solidFill>
                  <a:srgbClr val="0B1F33"/>
                </a:solidFill>
                <a:latin typeface="Arial" pitchFamily="34" charset="0"/>
                <a:ea typeface="Arial" pitchFamily="34" charset="-122"/>
                <a:cs typeface="Arial" pitchFamily="34" charset="-120"/>
              </a:rPr>
              <a:t>Prioritize critical payments</a:t>
            </a:r>
            <a:endParaRPr lang="en-US" sz="1400" dirty="0"/>
          </a:p>
        </p:txBody>
      </p:sp>
      <p:sp>
        <p:nvSpPr>
          <p:cNvPr id="86" name="Shape 84"/>
          <p:cNvSpPr/>
          <p:nvPr/>
        </p:nvSpPr>
        <p:spPr>
          <a:xfrm>
            <a:off x="8275320" y="5394960"/>
            <a:ext cx="3047695" cy="658368"/>
          </a:xfrm>
          <a:prstGeom prst="rect">
            <a:avLst/>
          </a:prstGeom>
          <a:solidFill>
            <a:srgbClr val="E6F4EE"/>
          </a:solidFill>
          <a:ln w="9525">
            <a:solidFill>
              <a:srgbClr val="16845B"/>
            </a:solidFill>
            <a:prstDash val="solid"/>
          </a:ln>
        </p:spPr>
      </p:sp>
      <p:sp>
        <p:nvSpPr>
          <p:cNvPr id="87" name="Text 85"/>
          <p:cNvSpPr txBox="1"/>
          <p:nvPr/>
        </p:nvSpPr>
        <p:spPr>
          <a:xfrm>
            <a:off x="8430768" y="5431536"/>
            <a:ext cx="2773375" cy="585216"/>
          </a:xfrm>
          <a:prstGeom prst="rect">
            <a:avLst/>
          </a:prstGeom>
          <a:noFill/>
          <a:ln/>
        </p:spPr>
        <p:txBody>
          <a:bodyPr wrap="square" lIns="0" tIns="0" rIns="0" bIns="0" rtlCol="0" anchor="ctr"/>
          <a:lstStyle/>
          <a:p>
            <a:pPr algn="l" indent="0" marL="0">
              <a:buNone/>
            </a:pPr>
            <a:r>
              <a:rPr lang="en-US" sz="1050" b="1" dirty="0">
                <a:solidFill>
                  <a:srgbClr val="16845B"/>
                </a:solidFill>
                <a:latin typeface="Arial" pitchFamily="34" charset="0"/>
                <a:ea typeface="Arial" pitchFamily="34" charset="-122"/>
                <a:cs typeface="Arial" pitchFamily="34" charset="-120"/>
              </a:rPr>
              <a:t>STATUS  </a:t>
            </a:r>
            <a:pPr algn="l" indent="0" marL="0">
              <a:buNone/>
            </a:pPr>
            <a:r>
              <a:rPr lang="en-US" sz="1400" b="1" dirty="0">
                <a:solidFill>
                  <a:srgbClr val="16845B"/>
                </a:solidFill>
                <a:latin typeface="Arial" pitchFamily="34" charset="0"/>
                <a:ea typeface="Arial" pitchFamily="34" charset="-122"/>
                <a:cs typeface="Arial" pitchFamily="34" charset="-120"/>
              </a:rPr>
              <a:t>Reserve maintained</a:t>
            </a:r>
            <a:endParaRPr lang="en-US" sz="1400" dirty="0"/>
          </a:p>
          <a:p>
            <a:pPr algn="l" indent="0" marL="0">
              <a:buNone/>
            </a:pPr>
            <a:r>
              <a:rPr lang="en-US" sz="1100" dirty="0">
                <a:solidFill>
                  <a:srgbClr val="344054"/>
                </a:solidFill>
                <a:latin typeface="Arial" pitchFamily="34" charset="0"/>
                <a:ea typeface="Arial" pitchFamily="34" charset="-122"/>
                <a:cs typeface="Arial" pitchFamily="34" charset="-120"/>
              </a:rPr>
              <a:t>₹14.7 Cr above minimum reserve</a:t>
            </a:r>
            <a:endParaRPr lang="en-US" sz="1400" dirty="0"/>
          </a:p>
        </p:txBody>
      </p:sp>
      <p:sp>
        <p:nvSpPr>
          <p:cNvPr id="88" name="Shape 86"/>
          <p:cNvSpPr/>
          <p:nvPr/>
        </p:nvSpPr>
        <p:spPr>
          <a:xfrm>
            <a:off x="640080" y="6382512"/>
            <a:ext cx="10911535" cy="0"/>
          </a:xfrm>
          <a:prstGeom prst="line">
            <a:avLst/>
          </a:prstGeom>
          <a:noFill/>
          <a:ln w="9525">
            <a:solidFill>
              <a:srgbClr val="D9E1EA"/>
            </a:solidFill>
            <a:prstDash val="solid"/>
          </a:ln>
        </p:spPr>
      </p:sp>
      <p:sp>
        <p:nvSpPr>
          <p:cNvPr id="89" name="Text 87"/>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PROTOTYPE</a:t>
            </a:r>
            <a:endParaRPr lang="en-US" sz="1050" dirty="0"/>
          </a:p>
        </p:txBody>
      </p:sp>
      <p:sp>
        <p:nvSpPr>
          <p:cNvPr id="3" name="Text 1"/>
          <p:cNvSpPr txBox="1"/>
          <p:nvPr/>
        </p:nvSpPr>
        <p:spPr>
          <a:xfrm>
            <a:off x="640080" y="585216"/>
            <a:ext cx="8229600"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Prototype Output</a:t>
            </a:r>
            <a:endParaRPr lang="en-US" sz="3000" dirty="0"/>
          </a:p>
        </p:txBody>
      </p:sp>
      <p:sp>
        <p:nvSpPr>
          <p:cNvPr id="4" name="Text 2"/>
          <p:cNvSpPr txBox="1"/>
          <p:nvPr/>
        </p:nvSpPr>
        <p:spPr>
          <a:xfrm>
            <a:off x="9037015" y="676656"/>
            <a:ext cx="2514600" cy="310896"/>
          </a:xfrm>
          <a:prstGeom prst="rect">
            <a:avLst/>
          </a:prstGeom>
          <a:noFill/>
          <a:ln w="9525">
            <a:solidFill>
              <a:srgbClr val="667085"/>
            </a:solidFill>
          </a:ln>
        </p:spPr>
        <p:txBody>
          <a:bodyPr wrap="square" lIns="762" tIns="762" rIns="762" bIns="762" rtlCol="0" anchor="ctr"/>
          <a:lstStyle/>
          <a:p>
            <a:pPr algn="ctr" indent="0" marL="0">
              <a:buNone/>
            </a:pPr>
            <a:r>
              <a:rPr lang="en-US" sz="1000" b="1" spc="50" kern="0" dirty="0">
                <a:solidFill>
                  <a:srgbClr val="667085"/>
                </a:solidFill>
                <a:latin typeface="Arial" pitchFamily="34" charset="0"/>
                <a:ea typeface="Arial" pitchFamily="34" charset="-122"/>
                <a:cs typeface="Arial" pitchFamily="34" charset="-120"/>
              </a:rPr>
              <a:t>ILLUSTRATIVE / SIMULATED DATA</a:t>
            </a:r>
            <a:endParaRPr lang="en-US" sz="1000" dirty="0"/>
          </a:p>
        </p:txBody>
      </p:sp>
      <p:sp>
        <p:nvSpPr>
          <p:cNvPr id="5" name="Shape 3"/>
          <p:cNvSpPr/>
          <p:nvPr/>
        </p:nvSpPr>
        <p:spPr>
          <a:xfrm>
            <a:off x="640080" y="1371600"/>
            <a:ext cx="10911535" cy="4846320"/>
          </a:xfrm>
          <a:prstGeom prst="rect">
            <a:avLst/>
          </a:prstGeom>
          <a:solidFill>
            <a:srgbClr val="FFFFFF"/>
          </a:solidFill>
          <a:ln w="9525">
            <a:solidFill>
              <a:srgbClr val="D9E1EA"/>
            </a:solidFill>
            <a:prstDash val="solid"/>
          </a:ln>
        </p:spPr>
      </p:sp>
      <p:sp>
        <p:nvSpPr>
          <p:cNvPr id="6" name="Shape 4"/>
          <p:cNvSpPr/>
          <p:nvPr/>
        </p:nvSpPr>
        <p:spPr>
          <a:xfrm>
            <a:off x="640080" y="1371600"/>
            <a:ext cx="10911535" cy="329184"/>
          </a:xfrm>
          <a:prstGeom prst="rect">
            <a:avLst/>
          </a:prstGeom>
          <a:solidFill>
            <a:srgbClr val="0B1F33"/>
          </a:solidFill>
          <a:ln/>
        </p:spPr>
      </p:sp>
      <p:sp>
        <p:nvSpPr>
          <p:cNvPr id="7" name="Text 5"/>
          <p:cNvSpPr txBox="1"/>
          <p:nvPr/>
        </p:nvSpPr>
        <p:spPr>
          <a:xfrm>
            <a:off x="822960" y="1371600"/>
            <a:ext cx="4572000" cy="329184"/>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FINOS  |  Treasury Overview</a:t>
            </a:r>
            <a:endParaRPr lang="en-US" sz="1100" dirty="0"/>
          </a:p>
        </p:txBody>
      </p:sp>
      <p:sp>
        <p:nvSpPr>
          <p:cNvPr id="8" name="Text 6"/>
          <p:cNvSpPr txBox="1"/>
          <p:nvPr/>
        </p:nvSpPr>
        <p:spPr>
          <a:xfrm>
            <a:off x="6796735" y="1371600"/>
            <a:ext cx="4572000" cy="329184"/>
          </a:xfrm>
          <a:prstGeom prst="rect">
            <a:avLst/>
          </a:prstGeom>
          <a:noFill/>
          <a:ln/>
        </p:spPr>
        <p:txBody>
          <a:bodyPr wrap="square" lIns="0" tIns="0" rIns="0" bIns="0" rtlCol="0" anchor="ctr"/>
          <a:lstStyle/>
          <a:p>
            <a:pPr algn="r" indent="0" marL="0">
              <a:buNone/>
            </a:pPr>
            <a:r>
              <a:rPr lang="en-US" sz="1000" dirty="0">
                <a:solidFill>
                  <a:srgbClr val="CADCFC"/>
                </a:solidFill>
                <a:latin typeface="Arial" pitchFamily="34" charset="0"/>
                <a:ea typeface="Arial" pitchFamily="34" charset="-122"/>
                <a:cs typeface="Arial" pitchFamily="34" charset="-120"/>
              </a:rPr>
              <a:t>Department view  ·  Simulated environment</a:t>
            </a:r>
            <a:endParaRPr lang="en-US" sz="1000" dirty="0"/>
          </a:p>
        </p:txBody>
      </p:sp>
      <p:sp>
        <p:nvSpPr>
          <p:cNvPr id="9" name="Shape 7"/>
          <p:cNvSpPr/>
          <p:nvPr/>
        </p:nvSpPr>
        <p:spPr>
          <a:xfrm>
            <a:off x="777240" y="1828800"/>
            <a:ext cx="2017715" cy="749808"/>
          </a:xfrm>
          <a:prstGeom prst="rect">
            <a:avLst/>
          </a:prstGeom>
          <a:solidFill>
            <a:srgbClr val="F5F7FA"/>
          </a:solidFill>
          <a:ln w="9525">
            <a:solidFill>
              <a:srgbClr val="D9E1EA"/>
            </a:solidFill>
            <a:prstDash val="solid"/>
          </a:ln>
        </p:spPr>
      </p:sp>
      <p:sp>
        <p:nvSpPr>
          <p:cNvPr id="10" name="Text 8"/>
          <p:cNvSpPr txBox="1"/>
          <p:nvPr/>
        </p:nvSpPr>
        <p:spPr>
          <a:xfrm>
            <a:off x="914400" y="1920240"/>
            <a:ext cx="1743395" cy="182880"/>
          </a:xfrm>
          <a:prstGeom prst="rect">
            <a:avLst/>
          </a:prstGeom>
          <a:noFill/>
          <a:ln/>
        </p:spPr>
        <p:txBody>
          <a:bodyPr wrap="square" lIns="0" tIns="0" rIns="0" bIns="0" rtlCol="0" anchor="t"/>
          <a:lstStyle/>
          <a:p>
            <a:pPr algn="l" indent="0" marL="0">
              <a:buNone/>
            </a:pPr>
            <a:r>
              <a:rPr lang="en-US" sz="1000" b="1" spc="100" kern="0" dirty="0">
                <a:solidFill>
                  <a:srgbClr val="667085"/>
                </a:solidFill>
                <a:latin typeface="Arial" pitchFamily="34" charset="0"/>
                <a:ea typeface="Arial" pitchFamily="34" charset="-122"/>
                <a:cs typeface="Arial" pitchFamily="34" charset="-120"/>
              </a:rPr>
              <a:t>TOTAL BALANCE</a:t>
            </a:r>
            <a:endParaRPr lang="en-US" sz="1000" dirty="0"/>
          </a:p>
        </p:txBody>
      </p:sp>
      <p:sp>
        <p:nvSpPr>
          <p:cNvPr id="11" name="Text 9"/>
          <p:cNvSpPr txBox="1"/>
          <p:nvPr/>
        </p:nvSpPr>
        <p:spPr>
          <a:xfrm>
            <a:off x="914400" y="2139696"/>
            <a:ext cx="1743395" cy="365760"/>
          </a:xfrm>
          <a:prstGeom prst="rect">
            <a:avLst/>
          </a:prstGeom>
          <a:noFill/>
          <a:ln/>
        </p:spPr>
        <p:txBody>
          <a:bodyPr wrap="square" lIns="0" tIns="0" rIns="0" bIns="0" rtlCol="0" anchor="t"/>
          <a:lstStyle/>
          <a:p>
            <a:pPr algn="l" indent="0" marL="0">
              <a:buNone/>
            </a:pPr>
            <a:r>
              <a:rPr lang="en-US" sz="2200" b="1" dirty="0">
                <a:solidFill>
                  <a:srgbClr val="0B1F33"/>
                </a:solidFill>
                <a:latin typeface="Arial" pitchFamily="34" charset="0"/>
                <a:ea typeface="Arial" pitchFamily="34" charset="-122"/>
                <a:cs typeface="Arial" pitchFamily="34" charset="-120"/>
              </a:rPr>
              <a:t>₹128.4 Cr</a:t>
            </a:r>
            <a:endParaRPr lang="en-US" sz="2200" dirty="0"/>
          </a:p>
        </p:txBody>
      </p:sp>
      <p:sp>
        <p:nvSpPr>
          <p:cNvPr id="12" name="Shape 10"/>
          <p:cNvSpPr/>
          <p:nvPr/>
        </p:nvSpPr>
        <p:spPr>
          <a:xfrm>
            <a:off x="2932115" y="1828800"/>
            <a:ext cx="2017715" cy="749808"/>
          </a:xfrm>
          <a:prstGeom prst="rect">
            <a:avLst/>
          </a:prstGeom>
          <a:solidFill>
            <a:srgbClr val="F5F7FA"/>
          </a:solidFill>
          <a:ln w="9525">
            <a:solidFill>
              <a:srgbClr val="D9E1EA"/>
            </a:solidFill>
            <a:prstDash val="solid"/>
          </a:ln>
        </p:spPr>
      </p:sp>
      <p:sp>
        <p:nvSpPr>
          <p:cNvPr id="13" name="Text 11"/>
          <p:cNvSpPr txBox="1"/>
          <p:nvPr/>
        </p:nvSpPr>
        <p:spPr>
          <a:xfrm>
            <a:off x="3069275" y="1920240"/>
            <a:ext cx="1743395" cy="182880"/>
          </a:xfrm>
          <a:prstGeom prst="rect">
            <a:avLst/>
          </a:prstGeom>
          <a:noFill/>
          <a:ln/>
        </p:spPr>
        <p:txBody>
          <a:bodyPr wrap="square" lIns="0" tIns="0" rIns="0" bIns="0" rtlCol="0" anchor="t"/>
          <a:lstStyle/>
          <a:p>
            <a:pPr algn="l" indent="0" marL="0">
              <a:buNone/>
            </a:pPr>
            <a:r>
              <a:rPr lang="en-US" sz="1000" b="1" spc="100" kern="0" dirty="0">
                <a:solidFill>
                  <a:srgbClr val="667085"/>
                </a:solidFill>
                <a:latin typeface="Arial" pitchFamily="34" charset="0"/>
                <a:ea typeface="Arial" pitchFamily="34" charset="-122"/>
                <a:cs typeface="Arial" pitchFamily="34" charset="-120"/>
              </a:rPr>
              <a:t>AVAILABLE BALANCE</a:t>
            </a:r>
            <a:endParaRPr lang="en-US" sz="1000" dirty="0"/>
          </a:p>
        </p:txBody>
      </p:sp>
      <p:sp>
        <p:nvSpPr>
          <p:cNvPr id="14" name="Text 12"/>
          <p:cNvSpPr txBox="1"/>
          <p:nvPr/>
        </p:nvSpPr>
        <p:spPr>
          <a:xfrm>
            <a:off x="3069275" y="2139696"/>
            <a:ext cx="1743395" cy="365760"/>
          </a:xfrm>
          <a:prstGeom prst="rect">
            <a:avLst/>
          </a:prstGeom>
          <a:noFill/>
          <a:ln/>
        </p:spPr>
        <p:txBody>
          <a:bodyPr wrap="square" lIns="0" tIns="0" rIns="0" bIns="0" rtlCol="0" anchor="t"/>
          <a:lstStyle/>
          <a:p>
            <a:pPr algn="l" indent="0" marL="0">
              <a:buNone/>
            </a:pPr>
            <a:r>
              <a:rPr lang="en-US" sz="2200" b="1" dirty="0">
                <a:solidFill>
                  <a:srgbClr val="0B1F33"/>
                </a:solidFill>
                <a:latin typeface="Arial" pitchFamily="34" charset="0"/>
                <a:ea typeface="Arial" pitchFamily="34" charset="-122"/>
                <a:cs typeface="Arial" pitchFamily="34" charset="-120"/>
              </a:rPr>
              <a:t>₹86.7 Cr</a:t>
            </a:r>
            <a:endParaRPr lang="en-US" sz="2200" dirty="0"/>
          </a:p>
        </p:txBody>
      </p:sp>
      <p:sp>
        <p:nvSpPr>
          <p:cNvPr id="15" name="Shape 13"/>
          <p:cNvSpPr/>
          <p:nvPr/>
        </p:nvSpPr>
        <p:spPr>
          <a:xfrm>
            <a:off x="5086990" y="1828800"/>
            <a:ext cx="2017715" cy="749808"/>
          </a:xfrm>
          <a:prstGeom prst="rect">
            <a:avLst/>
          </a:prstGeom>
          <a:solidFill>
            <a:srgbClr val="F5F7FA"/>
          </a:solidFill>
          <a:ln w="9525">
            <a:solidFill>
              <a:srgbClr val="D9E1EA"/>
            </a:solidFill>
            <a:prstDash val="solid"/>
          </a:ln>
        </p:spPr>
      </p:sp>
      <p:sp>
        <p:nvSpPr>
          <p:cNvPr id="16" name="Text 14"/>
          <p:cNvSpPr txBox="1"/>
          <p:nvPr/>
        </p:nvSpPr>
        <p:spPr>
          <a:xfrm>
            <a:off x="5224150" y="1920240"/>
            <a:ext cx="1743395" cy="182880"/>
          </a:xfrm>
          <a:prstGeom prst="rect">
            <a:avLst/>
          </a:prstGeom>
          <a:noFill/>
          <a:ln/>
        </p:spPr>
        <p:txBody>
          <a:bodyPr wrap="square" lIns="0" tIns="0" rIns="0" bIns="0" rtlCol="0" anchor="t"/>
          <a:lstStyle/>
          <a:p>
            <a:pPr algn="l" indent="0" marL="0">
              <a:buNone/>
            </a:pPr>
            <a:r>
              <a:rPr lang="en-US" sz="1000" b="1" spc="100" kern="0" dirty="0">
                <a:solidFill>
                  <a:srgbClr val="667085"/>
                </a:solidFill>
                <a:latin typeface="Arial" pitchFamily="34" charset="0"/>
                <a:ea typeface="Arial" pitchFamily="34" charset="-122"/>
                <a:cs typeface="Arial" pitchFamily="34" charset="-120"/>
              </a:rPr>
              <a:t>BUDGET UTILIZATION</a:t>
            </a:r>
            <a:endParaRPr lang="en-US" sz="1000" dirty="0"/>
          </a:p>
        </p:txBody>
      </p:sp>
      <p:sp>
        <p:nvSpPr>
          <p:cNvPr id="17" name="Text 15"/>
          <p:cNvSpPr txBox="1"/>
          <p:nvPr/>
        </p:nvSpPr>
        <p:spPr>
          <a:xfrm>
            <a:off x="5224150" y="2139696"/>
            <a:ext cx="1743395" cy="365760"/>
          </a:xfrm>
          <a:prstGeom prst="rect">
            <a:avLst/>
          </a:prstGeom>
          <a:noFill/>
          <a:ln/>
        </p:spPr>
        <p:txBody>
          <a:bodyPr wrap="square" lIns="0" tIns="0" rIns="0" bIns="0" rtlCol="0" anchor="t"/>
          <a:lstStyle/>
          <a:p>
            <a:pPr algn="l" indent="0" marL="0">
              <a:buNone/>
            </a:pPr>
            <a:r>
              <a:rPr lang="en-US" sz="2200" b="1" dirty="0">
                <a:solidFill>
                  <a:srgbClr val="0B1F33"/>
                </a:solidFill>
                <a:latin typeface="Arial" pitchFamily="34" charset="0"/>
                <a:ea typeface="Arial" pitchFamily="34" charset="-122"/>
                <a:cs typeface="Arial" pitchFamily="34" charset="-120"/>
              </a:rPr>
              <a:t>72%</a:t>
            </a:r>
            <a:endParaRPr lang="en-US" sz="2200" dirty="0"/>
          </a:p>
        </p:txBody>
      </p:sp>
      <p:sp>
        <p:nvSpPr>
          <p:cNvPr id="18" name="Shape 16"/>
          <p:cNvSpPr/>
          <p:nvPr/>
        </p:nvSpPr>
        <p:spPr>
          <a:xfrm>
            <a:off x="7241865" y="1828800"/>
            <a:ext cx="2017715" cy="749808"/>
          </a:xfrm>
          <a:prstGeom prst="rect">
            <a:avLst/>
          </a:prstGeom>
          <a:solidFill>
            <a:srgbClr val="F5F7FA"/>
          </a:solidFill>
          <a:ln w="9525">
            <a:solidFill>
              <a:srgbClr val="D9E1EA"/>
            </a:solidFill>
            <a:prstDash val="solid"/>
          </a:ln>
        </p:spPr>
      </p:sp>
      <p:sp>
        <p:nvSpPr>
          <p:cNvPr id="19" name="Text 17"/>
          <p:cNvSpPr txBox="1"/>
          <p:nvPr/>
        </p:nvSpPr>
        <p:spPr>
          <a:xfrm>
            <a:off x="7379025" y="1920240"/>
            <a:ext cx="1743395" cy="182880"/>
          </a:xfrm>
          <a:prstGeom prst="rect">
            <a:avLst/>
          </a:prstGeom>
          <a:noFill/>
          <a:ln/>
        </p:spPr>
        <p:txBody>
          <a:bodyPr wrap="square" lIns="0" tIns="0" rIns="0" bIns="0" rtlCol="0" anchor="t"/>
          <a:lstStyle/>
          <a:p>
            <a:pPr algn="l" indent="0" marL="0">
              <a:buNone/>
            </a:pPr>
            <a:r>
              <a:rPr lang="en-US" sz="1000" b="1" spc="100" kern="0" dirty="0">
                <a:solidFill>
                  <a:srgbClr val="667085"/>
                </a:solidFill>
                <a:latin typeface="Arial" pitchFamily="34" charset="0"/>
                <a:ea typeface="Arial" pitchFamily="34" charset="-122"/>
                <a:cs typeface="Arial" pitchFamily="34" charset="-120"/>
              </a:rPr>
              <a:t>RISK SCORE</a:t>
            </a:r>
            <a:endParaRPr lang="en-US" sz="1000" dirty="0"/>
          </a:p>
        </p:txBody>
      </p:sp>
      <p:sp>
        <p:nvSpPr>
          <p:cNvPr id="20" name="Text 18"/>
          <p:cNvSpPr txBox="1"/>
          <p:nvPr/>
        </p:nvSpPr>
        <p:spPr>
          <a:xfrm>
            <a:off x="7379025" y="2139696"/>
            <a:ext cx="1743395" cy="365760"/>
          </a:xfrm>
          <a:prstGeom prst="rect">
            <a:avLst/>
          </a:prstGeom>
          <a:noFill/>
          <a:ln/>
        </p:spPr>
        <p:txBody>
          <a:bodyPr wrap="square" lIns="0" tIns="0" rIns="0" bIns="0" rtlCol="0" anchor="t"/>
          <a:lstStyle/>
          <a:p>
            <a:pPr algn="l" indent="0" marL="0">
              <a:buNone/>
            </a:pPr>
            <a:r>
              <a:rPr lang="en-US" sz="2200" b="1" dirty="0">
                <a:solidFill>
                  <a:srgbClr val="16845B"/>
                </a:solidFill>
                <a:latin typeface="Arial" pitchFamily="34" charset="0"/>
                <a:ea typeface="Arial" pitchFamily="34" charset="-122"/>
                <a:cs typeface="Arial" pitchFamily="34" charset="-120"/>
              </a:rPr>
              <a:t>18 / 100</a:t>
            </a:r>
            <a:endParaRPr lang="en-US" sz="2200" dirty="0"/>
          </a:p>
        </p:txBody>
      </p:sp>
      <p:sp>
        <p:nvSpPr>
          <p:cNvPr id="21" name="Shape 19"/>
          <p:cNvSpPr/>
          <p:nvPr/>
        </p:nvSpPr>
        <p:spPr>
          <a:xfrm>
            <a:off x="9396740" y="1828800"/>
            <a:ext cx="2017715" cy="749808"/>
          </a:xfrm>
          <a:prstGeom prst="rect">
            <a:avLst/>
          </a:prstGeom>
          <a:solidFill>
            <a:srgbClr val="F5F7FA"/>
          </a:solidFill>
          <a:ln w="9525">
            <a:solidFill>
              <a:srgbClr val="D9E1EA"/>
            </a:solidFill>
            <a:prstDash val="solid"/>
          </a:ln>
        </p:spPr>
      </p:sp>
      <p:sp>
        <p:nvSpPr>
          <p:cNvPr id="22" name="Text 20"/>
          <p:cNvSpPr txBox="1"/>
          <p:nvPr/>
        </p:nvSpPr>
        <p:spPr>
          <a:xfrm>
            <a:off x="9533900" y="1920240"/>
            <a:ext cx="1743395" cy="182880"/>
          </a:xfrm>
          <a:prstGeom prst="rect">
            <a:avLst/>
          </a:prstGeom>
          <a:noFill/>
          <a:ln/>
        </p:spPr>
        <p:txBody>
          <a:bodyPr wrap="square" lIns="0" tIns="0" rIns="0" bIns="0" rtlCol="0" anchor="t"/>
          <a:lstStyle/>
          <a:p>
            <a:pPr algn="l" indent="0" marL="0">
              <a:buNone/>
            </a:pPr>
            <a:r>
              <a:rPr lang="en-US" sz="1000" b="1" spc="100" kern="0" dirty="0">
                <a:solidFill>
                  <a:srgbClr val="667085"/>
                </a:solidFill>
                <a:latin typeface="Arial" pitchFamily="34" charset="0"/>
                <a:ea typeface="Arial" pitchFamily="34" charset="-122"/>
                <a:cs typeface="Arial" pitchFamily="34" charset="-120"/>
              </a:rPr>
              <a:t>PENDING PAYMENTS</a:t>
            </a:r>
            <a:endParaRPr lang="en-US" sz="1000" dirty="0"/>
          </a:p>
        </p:txBody>
      </p:sp>
      <p:sp>
        <p:nvSpPr>
          <p:cNvPr id="23" name="Text 21"/>
          <p:cNvSpPr txBox="1"/>
          <p:nvPr/>
        </p:nvSpPr>
        <p:spPr>
          <a:xfrm>
            <a:off x="9533900" y="2139696"/>
            <a:ext cx="1743395" cy="365760"/>
          </a:xfrm>
          <a:prstGeom prst="rect">
            <a:avLst/>
          </a:prstGeom>
          <a:noFill/>
          <a:ln/>
        </p:spPr>
        <p:txBody>
          <a:bodyPr wrap="square" lIns="0" tIns="0" rIns="0" bIns="0" rtlCol="0" anchor="t"/>
          <a:lstStyle/>
          <a:p>
            <a:pPr algn="l" indent="0" marL="0">
              <a:buNone/>
            </a:pPr>
            <a:r>
              <a:rPr lang="en-US" sz="2200" b="1" dirty="0">
                <a:solidFill>
                  <a:srgbClr val="0B1F33"/>
                </a:solidFill>
                <a:latin typeface="Arial" pitchFamily="34" charset="0"/>
                <a:ea typeface="Arial" pitchFamily="34" charset="-122"/>
                <a:cs typeface="Arial" pitchFamily="34" charset="-120"/>
              </a:rPr>
              <a:t>12</a:t>
            </a:r>
            <a:endParaRPr lang="en-US" sz="2200" dirty="0"/>
          </a:p>
        </p:txBody>
      </p:sp>
      <p:sp>
        <p:nvSpPr>
          <p:cNvPr id="24" name="Shape 22"/>
          <p:cNvSpPr/>
          <p:nvPr/>
        </p:nvSpPr>
        <p:spPr>
          <a:xfrm>
            <a:off x="777240" y="2715768"/>
            <a:ext cx="4892040" cy="3364992"/>
          </a:xfrm>
          <a:prstGeom prst="rect">
            <a:avLst/>
          </a:prstGeom>
          <a:solidFill>
            <a:srgbClr val="FFFFFF"/>
          </a:solidFill>
          <a:ln w="9525">
            <a:solidFill>
              <a:srgbClr val="D9E1EA"/>
            </a:solidFill>
            <a:prstDash val="solid"/>
          </a:ln>
        </p:spPr>
      </p:sp>
      <p:sp>
        <p:nvSpPr>
          <p:cNvPr id="25" name="Text 23"/>
          <p:cNvSpPr txBox="1"/>
          <p:nvPr/>
        </p:nvSpPr>
        <p:spPr>
          <a:xfrm>
            <a:off x="914400" y="2807208"/>
            <a:ext cx="4617720" cy="228600"/>
          </a:xfrm>
          <a:prstGeom prst="rect">
            <a:avLst/>
          </a:prstGeom>
          <a:noFill/>
          <a:ln/>
        </p:spPr>
        <p:txBody>
          <a:bodyPr wrap="square" lIns="0" tIns="0" rIns="0" bIns="0" rtlCol="0" anchor="t"/>
          <a:lstStyle/>
          <a:p>
            <a:pPr algn="l" indent="0" marL="0">
              <a:buNone/>
            </a:pPr>
            <a:r>
              <a:rPr lang="en-US" sz="1200" b="1" dirty="0">
                <a:solidFill>
                  <a:srgbClr val="0B1F33"/>
                </a:solidFill>
                <a:latin typeface="Arial" pitchFamily="34" charset="0"/>
                <a:ea typeface="Arial" pitchFamily="34" charset="-122"/>
                <a:cs typeface="Arial" pitchFamily="34" charset="-120"/>
              </a:rPr>
              <a:t>Cash Flow, Jan–Jun (₹ Cr)</a:t>
            </a:r>
            <a:endParaRPr lang="en-US" sz="1200" dirty="0"/>
          </a:p>
        </p:txBody>
      </p:sp>
      <p:graphicFrame>
        <p:nvGraphicFramePr>
          <p:cNvPr id="26" name="Chart 0" descr=""/>
          <p:cNvGraphicFramePr/>
          <p:nvPr/>
        </p:nvGraphicFramePr>
        <p:xfrm>
          <a:off x="822960" y="3063240"/>
          <a:ext cx="4800600" cy="2953512"/>
        </p:xfrm>
        <a:graphic xmlns:a="http://schemas.openxmlformats.org/drawingml/2006/main">
          <a:graphicData uri="http://schemas.openxmlformats.org/drawingml/2006/chart">
            <c:chart xmlns:c="http://schemas.openxmlformats.org/drawingml/2006/chart" r:id="rId1"/>
          </a:graphicData>
        </a:graphic>
      </p:graphicFrame>
      <p:sp>
        <p:nvSpPr>
          <p:cNvPr id="27" name="Shape 24"/>
          <p:cNvSpPr/>
          <p:nvPr/>
        </p:nvSpPr>
        <p:spPr>
          <a:xfrm>
            <a:off x="5806440" y="2715768"/>
            <a:ext cx="3154680" cy="1613916"/>
          </a:xfrm>
          <a:prstGeom prst="rect">
            <a:avLst/>
          </a:prstGeom>
          <a:solidFill>
            <a:srgbClr val="FFFFFF"/>
          </a:solidFill>
          <a:ln w="9525">
            <a:solidFill>
              <a:srgbClr val="D9E1EA"/>
            </a:solidFill>
            <a:prstDash val="solid"/>
          </a:ln>
        </p:spPr>
      </p:sp>
      <p:sp>
        <p:nvSpPr>
          <p:cNvPr id="28" name="Text 25"/>
          <p:cNvSpPr txBox="1"/>
          <p:nvPr/>
        </p:nvSpPr>
        <p:spPr>
          <a:xfrm>
            <a:off x="5943600" y="2788920"/>
            <a:ext cx="2880360" cy="201168"/>
          </a:xfrm>
          <a:prstGeom prst="rect">
            <a:avLst/>
          </a:prstGeom>
          <a:noFill/>
          <a:ln/>
        </p:spPr>
        <p:txBody>
          <a:bodyPr wrap="square" lIns="0" tIns="0" rIns="0" bIns="0" rtlCol="0" anchor="t"/>
          <a:lstStyle/>
          <a:p>
            <a:pPr algn="l" indent="0" marL="0">
              <a:buNone/>
            </a:pPr>
            <a:r>
              <a:rPr lang="en-US" sz="1150" b="1" dirty="0">
                <a:solidFill>
                  <a:srgbClr val="0B1F33"/>
                </a:solidFill>
                <a:latin typeface="Arial" pitchFamily="34" charset="0"/>
                <a:ea typeface="Arial" pitchFamily="34" charset="-122"/>
                <a:cs typeface="Arial" pitchFamily="34" charset="-120"/>
              </a:rPr>
              <a:t>Risk Trend</a:t>
            </a:r>
            <a:endParaRPr lang="en-US" sz="1150" dirty="0"/>
          </a:p>
        </p:txBody>
      </p:sp>
      <p:graphicFrame>
        <p:nvGraphicFramePr>
          <p:cNvPr id="29" name="Chart 1" descr=""/>
          <p:cNvGraphicFramePr/>
          <p:nvPr/>
        </p:nvGraphicFramePr>
        <p:xfrm>
          <a:off x="5852160" y="2990088"/>
          <a:ext cx="3063240" cy="1046988"/>
        </p:xfrm>
        <a:graphic xmlns:a="http://schemas.openxmlformats.org/drawingml/2006/main">
          <a:graphicData uri="http://schemas.openxmlformats.org/drawingml/2006/chart">
            <c:chart xmlns:c="http://schemas.openxmlformats.org/drawingml/2006/chart" r:id="rId2"/>
          </a:graphicData>
        </a:graphic>
      </p:graphicFrame>
      <p:sp>
        <p:nvSpPr>
          <p:cNvPr id="30" name="Text 26"/>
          <p:cNvSpPr txBox="1"/>
          <p:nvPr/>
        </p:nvSpPr>
        <p:spPr>
          <a:xfrm>
            <a:off x="5943600" y="4091940"/>
            <a:ext cx="2880360" cy="201168"/>
          </a:xfrm>
          <a:prstGeom prst="rect">
            <a:avLst/>
          </a:prstGeom>
          <a:noFill/>
          <a:ln/>
        </p:spPr>
        <p:txBody>
          <a:bodyPr wrap="square" lIns="0" tIns="0" rIns="0" bIns="0" rtlCol="0" anchor="t"/>
          <a:lstStyle/>
          <a:p>
            <a:pPr algn="l" indent="0" marL="0">
              <a:buNone/>
            </a:pPr>
            <a:r>
              <a:rPr lang="en-US" sz="850" i="1" dirty="0">
                <a:solidFill>
                  <a:srgbClr val="667085"/>
                </a:solidFill>
                <a:latin typeface="Arial" pitchFamily="34" charset="0"/>
                <a:ea typeface="Arial" pitchFamily="34" charset="-122"/>
                <a:cs typeface="Arial" pitchFamily="34" charset="-120"/>
              </a:rPr>
              <a:t>Lower score indicates lower simulated financial risk.</a:t>
            </a:r>
            <a:endParaRPr lang="en-US" sz="850" dirty="0"/>
          </a:p>
        </p:txBody>
      </p:sp>
      <p:sp>
        <p:nvSpPr>
          <p:cNvPr id="31" name="Shape 27"/>
          <p:cNvSpPr/>
          <p:nvPr/>
        </p:nvSpPr>
        <p:spPr>
          <a:xfrm>
            <a:off x="5806440" y="4466844"/>
            <a:ext cx="3154680" cy="1613916"/>
          </a:xfrm>
          <a:prstGeom prst="rect">
            <a:avLst/>
          </a:prstGeom>
          <a:solidFill>
            <a:srgbClr val="FFFFFF"/>
          </a:solidFill>
          <a:ln w="9525">
            <a:solidFill>
              <a:srgbClr val="D9E1EA"/>
            </a:solidFill>
            <a:prstDash val="solid"/>
          </a:ln>
        </p:spPr>
      </p:sp>
      <p:sp>
        <p:nvSpPr>
          <p:cNvPr id="32" name="Text 28"/>
          <p:cNvSpPr txBox="1"/>
          <p:nvPr/>
        </p:nvSpPr>
        <p:spPr>
          <a:xfrm>
            <a:off x="5943600" y="4539996"/>
            <a:ext cx="2880360" cy="201168"/>
          </a:xfrm>
          <a:prstGeom prst="rect">
            <a:avLst/>
          </a:prstGeom>
          <a:noFill/>
          <a:ln/>
        </p:spPr>
        <p:txBody>
          <a:bodyPr wrap="square" lIns="0" tIns="0" rIns="0" bIns="0" rtlCol="0" anchor="t"/>
          <a:lstStyle/>
          <a:p>
            <a:pPr algn="l" indent="0" marL="0">
              <a:buNone/>
            </a:pPr>
            <a:r>
              <a:rPr lang="en-US" sz="1150" b="1" dirty="0">
                <a:solidFill>
                  <a:srgbClr val="0B1F33"/>
                </a:solidFill>
                <a:latin typeface="Arial" pitchFamily="34" charset="0"/>
                <a:ea typeface="Arial" pitchFamily="34" charset="-122"/>
                <a:cs typeface="Arial" pitchFamily="34" charset="-120"/>
              </a:rPr>
              <a:t>Payment Status (count)</a:t>
            </a:r>
            <a:endParaRPr lang="en-US" sz="1150" dirty="0"/>
          </a:p>
        </p:txBody>
      </p:sp>
      <p:graphicFrame>
        <p:nvGraphicFramePr>
          <p:cNvPr id="33" name="Chart 2" descr=""/>
          <p:cNvGraphicFramePr/>
          <p:nvPr/>
        </p:nvGraphicFramePr>
        <p:xfrm>
          <a:off x="5852160" y="4741164"/>
          <a:ext cx="3063240" cy="1303020"/>
        </p:xfrm>
        <a:graphic xmlns:a="http://schemas.openxmlformats.org/drawingml/2006/main">
          <a:graphicData uri="http://schemas.openxmlformats.org/drawingml/2006/chart">
            <c:chart xmlns:c="http://schemas.openxmlformats.org/drawingml/2006/chart" r:id="rId3"/>
          </a:graphicData>
        </a:graphic>
      </p:graphicFrame>
      <p:sp>
        <p:nvSpPr>
          <p:cNvPr id="34" name="Shape 29"/>
          <p:cNvSpPr/>
          <p:nvPr/>
        </p:nvSpPr>
        <p:spPr>
          <a:xfrm>
            <a:off x="9098280" y="2715768"/>
            <a:ext cx="2316175" cy="3364992"/>
          </a:xfrm>
          <a:prstGeom prst="rect">
            <a:avLst/>
          </a:prstGeom>
          <a:solidFill>
            <a:srgbClr val="FFFFFF"/>
          </a:solidFill>
          <a:ln w="9525">
            <a:solidFill>
              <a:srgbClr val="D9E1EA"/>
            </a:solidFill>
            <a:prstDash val="solid"/>
          </a:ln>
        </p:spPr>
      </p:sp>
      <p:sp>
        <p:nvSpPr>
          <p:cNvPr id="35" name="Text 30"/>
          <p:cNvSpPr txBox="1"/>
          <p:nvPr/>
        </p:nvSpPr>
        <p:spPr>
          <a:xfrm>
            <a:off x="9235440" y="2807208"/>
            <a:ext cx="2041855" cy="228600"/>
          </a:xfrm>
          <a:prstGeom prst="rect">
            <a:avLst/>
          </a:prstGeom>
          <a:noFill/>
          <a:ln/>
        </p:spPr>
        <p:txBody>
          <a:bodyPr wrap="square" lIns="0" tIns="0" rIns="0" bIns="0" rtlCol="0" anchor="t"/>
          <a:lstStyle/>
          <a:p>
            <a:pPr algn="l" indent="0" marL="0">
              <a:buNone/>
            </a:pPr>
            <a:r>
              <a:rPr lang="en-US" sz="1200" b="1" dirty="0">
                <a:solidFill>
                  <a:srgbClr val="0B1F33"/>
                </a:solidFill>
                <a:latin typeface="Arial" pitchFamily="34" charset="0"/>
                <a:ea typeface="Arial" pitchFamily="34" charset="-122"/>
                <a:cs typeface="Arial" pitchFamily="34" charset="-120"/>
              </a:rPr>
              <a:t>Agent Activity</a:t>
            </a:r>
            <a:endParaRPr lang="en-US" sz="1200" dirty="0"/>
          </a:p>
        </p:txBody>
      </p:sp>
      <p:sp>
        <p:nvSpPr>
          <p:cNvPr id="36" name="Shape 31"/>
          <p:cNvSpPr/>
          <p:nvPr/>
        </p:nvSpPr>
        <p:spPr>
          <a:xfrm>
            <a:off x="9235440" y="3127248"/>
            <a:ext cx="2041855" cy="0"/>
          </a:xfrm>
          <a:prstGeom prst="line">
            <a:avLst/>
          </a:prstGeom>
          <a:noFill/>
          <a:ln w="9525">
            <a:solidFill>
              <a:srgbClr val="D9E1EA"/>
            </a:solidFill>
            <a:prstDash val="solid"/>
          </a:ln>
        </p:spPr>
      </p:sp>
      <p:sp>
        <p:nvSpPr>
          <p:cNvPr id="37" name="Shape 32"/>
          <p:cNvSpPr/>
          <p:nvPr/>
        </p:nvSpPr>
        <p:spPr>
          <a:xfrm>
            <a:off x="9235440" y="3372307"/>
            <a:ext cx="91440" cy="91440"/>
          </a:xfrm>
          <a:prstGeom prst="rect">
            <a:avLst/>
          </a:prstGeom>
          <a:solidFill>
            <a:srgbClr val="16845B"/>
          </a:solidFill>
          <a:ln/>
        </p:spPr>
      </p:sp>
      <p:sp>
        <p:nvSpPr>
          <p:cNvPr id="38" name="Text 33"/>
          <p:cNvSpPr txBox="1"/>
          <p:nvPr/>
        </p:nvSpPr>
        <p:spPr>
          <a:xfrm>
            <a:off x="9427464" y="3218688"/>
            <a:ext cx="1858975" cy="228600"/>
          </a:xfrm>
          <a:prstGeom prst="rect">
            <a:avLst/>
          </a:prstGeom>
          <a:noFill/>
          <a:ln/>
        </p:spPr>
        <p:txBody>
          <a:bodyPr wrap="square" lIns="0" tIns="0" rIns="0" bIns="0" rtlCol="0" anchor="t"/>
          <a:lstStyle/>
          <a:p>
            <a:pPr algn="l" indent="0" marL="0">
              <a:buNone/>
            </a:pPr>
            <a:r>
              <a:rPr lang="en-US" sz="1150" dirty="0">
                <a:solidFill>
                  <a:srgbClr val="0B1F33"/>
                </a:solidFill>
                <a:latin typeface="Arial" pitchFamily="34" charset="0"/>
                <a:ea typeface="Arial" pitchFamily="34" charset="-122"/>
                <a:cs typeface="Arial" pitchFamily="34" charset="-120"/>
              </a:rPr>
              <a:t>Monitoring Agent</a:t>
            </a:r>
            <a:endParaRPr lang="en-US" sz="1150" dirty="0"/>
          </a:p>
        </p:txBody>
      </p:sp>
      <p:sp>
        <p:nvSpPr>
          <p:cNvPr id="39" name="Text 34"/>
          <p:cNvSpPr txBox="1"/>
          <p:nvPr/>
        </p:nvSpPr>
        <p:spPr>
          <a:xfrm>
            <a:off x="9427464" y="3456432"/>
            <a:ext cx="1858975" cy="201168"/>
          </a:xfrm>
          <a:prstGeom prst="rect">
            <a:avLst/>
          </a:prstGeom>
          <a:noFill/>
          <a:ln/>
        </p:spPr>
        <p:txBody>
          <a:bodyPr wrap="square" lIns="0" tIns="0" rIns="0" bIns="0" rtlCol="0" anchor="t"/>
          <a:lstStyle/>
          <a:p>
            <a:pPr algn="l" indent="0" marL="0">
              <a:buNone/>
            </a:pPr>
            <a:r>
              <a:rPr lang="en-US" sz="1050" b="1" spc="50" kern="0" dirty="0">
                <a:solidFill>
                  <a:srgbClr val="16845B"/>
                </a:solidFill>
                <a:latin typeface="Arial" pitchFamily="34" charset="0"/>
                <a:ea typeface="Arial" pitchFamily="34" charset="-122"/>
                <a:cs typeface="Arial" pitchFamily="34" charset="-120"/>
              </a:rPr>
              <a:t>ACTIVE</a:t>
            </a:r>
            <a:endParaRPr lang="en-US" sz="1050" dirty="0"/>
          </a:p>
        </p:txBody>
      </p:sp>
      <p:sp>
        <p:nvSpPr>
          <p:cNvPr id="40" name="Shape 35"/>
          <p:cNvSpPr/>
          <p:nvPr/>
        </p:nvSpPr>
        <p:spPr>
          <a:xfrm>
            <a:off x="9235440" y="3708806"/>
            <a:ext cx="2041855" cy="0"/>
          </a:xfrm>
          <a:prstGeom prst="line">
            <a:avLst/>
          </a:prstGeom>
          <a:noFill/>
          <a:ln w="9525">
            <a:solidFill>
              <a:srgbClr val="D9E1EA"/>
            </a:solidFill>
            <a:prstDash val="solid"/>
          </a:ln>
        </p:spPr>
      </p:sp>
      <p:sp>
        <p:nvSpPr>
          <p:cNvPr id="41" name="Shape 36"/>
          <p:cNvSpPr/>
          <p:nvPr/>
        </p:nvSpPr>
        <p:spPr>
          <a:xfrm>
            <a:off x="9235440" y="3953866"/>
            <a:ext cx="91440" cy="91440"/>
          </a:xfrm>
          <a:prstGeom prst="rect">
            <a:avLst/>
          </a:prstGeom>
          <a:solidFill>
            <a:srgbClr val="1769AA"/>
          </a:solidFill>
          <a:ln/>
        </p:spPr>
      </p:sp>
      <p:sp>
        <p:nvSpPr>
          <p:cNvPr id="42" name="Text 37"/>
          <p:cNvSpPr txBox="1"/>
          <p:nvPr/>
        </p:nvSpPr>
        <p:spPr>
          <a:xfrm>
            <a:off x="9427464" y="3800246"/>
            <a:ext cx="1858975" cy="228600"/>
          </a:xfrm>
          <a:prstGeom prst="rect">
            <a:avLst/>
          </a:prstGeom>
          <a:noFill/>
          <a:ln/>
        </p:spPr>
        <p:txBody>
          <a:bodyPr wrap="square" lIns="0" tIns="0" rIns="0" bIns="0" rtlCol="0" anchor="t"/>
          <a:lstStyle/>
          <a:p>
            <a:pPr algn="l" indent="0" marL="0">
              <a:buNone/>
            </a:pPr>
            <a:r>
              <a:rPr lang="en-US" sz="1150" dirty="0">
                <a:solidFill>
                  <a:srgbClr val="0B1F33"/>
                </a:solidFill>
                <a:latin typeface="Arial" pitchFamily="34" charset="0"/>
                <a:ea typeface="Arial" pitchFamily="34" charset="-122"/>
                <a:cs typeface="Arial" pitchFamily="34" charset="-120"/>
              </a:rPr>
              <a:t>Cash Flow Agent</a:t>
            </a:r>
            <a:endParaRPr lang="en-US" sz="1150" dirty="0"/>
          </a:p>
        </p:txBody>
      </p:sp>
      <p:sp>
        <p:nvSpPr>
          <p:cNvPr id="43" name="Text 38"/>
          <p:cNvSpPr txBox="1"/>
          <p:nvPr/>
        </p:nvSpPr>
        <p:spPr>
          <a:xfrm>
            <a:off x="9427464" y="4037990"/>
            <a:ext cx="1858975" cy="201168"/>
          </a:xfrm>
          <a:prstGeom prst="rect">
            <a:avLst/>
          </a:prstGeom>
          <a:noFill/>
          <a:ln/>
        </p:spPr>
        <p:txBody>
          <a:bodyPr wrap="square" lIns="0" tIns="0" rIns="0" bIns="0" rtlCol="0" anchor="t"/>
          <a:lstStyle/>
          <a:p>
            <a:pPr algn="l" indent="0" marL="0">
              <a:buNone/>
            </a:pPr>
            <a:r>
              <a:rPr lang="en-US" sz="1050" b="1" spc="50" kern="0" dirty="0">
                <a:solidFill>
                  <a:srgbClr val="1769AA"/>
                </a:solidFill>
                <a:latin typeface="Arial" pitchFamily="34" charset="0"/>
                <a:ea typeface="Arial" pitchFamily="34" charset="-122"/>
                <a:cs typeface="Arial" pitchFamily="34" charset="-120"/>
              </a:rPr>
              <a:t>ANALYZING</a:t>
            </a:r>
            <a:endParaRPr lang="en-US" sz="1050" dirty="0"/>
          </a:p>
        </p:txBody>
      </p:sp>
      <p:sp>
        <p:nvSpPr>
          <p:cNvPr id="44" name="Shape 39"/>
          <p:cNvSpPr/>
          <p:nvPr/>
        </p:nvSpPr>
        <p:spPr>
          <a:xfrm>
            <a:off x="9235440" y="4290365"/>
            <a:ext cx="2041855" cy="0"/>
          </a:xfrm>
          <a:prstGeom prst="line">
            <a:avLst/>
          </a:prstGeom>
          <a:noFill/>
          <a:ln w="9525">
            <a:solidFill>
              <a:srgbClr val="D9E1EA"/>
            </a:solidFill>
            <a:prstDash val="solid"/>
          </a:ln>
        </p:spPr>
      </p:sp>
      <p:sp>
        <p:nvSpPr>
          <p:cNvPr id="45" name="Shape 40"/>
          <p:cNvSpPr/>
          <p:nvPr/>
        </p:nvSpPr>
        <p:spPr>
          <a:xfrm>
            <a:off x="9235440" y="4535424"/>
            <a:ext cx="91440" cy="91440"/>
          </a:xfrm>
          <a:prstGeom prst="rect">
            <a:avLst/>
          </a:prstGeom>
          <a:solidFill>
            <a:srgbClr val="16845B"/>
          </a:solidFill>
          <a:ln/>
        </p:spPr>
      </p:sp>
      <p:sp>
        <p:nvSpPr>
          <p:cNvPr id="46" name="Text 41"/>
          <p:cNvSpPr txBox="1"/>
          <p:nvPr/>
        </p:nvSpPr>
        <p:spPr>
          <a:xfrm>
            <a:off x="9427464" y="4381805"/>
            <a:ext cx="1858975" cy="228600"/>
          </a:xfrm>
          <a:prstGeom prst="rect">
            <a:avLst/>
          </a:prstGeom>
          <a:noFill/>
          <a:ln/>
        </p:spPr>
        <p:txBody>
          <a:bodyPr wrap="square" lIns="0" tIns="0" rIns="0" bIns="0" rtlCol="0" anchor="t"/>
          <a:lstStyle/>
          <a:p>
            <a:pPr algn="l" indent="0" marL="0">
              <a:buNone/>
            </a:pPr>
            <a:r>
              <a:rPr lang="en-US" sz="1150" dirty="0">
                <a:solidFill>
                  <a:srgbClr val="0B1F33"/>
                </a:solidFill>
                <a:latin typeface="Arial" pitchFamily="34" charset="0"/>
                <a:ea typeface="Arial" pitchFamily="34" charset="-122"/>
                <a:cs typeface="Arial" pitchFamily="34" charset="-120"/>
              </a:rPr>
              <a:t>Risk Agent</a:t>
            </a:r>
            <a:endParaRPr lang="en-US" sz="1150" dirty="0"/>
          </a:p>
        </p:txBody>
      </p:sp>
      <p:sp>
        <p:nvSpPr>
          <p:cNvPr id="47" name="Text 42"/>
          <p:cNvSpPr txBox="1"/>
          <p:nvPr/>
        </p:nvSpPr>
        <p:spPr>
          <a:xfrm>
            <a:off x="9427464" y="4619549"/>
            <a:ext cx="1858975" cy="201168"/>
          </a:xfrm>
          <a:prstGeom prst="rect">
            <a:avLst/>
          </a:prstGeom>
          <a:noFill/>
          <a:ln/>
        </p:spPr>
        <p:txBody>
          <a:bodyPr wrap="square" lIns="0" tIns="0" rIns="0" bIns="0" rtlCol="0" anchor="t"/>
          <a:lstStyle/>
          <a:p>
            <a:pPr algn="l" indent="0" marL="0">
              <a:buNone/>
            </a:pPr>
            <a:r>
              <a:rPr lang="en-US" sz="1050" b="1" spc="50" kern="0" dirty="0">
                <a:solidFill>
                  <a:srgbClr val="16845B"/>
                </a:solidFill>
                <a:latin typeface="Arial" pitchFamily="34" charset="0"/>
                <a:ea typeface="Arial" pitchFamily="34" charset="-122"/>
                <a:cs typeface="Arial" pitchFamily="34" charset="-120"/>
              </a:rPr>
              <a:t>LOW RISK</a:t>
            </a:r>
            <a:endParaRPr lang="en-US" sz="1050" dirty="0"/>
          </a:p>
        </p:txBody>
      </p:sp>
      <p:sp>
        <p:nvSpPr>
          <p:cNvPr id="48" name="Shape 43"/>
          <p:cNvSpPr/>
          <p:nvPr/>
        </p:nvSpPr>
        <p:spPr>
          <a:xfrm>
            <a:off x="9235440" y="4871923"/>
            <a:ext cx="2041855" cy="0"/>
          </a:xfrm>
          <a:prstGeom prst="line">
            <a:avLst/>
          </a:prstGeom>
          <a:noFill/>
          <a:ln w="9525">
            <a:solidFill>
              <a:srgbClr val="D9E1EA"/>
            </a:solidFill>
            <a:prstDash val="solid"/>
          </a:ln>
        </p:spPr>
      </p:sp>
      <p:sp>
        <p:nvSpPr>
          <p:cNvPr id="49" name="Shape 44"/>
          <p:cNvSpPr/>
          <p:nvPr/>
        </p:nvSpPr>
        <p:spPr>
          <a:xfrm>
            <a:off x="9235440" y="5116982"/>
            <a:ext cx="91440" cy="91440"/>
          </a:xfrm>
          <a:prstGeom prst="rect">
            <a:avLst/>
          </a:prstGeom>
          <a:solidFill>
            <a:srgbClr val="16845B"/>
          </a:solidFill>
          <a:ln/>
        </p:spPr>
      </p:sp>
      <p:sp>
        <p:nvSpPr>
          <p:cNvPr id="50" name="Text 45"/>
          <p:cNvSpPr txBox="1"/>
          <p:nvPr/>
        </p:nvSpPr>
        <p:spPr>
          <a:xfrm>
            <a:off x="9427464" y="4963363"/>
            <a:ext cx="1858975" cy="228600"/>
          </a:xfrm>
          <a:prstGeom prst="rect">
            <a:avLst/>
          </a:prstGeom>
          <a:noFill/>
          <a:ln/>
        </p:spPr>
        <p:txBody>
          <a:bodyPr wrap="square" lIns="0" tIns="0" rIns="0" bIns="0" rtlCol="0" anchor="t"/>
          <a:lstStyle/>
          <a:p>
            <a:pPr algn="l" indent="0" marL="0">
              <a:buNone/>
            </a:pPr>
            <a:r>
              <a:rPr lang="en-US" sz="1150" dirty="0">
                <a:solidFill>
                  <a:srgbClr val="0B1F33"/>
                </a:solidFill>
                <a:latin typeface="Arial" pitchFamily="34" charset="0"/>
                <a:ea typeface="Arial" pitchFamily="34" charset="-122"/>
                <a:cs typeface="Arial" pitchFamily="34" charset="-120"/>
              </a:rPr>
              <a:t>Policy Guardian</a:t>
            </a:r>
            <a:endParaRPr lang="en-US" sz="1150" dirty="0"/>
          </a:p>
        </p:txBody>
      </p:sp>
      <p:sp>
        <p:nvSpPr>
          <p:cNvPr id="51" name="Text 46"/>
          <p:cNvSpPr txBox="1"/>
          <p:nvPr/>
        </p:nvSpPr>
        <p:spPr>
          <a:xfrm>
            <a:off x="9427464" y="5201107"/>
            <a:ext cx="1858975" cy="201168"/>
          </a:xfrm>
          <a:prstGeom prst="rect">
            <a:avLst/>
          </a:prstGeom>
          <a:noFill/>
          <a:ln/>
        </p:spPr>
        <p:txBody>
          <a:bodyPr wrap="square" lIns="0" tIns="0" rIns="0" bIns="0" rtlCol="0" anchor="t"/>
          <a:lstStyle/>
          <a:p>
            <a:pPr algn="l" indent="0" marL="0">
              <a:buNone/>
            </a:pPr>
            <a:r>
              <a:rPr lang="en-US" sz="1050" b="1" spc="50" kern="0" dirty="0">
                <a:solidFill>
                  <a:srgbClr val="16845B"/>
                </a:solidFill>
                <a:latin typeface="Arial" pitchFamily="34" charset="0"/>
                <a:ea typeface="Arial" pitchFamily="34" charset="-122"/>
                <a:cs typeface="Arial" pitchFamily="34" charset="-120"/>
              </a:rPr>
              <a:t>VALIDATED</a:t>
            </a:r>
            <a:endParaRPr lang="en-US" sz="1050" dirty="0"/>
          </a:p>
        </p:txBody>
      </p:sp>
      <p:sp>
        <p:nvSpPr>
          <p:cNvPr id="52" name="Shape 47"/>
          <p:cNvSpPr/>
          <p:nvPr/>
        </p:nvSpPr>
        <p:spPr>
          <a:xfrm>
            <a:off x="9235440" y="5453482"/>
            <a:ext cx="2041855" cy="0"/>
          </a:xfrm>
          <a:prstGeom prst="line">
            <a:avLst/>
          </a:prstGeom>
          <a:noFill/>
          <a:ln w="9525">
            <a:solidFill>
              <a:srgbClr val="D9E1EA"/>
            </a:solidFill>
            <a:prstDash val="solid"/>
          </a:ln>
        </p:spPr>
      </p:sp>
      <p:sp>
        <p:nvSpPr>
          <p:cNvPr id="53" name="Shape 48"/>
          <p:cNvSpPr/>
          <p:nvPr/>
        </p:nvSpPr>
        <p:spPr>
          <a:xfrm>
            <a:off x="9235440" y="5698541"/>
            <a:ext cx="91440" cy="91440"/>
          </a:xfrm>
          <a:prstGeom prst="rect">
            <a:avLst/>
          </a:prstGeom>
          <a:solidFill>
            <a:srgbClr val="B45F06"/>
          </a:solidFill>
          <a:ln/>
        </p:spPr>
      </p:sp>
      <p:sp>
        <p:nvSpPr>
          <p:cNvPr id="54" name="Text 49"/>
          <p:cNvSpPr txBox="1"/>
          <p:nvPr/>
        </p:nvSpPr>
        <p:spPr>
          <a:xfrm>
            <a:off x="9427464" y="5544922"/>
            <a:ext cx="1858975" cy="228600"/>
          </a:xfrm>
          <a:prstGeom prst="rect">
            <a:avLst/>
          </a:prstGeom>
          <a:noFill/>
          <a:ln/>
        </p:spPr>
        <p:txBody>
          <a:bodyPr wrap="square" lIns="0" tIns="0" rIns="0" bIns="0" rtlCol="0" anchor="t"/>
          <a:lstStyle/>
          <a:p>
            <a:pPr algn="l" indent="0" marL="0">
              <a:buNone/>
            </a:pPr>
            <a:r>
              <a:rPr lang="en-US" sz="1150" dirty="0">
                <a:solidFill>
                  <a:srgbClr val="0B1F33"/>
                </a:solidFill>
                <a:latin typeface="Arial" pitchFamily="34" charset="0"/>
                <a:ea typeface="Arial" pitchFamily="34" charset="-122"/>
                <a:cs typeface="Arial" pitchFamily="34" charset="-120"/>
              </a:rPr>
              <a:t>Approval Required</a:t>
            </a:r>
            <a:endParaRPr lang="en-US" sz="1150" dirty="0"/>
          </a:p>
        </p:txBody>
      </p:sp>
      <p:sp>
        <p:nvSpPr>
          <p:cNvPr id="55" name="Text 50"/>
          <p:cNvSpPr txBox="1"/>
          <p:nvPr/>
        </p:nvSpPr>
        <p:spPr>
          <a:xfrm>
            <a:off x="9427464" y="5782666"/>
            <a:ext cx="1858975" cy="201168"/>
          </a:xfrm>
          <a:prstGeom prst="rect">
            <a:avLst/>
          </a:prstGeom>
          <a:noFill/>
          <a:ln/>
        </p:spPr>
        <p:txBody>
          <a:bodyPr wrap="square" lIns="0" tIns="0" rIns="0" bIns="0" rtlCol="0" anchor="t"/>
          <a:lstStyle/>
          <a:p>
            <a:pPr algn="l" indent="0" marL="0">
              <a:buNone/>
            </a:pPr>
            <a:r>
              <a:rPr lang="en-US" sz="1050" b="1" spc="50" kern="0" dirty="0">
                <a:solidFill>
                  <a:srgbClr val="B45F06"/>
                </a:solidFill>
                <a:latin typeface="Arial" pitchFamily="34" charset="0"/>
                <a:ea typeface="Arial" pitchFamily="34" charset="-122"/>
                <a:cs typeface="Arial" pitchFamily="34" charset="-120"/>
              </a:rPr>
              <a:t>1 ACTION</a:t>
            </a:r>
            <a:endParaRPr lang="en-US" sz="1050" dirty="0"/>
          </a:p>
        </p:txBody>
      </p:sp>
      <p:sp>
        <p:nvSpPr>
          <p:cNvPr id="56" name="Shape 51"/>
          <p:cNvSpPr/>
          <p:nvPr/>
        </p:nvSpPr>
        <p:spPr>
          <a:xfrm>
            <a:off x="640080" y="6382512"/>
            <a:ext cx="10911535" cy="0"/>
          </a:xfrm>
          <a:prstGeom prst="line">
            <a:avLst/>
          </a:prstGeom>
          <a:noFill/>
          <a:ln w="9525">
            <a:solidFill>
              <a:srgbClr val="D9E1EA"/>
            </a:solidFill>
            <a:prstDash val="solid"/>
          </a:ln>
        </p:spPr>
      </p:sp>
      <p:sp>
        <p:nvSpPr>
          <p:cNvPr id="57" name="Text 52"/>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GOVERNANCE</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Financial Governance &amp; Control</a:t>
            </a:r>
            <a:endParaRPr lang="en-US" sz="3000" dirty="0"/>
          </a:p>
        </p:txBody>
      </p:sp>
      <p:sp>
        <p:nvSpPr>
          <p:cNvPr id="4" name="Text 2"/>
          <p:cNvSpPr txBox="1"/>
          <p:nvPr/>
        </p:nvSpPr>
        <p:spPr>
          <a:xfrm>
            <a:off x="640080" y="1417320"/>
            <a:ext cx="4571869" cy="201168"/>
          </a:xfrm>
          <a:prstGeom prst="rect">
            <a:avLst/>
          </a:prstGeom>
          <a:noFill/>
          <a:ln/>
        </p:spPr>
        <p:txBody>
          <a:bodyPr wrap="square" lIns="0" tIns="0" rIns="0" bIns="0" rtlCol="0" anchor="t"/>
          <a:lstStyle/>
          <a:p>
            <a:pPr algn="ctr" indent="0" marL="0">
              <a:buNone/>
            </a:pPr>
            <a:r>
              <a:rPr lang="en-US" sz="1050" b="1" spc="150" kern="0" dirty="0">
                <a:solidFill>
                  <a:srgbClr val="667085"/>
                </a:solidFill>
                <a:latin typeface="Arial" pitchFamily="34" charset="0"/>
                <a:ea typeface="Arial" pitchFamily="34" charset="-122"/>
                <a:cs typeface="Arial" pitchFamily="34" charset="-120"/>
              </a:rPr>
              <a:t>AUTOMATED ANALYSIS</a:t>
            </a:r>
            <a:endParaRPr lang="en-US" sz="1050" dirty="0"/>
          </a:p>
        </p:txBody>
      </p:sp>
      <p:sp>
        <p:nvSpPr>
          <p:cNvPr id="5" name="Shape 3"/>
          <p:cNvSpPr/>
          <p:nvPr/>
        </p:nvSpPr>
        <p:spPr>
          <a:xfrm>
            <a:off x="640080" y="1737360"/>
            <a:ext cx="4571869" cy="0"/>
          </a:xfrm>
          <a:prstGeom prst="line">
            <a:avLst/>
          </a:prstGeom>
          <a:noFill/>
          <a:ln w="12700">
            <a:solidFill>
              <a:srgbClr val="667085"/>
            </a:solidFill>
            <a:prstDash val="solid"/>
          </a:ln>
        </p:spPr>
      </p:sp>
      <p:sp>
        <p:nvSpPr>
          <p:cNvPr id="6" name="Shape 4"/>
          <p:cNvSpPr/>
          <p:nvPr/>
        </p:nvSpPr>
        <p:spPr>
          <a:xfrm>
            <a:off x="640080" y="1737360"/>
            <a:ext cx="0" cy="109728"/>
          </a:xfrm>
          <a:prstGeom prst="line">
            <a:avLst/>
          </a:prstGeom>
          <a:noFill/>
          <a:ln w="12700">
            <a:solidFill>
              <a:srgbClr val="667085"/>
            </a:solidFill>
            <a:prstDash val="solid"/>
          </a:ln>
        </p:spPr>
      </p:sp>
      <p:sp>
        <p:nvSpPr>
          <p:cNvPr id="7" name="Shape 5"/>
          <p:cNvSpPr/>
          <p:nvPr/>
        </p:nvSpPr>
        <p:spPr>
          <a:xfrm>
            <a:off x="5211949" y="1737360"/>
            <a:ext cx="0" cy="109728"/>
          </a:xfrm>
          <a:prstGeom prst="line">
            <a:avLst/>
          </a:prstGeom>
          <a:noFill/>
          <a:ln w="12700">
            <a:solidFill>
              <a:srgbClr val="667085"/>
            </a:solidFill>
            <a:prstDash val="solid"/>
          </a:ln>
        </p:spPr>
      </p:sp>
      <p:sp>
        <p:nvSpPr>
          <p:cNvPr id="8" name="Text 6"/>
          <p:cNvSpPr txBox="1"/>
          <p:nvPr/>
        </p:nvSpPr>
        <p:spPr>
          <a:xfrm>
            <a:off x="5394829" y="1417320"/>
            <a:ext cx="2986953" cy="201168"/>
          </a:xfrm>
          <a:prstGeom prst="rect">
            <a:avLst/>
          </a:prstGeom>
          <a:noFill/>
          <a:ln/>
        </p:spPr>
        <p:txBody>
          <a:bodyPr wrap="square" lIns="0" tIns="0" rIns="0" bIns="0" rtlCol="0" anchor="t"/>
          <a:lstStyle/>
          <a:p>
            <a:pPr algn="ctr" indent="0" marL="0">
              <a:buNone/>
            </a:pPr>
            <a:r>
              <a:rPr lang="en-US" sz="1050" b="1" spc="150" kern="0" dirty="0">
                <a:solidFill>
                  <a:srgbClr val="667085"/>
                </a:solidFill>
                <a:latin typeface="Arial" pitchFamily="34" charset="0"/>
                <a:ea typeface="Arial" pitchFamily="34" charset="-122"/>
                <a:cs typeface="Arial" pitchFamily="34" charset="-120"/>
              </a:rPr>
              <a:t>CONTROL GATES</a:t>
            </a:r>
            <a:endParaRPr lang="en-US" sz="1050" dirty="0"/>
          </a:p>
        </p:txBody>
      </p:sp>
      <p:sp>
        <p:nvSpPr>
          <p:cNvPr id="9" name="Shape 7"/>
          <p:cNvSpPr/>
          <p:nvPr/>
        </p:nvSpPr>
        <p:spPr>
          <a:xfrm>
            <a:off x="5394829" y="1737360"/>
            <a:ext cx="2986953" cy="0"/>
          </a:xfrm>
          <a:prstGeom prst="line">
            <a:avLst/>
          </a:prstGeom>
          <a:noFill/>
          <a:ln w="12700">
            <a:solidFill>
              <a:srgbClr val="667085"/>
            </a:solidFill>
            <a:prstDash val="solid"/>
          </a:ln>
        </p:spPr>
      </p:sp>
      <p:sp>
        <p:nvSpPr>
          <p:cNvPr id="10" name="Shape 8"/>
          <p:cNvSpPr/>
          <p:nvPr/>
        </p:nvSpPr>
        <p:spPr>
          <a:xfrm>
            <a:off x="5394829" y="1737360"/>
            <a:ext cx="0" cy="109728"/>
          </a:xfrm>
          <a:prstGeom prst="line">
            <a:avLst/>
          </a:prstGeom>
          <a:noFill/>
          <a:ln w="12700">
            <a:solidFill>
              <a:srgbClr val="667085"/>
            </a:solidFill>
            <a:prstDash val="solid"/>
          </a:ln>
        </p:spPr>
      </p:sp>
      <p:sp>
        <p:nvSpPr>
          <p:cNvPr id="11" name="Shape 9"/>
          <p:cNvSpPr/>
          <p:nvPr/>
        </p:nvSpPr>
        <p:spPr>
          <a:xfrm>
            <a:off x="8381782" y="1737360"/>
            <a:ext cx="0" cy="109728"/>
          </a:xfrm>
          <a:prstGeom prst="line">
            <a:avLst/>
          </a:prstGeom>
          <a:noFill/>
          <a:ln w="12700">
            <a:solidFill>
              <a:srgbClr val="667085"/>
            </a:solidFill>
            <a:prstDash val="solid"/>
          </a:ln>
        </p:spPr>
      </p:sp>
      <p:sp>
        <p:nvSpPr>
          <p:cNvPr id="12" name="Text 10"/>
          <p:cNvSpPr txBox="1"/>
          <p:nvPr/>
        </p:nvSpPr>
        <p:spPr>
          <a:xfrm>
            <a:off x="8564662" y="1417320"/>
            <a:ext cx="2986953" cy="201168"/>
          </a:xfrm>
          <a:prstGeom prst="rect">
            <a:avLst/>
          </a:prstGeom>
          <a:noFill/>
          <a:ln/>
        </p:spPr>
        <p:txBody>
          <a:bodyPr wrap="square" lIns="0" tIns="0" rIns="0" bIns="0" rtlCol="0" anchor="t"/>
          <a:lstStyle/>
          <a:p>
            <a:pPr algn="ctr" indent="0" marL="0">
              <a:buNone/>
            </a:pPr>
            <a:r>
              <a:rPr lang="en-US" sz="1050" b="1" spc="150" kern="0" dirty="0">
                <a:solidFill>
                  <a:srgbClr val="667085"/>
                </a:solidFill>
                <a:latin typeface="Arial" pitchFamily="34" charset="0"/>
                <a:ea typeface="Arial" pitchFamily="34" charset="-122"/>
                <a:cs typeface="Arial" pitchFamily="34" charset="-120"/>
              </a:rPr>
              <a:t>SIMULATION &amp; RECORD</a:t>
            </a:r>
            <a:endParaRPr lang="en-US" sz="1050" dirty="0"/>
          </a:p>
        </p:txBody>
      </p:sp>
      <p:sp>
        <p:nvSpPr>
          <p:cNvPr id="13" name="Shape 11"/>
          <p:cNvSpPr/>
          <p:nvPr/>
        </p:nvSpPr>
        <p:spPr>
          <a:xfrm>
            <a:off x="8564662" y="1737360"/>
            <a:ext cx="2986953" cy="0"/>
          </a:xfrm>
          <a:prstGeom prst="line">
            <a:avLst/>
          </a:prstGeom>
          <a:noFill/>
          <a:ln w="12700">
            <a:solidFill>
              <a:srgbClr val="667085"/>
            </a:solidFill>
            <a:prstDash val="solid"/>
          </a:ln>
        </p:spPr>
      </p:sp>
      <p:sp>
        <p:nvSpPr>
          <p:cNvPr id="14" name="Shape 12"/>
          <p:cNvSpPr/>
          <p:nvPr/>
        </p:nvSpPr>
        <p:spPr>
          <a:xfrm>
            <a:off x="8564662" y="1737360"/>
            <a:ext cx="0" cy="109728"/>
          </a:xfrm>
          <a:prstGeom prst="line">
            <a:avLst/>
          </a:prstGeom>
          <a:noFill/>
          <a:ln w="12700">
            <a:solidFill>
              <a:srgbClr val="667085"/>
            </a:solidFill>
            <a:prstDash val="solid"/>
          </a:ln>
        </p:spPr>
      </p:sp>
      <p:sp>
        <p:nvSpPr>
          <p:cNvPr id="15" name="Shape 13"/>
          <p:cNvSpPr/>
          <p:nvPr/>
        </p:nvSpPr>
        <p:spPr>
          <a:xfrm>
            <a:off x="11551615" y="1737360"/>
            <a:ext cx="0" cy="109728"/>
          </a:xfrm>
          <a:prstGeom prst="line">
            <a:avLst/>
          </a:prstGeom>
          <a:noFill/>
          <a:ln w="12700">
            <a:solidFill>
              <a:srgbClr val="667085"/>
            </a:solidFill>
            <a:prstDash val="solid"/>
          </a:ln>
        </p:spPr>
      </p:sp>
      <p:sp>
        <p:nvSpPr>
          <p:cNvPr id="16" name="Text 14"/>
          <p:cNvSpPr txBox="1"/>
          <p:nvPr/>
        </p:nvSpPr>
        <p:spPr>
          <a:xfrm>
            <a:off x="640080" y="2011680"/>
            <a:ext cx="1402036" cy="713232"/>
          </a:xfrm>
          <a:prstGeom prst="rect">
            <a:avLst/>
          </a:prstGeom>
          <a:solidFill>
            <a:srgbClr val="1769AA"/>
          </a:solidFill>
          <a:ln/>
        </p:spPr>
        <p:txBody>
          <a:bodyPr wrap="square" lIns="508" tIns="508" rIns="508" bIns="508"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Data</a:t>
            </a:r>
            <a:endParaRPr lang="en-US" sz="1150" dirty="0"/>
          </a:p>
        </p:txBody>
      </p:sp>
      <p:sp>
        <p:nvSpPr>
          <p:cNvPr id="17" name="Shape 15"/>
          <p:cNvSpPr/>
          <p:nvPr/>
        </p:nvSpPr>
        <p:spPr>
          <a:xfrm>
            <a:off x="2060404" y="2368296"/>
            <a:ext cx="146304" cy="0"/>
          </a:xfrm>
          <a:prstGeom prst="line">
            <a:avLst/>
          </a:prstGeom>
          <a:noFill/>
          <a:ln w="15875">
            <a:solidFill>
              <a:srgbClr val="667085"/>
            </a:solidFill>
            <a:prstDash val="solid"/>
            <a:tailEnd type="triangle"/>
          </a:ln>
        </p:spPr>
      </p:sp>
      <p:sp>
        <p:nvSpPr>
          <p:cNvPr id="18" name="Text 16"/>
          <p:cNvSpPr txBox="1"/>
          <p:nvPr/>
        </p:nvSpPr>
        <p:spPr>
          <a:xfrm>
            <a:off x="2224996" y="2011680"/>
            <a:ext cx="1402036" cy="713232"/>
          </a:xfrm>
          <a:prstGeom prst="rect">
            <a:avLst/>
          </a:prstGeom>
          <a:solidFill>
            <a:srgbClr val="12395A"/>
          </a:solidFill>
          <a:ln/>
        </p:spPr>
        <p:txBody>
          <a:bodyPr wrap="square" lIns="508" tIns="508" rIns="508" bIns="508"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Analysis</a:t>
            </a:r>
            <a:endParaRPr lang="en-US" sz="1150" dirty="0"/>
          </a:p>
        </p:txBody>
      </p:sp>
      <p:sp>
        <p:nvSpPr>
          <p:cNvPr id="19" name="Shape 17"/>
          <p:cNvSpPr/>
          <p:nvPr/>
        </p:nvSpPr>
        <p:spPr>
          <a:xfrm>
            <a:off x="3645321" y="2368296"/>
            <a:ext cx="146304" cy="0"/>
          </a:xfrm>
          <a:prstGeom prst="line">
            <a:avLst/>
          </a:prstGeom>
          <a:noFill/>
          <a:ln w="15875">
            <a:solidFill>
              <a:srgbClr val="667085"/>
            </a:solidFill>
            <a:prstDash val="solid"/>
            <a:tailEnd type="triangle"/>
          </a:ln>
        </p:spPr>
      </p:sp>
      <p:sp>
        <p:nvSpPr>
          <p:cNvPr id="20" name="Text 18"/>
          <p:cNvSpPr txBox="1"/>
          <p:nvPr/>
        </p:nvSpPr>
        <p:spPr>
          <a:xfrm>
            <a:off x="3809913" y="2011680"/>
            <a:ext cx="1402036" cy="713232"/>
          </a:xfrm>
          <a:prstGeom prst="rect">
            <a:avLst/>
          </a:prstGeom>
          <a:solidFill>
            <a:srgbClr val="12395A"/>
          </a:solidFill>
          <a:ln/>
        </p:spPr>
        <p:txBody>
          <a:bodyPr wrap="square" lIns="508" tIns="508" rIns="508" bIns="508"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Recommendation</a:t>
            </a:r>
            <a:endParaRPr lang="en-US" sz="1150" dirty="0"/>
          </a:p>
        </p:txBody>
      </p:sp>
      <p:sp>
        <p:nvSpPr>
          <p:cNvPr id="21" name="Shape 19"/>
          <p:cNvSpPr/>
          <p:nvPr/>
        </p:nvSpPr>
        <p:spPr>
          <a:xfrm>
            <a:off x="5230237" y="2368296"/>
            <a:ext cx="146304" cy="0"/>
          </a:xfrm>
          <a:prstGeom prst="line">
            <a:avLst/>
          </a:prstGeom>
          <a:noFill/>
          <a:ln w="15875">
            <a:solidFill>
              <a:srgbClr val="667085"/>
            </a:solidFill>
            <a:prstDash val="solid"/>
            <a:tailEnd type="triangle"/>
          </a:ln>
        </p:spPr>
      </p:sp>
      <p:sp>
        <p:nvSpPr>
          <p:cNvPr id="22" name="Text 20"/>
          <p:cNvSpPr txBox="1"/>
          <p:nvPr/>
        </p:nvSpPr>
        <p:spPr>
          <a:xfrm>
            <a:off x="5394829" y="2011680"/>
            <a:ext cx="1402036" cy="713232"/>
          </a:xfrm>
          <a:prstGeom prst="rect">
            <a:avLst/>
          </a:prstGeom>
          <a:solidFill>
            <a:srgbClr val="B45F06"/>
          </a:solidFill>
          <a:ln/>
        </p:spPr>
        <p:txBody>
          <a:bodyPr wrap="square" lIns="508" tIns="508" rIns="508" bIns="508"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Policy Validation</a:t>
            </a:r>
            <a:endParaRPr lang="en-US" sz="1150" dirty="0"/>
          </a:p>
        </p:txBody>
      </p:sp>
      <p:sp>
        <p:nvSpPr>
          <p:cNvPr id="23" name="Shape 21"/>
          <p:cNvSpPr/>
          <p:nvPr/>
        </p:nvSpPr>
        <p:spPr>
          <a:xfrm>
            <a:off x="6815154" y="2368296"/>
            <a:ext cx="146304" cy="0"/>
          </a:xfrm>
          <a:prstGeom prst="line">
            <a:avLst/>
          </a:prstGeom>
          <a:noFill/>
          <a:ln w="15875">
            <a:solidFill>
              <a:srgbClr val="667085"/>
            </a:solidFill>
            <a:prstDash val="solid"/>
            <a:tailEnd type="triangle"/>
          </a:ln>
        </p:spPr>
      </p:sp>
      <p:sp>
        <p:nvSpPr>
          <p:cNvPr id="24" name="Text 22"/>
          <p:cNvSpPr txBox="1"/>
          <p:nvPr/>
        </p:nvSpPr>
        <p:spPr>
          <a:xfrm>
            <a:off x="6979746" y="2011680"/>
            <a:ext cx="1402036" cy="713232"/>
          </a:xfrm>
          <a:prstGeom prst="rect">
            <a:avLst/>
          </a:prstGeom>
          <a:solidFill>
            <a:srgbClr val="16845B"/>
          </a:solidFill>
          <a:ln/>
        </p:spPr>
        <p:txBody>
          <a:bodyPr wrap="square" lIns="508" tIns="508" rIns="508" bIns="508"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Human Approval</a:t>
            </a:r>
            <a:endParaRPr lang="en-US" sz="1150" dirty="0"/>
          </a:p>
        </p:txBody>
      </p:sp>
      <p:sp>
        <p:nvSpPr>
          <p:cNvPr id="25" name="Shape 23"/>
          <p:cNvSpPr/>
          <p:nvPr/>
        </p:nvSpPr>
        <p:spPr>
          <a:xfrm>
            <a:off x="8400070" y="2368296"/>
            <a:ext cx="146304" cy="0"/>
          </a:xfrm>
          <a:prstGeom prst="line">
            <a:avLst/>
          </a:prstGeom>
          <a:noFill/>
          <a:ln w="15875">
            <a:solidFill>
              <a:srgbClr val="667085"/>
            </a:solidFill>
            <a:prstDash val="solid"/>
            <a:tailEnd type="triangle"/>
          </a:ln>
        </p:spPr>
      </p:sp>
      <p:sp>
        <p:nvSpPr>
          <p:cNvPr id="26" name="Text 24"/>
          <p:cNvSpPr txBox="1"/>
          <p:nvPr/>
        </p:nvSpPr>
        <p:spPr>
          <a:xfrm>
            <a:off x="8564662" y="2011680"/>
            <a:ext cx="1402036" cy="713232"/>
          </a:xfrm>
          <a:prstGeom prst="rect">
            <a:avLst/>
          </a:prstGeom>
          <a:solidFill>
            <a:srgbClr val="0B1F33"/>
          </a:solidFill>
          <a:ln/>
        </p:spPr>
        <p:txBody>
          <a:bodyPr wrap="square" lIns="508" tIns="508" rIns="508" bIns="508"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Simulated Action</a:t>
            </a:r>
            <a:endParaRPr lang="en-US" sz="1150" dirty="0"/>
          </a:p>
        </p:txBody>
      </p:sp>
      <p:sp>
        <p:nvSpPr>
          <p:cNvPr id="27" name="Shape 25"/>
          <p:cNvSpPr/>
          <p:nvPr/>
        </p:nvSpPr>
        <p:spPr>
          <a:xfrm>
            <a:off x="9984987" y="2368296"/>
            <a:ext cx="146304" cy="0"/>
          </a:xfrm>
          <a:prstGeom prst="line">
            <a:avLst/>
          </a:prstGeom>
          <a:noFill/>
          <a:ln w="15875">
            <a:solidFill>
              <a:srgbClr val="667085"/>
            </a:solidFill>
            <a:prstDash val="solid"/>
            <a:tailEnd type="triangle"/>
          </a:ln>
        </p:spPr>
      </p:sp>
      <p:sp>
        <p:nvSpPr>
          <p:cNvPr id="28" name="Text 26"/>
          <p:cNvSpPr txBox="1"/>
          <p:nvPr/>
        </p:nvSpPr>
        <p:spPr>
          <a:xfrm>
            <a:off x="10149579" y="2011680"/>
            <a:ext cx="1402036" cy="713232"/>
          </a:xfrm>
          <a:prstGeom prst="rect">
            <a:avLst/>
          </a:prstGeom>
          <a:solidFill>
            <a:srgbClr val="667085"/>
          </a:solidFill>
          <a:ln/>
        </p:spPr>
        <p:txBody>
          <a:bodyPr wrap="square" lIns="508" tIns="508" rIns="508" bIns="508"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Audit</a:t>
            </a:r>
            <a:endParaRPr lang="en-US" sz="1150" dirty="0"/>
          </a:p>
        </p:txBody>
      </p:sp>
      <p:sp>
        <p:nvSpPr>
          <p:cNvPr id="29" name="Shape 27"/>
          <p:cNvSpPr/>
          <p:nvPr/>
        </p:nvSpPr>
        <p:spPr>
          <a:xfrm>
            <a:off x="640080" y="3200400"/>
            <a:ext cx="2515286" cy="2926080"/>
          </a:xfrm>
          <a:prstGeom prst="rect">
            <a:avLst/>
          </a:prstGeom>
          <a:solidFill>
            <a:srgbClr val="FFFFFF"/>
          </a:solidFill>
          <a:ln w="9525">
            <a:solidFill>
              <a:srgbClr val="D9E1EA"/>
            </a:solidFill>
            <a:prstDash val="solid"/>
          </a:ln>
        </p:spPr>
      </p:sp>
      <p:sp>
        <p:nvSpPr>
          <p:cNvPr id="30" name="Text 28"/>
          <p:cNvSpPr txBox="1"/>
          <p:nvPr/>
        </p:nvSpPr>
        <p:spPr>
          <a:xfrm>
            <a:off x="868680" y="342900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01</a:t>
            </a:r>
            <a:endParaRPr lang="en-US" sz="1300" dirty="0"/>
          </a:p>
        </p:txBody>
      </p:sp>
      <p:sp>
        <p:nvSpPr>
          <p:cNvPr id="31" name="Text 29"/>
          <p:cNvSpPr txBox="1"/>
          <p:nvPr/>
        </p:nvSpPr>
        <p:spPr>
          <a:xfrm>
            <a:off x="868680" y="3794760"/>
            <a:ext cx="2058086" cy="320040"/>
          </a:xfrm>
          <a:prstGeom prst="rect">
            <a:avLst/>
          </a:prstGeom>
          <a:noFill/>
          <a:ln/>
        </p:spPr>
        <p:txBody>
          <a:bodyPr wrap="square" lIns="0" tIns="0" rIns="0" bIns="0" rtlCol="0" anchor="t"/>
          <a:lstStyle/>
          <a:p>
            <a:pPr algn="l" indent="0" marL="0">
              <a:buNone/>
            </a:pPr>
            <a:r>
              <a:rPr lang="en-US" sz="1700" b="1" dirty="0">
                <a:solidFill>
                  <a:srgbClr val="0B1F33"/>
                </a:solidFill>
                <a:latin typeface="Arial" pitchFamily="34" charset="0"/>
                <a:ea typeface="Arial" pitchFamily="34" charset="-122"/>
                <a:cs typeface="Arial" pitchFamily="34" charset="-120"/>
              </a:rPr>
              <a:t>Human-in-the-loop</a:t>
            </a:r>
            <a:endParaRPr lang="en-US" sz="1700" dirty="0"/>
          </a:p>
        </p:txBody>
      </p:sp>
      <p:sp>
        <p:nvSpPr>
          <p:cNvPr id="32" name="Text 30"/>
          <p:cNvSpPr txBox="1"/>
          <p:nvPr/>
        </p:nvSpPr>
        <p:spPr>
          <a:xfrm>
            <a:off x="868680" y="4251960"/>
            <a:ext cx="2058086" cy="1143000"/>
          </a:xfrm>
          <a:prstGeom prst="rect">
            <a:avLst/>
          </a:prstGeom>
          <a:noFill/>
          <a:ln/>
        </p:spPr>
        <p:txBody>
          <a:bodyPr wrap="square" lIns="0" tIns="0" rIns="0" bIns="0" rtlCol="0" anchor="t"/>
          <a:lstStyle/>
          <a:p>
            <a:pPr algn="l" indent="0" marL="0">
              <a:buNone/>
            </a:pPr>
            <a:r>
              <a:rPr lang="en-US" sz="1600" dirty="0">
                <a:solidFill>
                  <a:srgbClr val="344054"/>
                </a:solidFill>
                <a:latin typeface="Arial" pitchFamily="34" charset="0"/>
                <a:ea typeface="Arial" pitchFamily="34" charset="-122"/>
                <a:cs typeface="Arial" pitchFamily="34" charset="-120"/>
              </a:rPr>
              <a:t>High-impact actions require approval.</a:t>
            </a:r>
            <a:endParaRPr lang="en-US" sz="1600" dirty="0"/>
          </a:p>
        </p:txBody>
      </p:sp>
      <p:sp>
        <p:nvSpPr>
          <p:cNvPr id="33" name="Shape 31"/>
          <p:cNvSpPr/>
          <p:nvPr/>
        </p:nvSpPr>
        <p:spPr>
          <a:xfrm>
            <a:off x="868680" y="5486400"/>
            <a:ext cx="2058086" cy="0"/>
          </a:xfrm>
          <a:prstGeom prst="line">
            <a:avLst/>
          </a:prstGeom>
          <a:noFill/>
          <a:ln w="9525">
            <a:solidFill>
              <a:srgbClr val="D9E1EA"/>
            </a:solidFill>
            <a:prstDash val="solid"/>
          </a:ln>
        </p:spPr>
      </p:sp>
      <p:sp>
        <p:nvSpPr>
          <p:cNvPr id="34" name="Text 32"/>
          <p:cNvSpPr txBox="1"/>
          <p:nvPr/>
        </p:nvSpPr>
        <p:spPr>
          <a:xfrm>
            <a:off x="868680" y="5623560"/>
            <a:ext cx="2058086" cy="274320"/>
          </a:xfrm>
          <a:prstGeom prst="rect">
            <a:avLst/>
          </a:prstGeom>
          <a:noFill/>
          <a:ln/>
        </p:spPr>
        <p:txBody>
          <a:bodyPr wrap="square" lIns="0" tIns="0" rIns="0" bIns="0" rtlCol="0" anchor="t"/>
          <a:lstStyle/>
          <a:p>
            <a:pPr algn="l" indent="0" marL="0">
              <a:buNone/>
            </a:pPr>
            <a:r>
              <a:rPr lang="en-US" sz="1100" dirty="0">
                <a:solidFill>
                  <a:srgbClr val="667085"/>
                </a:solidFill>
                <a:latin typeface="Arial" pitchFamily="34" charset="0"/>
                <a:ea typeface="Arial" pitchFamily="34" charset="-122"/>
                <a:cs typeface="Arial" pitchFamily="34" charset="-120"/>
              </a:rPr>
              <a:t>Control point  </a:t>
            </a:r>
            <a:pPr algn="l" indent="0" marL="0">
              <a:buNone/>
            </a:pPr>
            <a:r>
              <a:rPr lang="en-US" sz="1100" b="1" dirty="0">
                <a:solidFill>
                  <a:srgbClr val="12395A"/>
                </a:solidFill>
                <a:latin typeface="Arial" pitchFamily="34" charset="0"/>
                <a:ea typeface="Arial" pitchFamily="34" charset="-122"/>
                <a:cs typeface="Arial" pitchFamily="34" charset="-120"/>
              </a:rPr>
              <a:t>Human Approval</a:t>
            </a:r>
            <a:endParaRPr lang="en-US" sz="1100" dirty="0"/>
          </a:p>
        </p:txBody>
      </p:sp>
      <p:sp>
        <p:nvSpPr>
          <p:cNvPr id="35" name="Shape 33"/>
          <p:cNvSpPr/>
          <p:nvPr/>
        </p:nvSpPr>
        <p:spPr>
          <a:xfrm>
            <a:off x="3438830" y="3200400"/>
            <a:ext cx="2515286" cy="2926080"/>
          </a:xfrm>
          <a:prstGeom prst="rect">
            <a:avLst/>
          </a:prstGeom>
          <a:solidFill>
            <a:srgbClr val="FFFFFF"/>
          </a:solidFill>
          <a:ln w="9525">
            <a:solidFill>
              <a:srgbClr val="D9E1EA"/>
            </a:solidFill>
            <a:prstDash val="solid"/>
          </a:ln>
        </p:spPr>
      </p:sp>
      <p:sp>
        <p:nvSpPr>
          <p:cNvPr id="36" name="Text 34"/>
          <p:cNvSpPr txBox="1"/>
          <p:nvPr/>
        </p:nvSpPr>
        <p:spPr>
          <a:xfrm>
            <a:off x="3667430" y="342900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02</a:t>
            </a:r>
            <a:endParaRPr lang="en-US" sz="1300" dirty="0"/>
          </a:p>
        </p:txBody>
      </p:sp>
      <p:sp>
        <p:nvSpPr>
          <p:cNvPr id="37" name="Text 35"/>
          <p:cNvSpPr txBox="1"/>
          <p:nvPr/>
        </p:nvSpPr>
        <p:spPr>
          <a:xfrm>
            <a:off x="3667430" y="3794760"/>
            <a:ext cx="2058086" cy="320040"/>
          </a:xfrm>
          <a:prstGeom prst="rect">
            <a:avLst/>
          </a:prstGeom>
          <a:noFill/>
          <a:ln/>
        </p:spPr>
        <p:txBody>
          <a:bodyPr wrap="square" lIns="0" tIns="0" rIns="0" bIns="0" rtlCol="0" anchor="t"/>
          <a:lstStyle/>
          <a:p>
            <a:pPr algn="l" indent="0" marL="0">
              <a:buNone/>
            </a:pPr>
            <a:r>
              <a:rPr lang="en-US" sz="1700" b="1" dirty="0">
                <a:solidFill>
                  <a:srgbClr val="0B1F33"/>
                </a:solidFill>
                <a:latin typeface="Arial" pitchFamily="34" charset="0"/>
                <a:ea typeface="Arial" pitchFamily="34" charset="-122"/>
                <a:cs typeface="Arial" pitchFamily="34" charset="-120"/>
              </a:rPr>
              <a:t>Policy-first</a:t>
            </a:r>
            <a:endParaRPr lang="en-US" sz="1700" dirty="0"/>
          </a:p>
        </p:txBody>
      </p:sp>
      <p:sp>
        <p:nvSpPr>
          <p:cNvPr id="38" name="Text 36"/>
          <p:cNvSpPr txBox="1"/>
          <p:nvPr/>
        </p:nvSpPr>
        <p:spPr>
          <a:xfrm>
            <a:off x="3667430" y="4251960"/>
            <a:ext cx="2058086" cy="1143000"/>
          </a:xfrm>
          <a:prstGeom prst="rect">
            <a:avLst/>
          </a:prstGeom>
          <a:noFill/>
          <a:ln/>
        </p:spPr>
        <p:txBody>
          <a:bodyPr wrap="square" lIns="0" tIns="0" rIns="0" bIns="0" rtlCol="0" anchor="t"/>
          <a:lstStyle/>
          <a:p>
            <a:pPr algn="l" indent="0" marL="0">
              <a:buNone/>
            </a:pPr>
            <a:r>
              <a:rPr lang="en-US" sz="1600" dirty="0">
                <a:solidFill>
                  <a:srgbClr val="344054"/>
                </a:solidFill>
                <a:latin typeface="Arial" pitchFamily="34" charset="0"/>
                <a:ea typeface="Arial" pitchFamily="34" charset="-122"/>
                <a:cs typeface="Arial" pitchFamily="34" charset="-120"/>
              </a:rPr>
              <a:t>Financial rules are validated before action.</a:t>
            </a:r>
            <a:endParaRPr lang="en-US" sz="1600" dirty="0"/>
          </a:p>
        </p:txBody>
      </p:sp>
      <p:sp>
        <p:nvSpPr>
          <p:cNvPr id="39" name="Shape 37"/>
          <p:cNvSpPr/>
          <p:nvPr/>
        </p:nvSpPr>
        <p:spPr>
          <a:xfrm>
            <a:off x="3667430" y="5486400"/>
            <a:ext cx="2058086" cy="0"/>
          </a:xfrm>
          <a:prstGeom prst="line">
            <a:avLst/>
          </a:prstGeom>
          <a:noFill/>
          <a:ln w="9525">
            <a:solidFill>
              <a:srgbClr val="D9E1EA"/>
            </a:solidFill>
            <a:prstDash val="solid"/>
          </a:ln>
        </p:spPr>
      </p:sp>
      <p:sp>
        <p:nvSpPr>
          <p:cNvPr id="40" name="Text 38"/>
          <p:cNvSpPr txBox="1"/>
          <p:nvPr/>
        </p:nvSpPr>
        <p:spPr>
          <a:xfrm>
            <a:off x="3667430" y="5623560"/>
            <a:ext cx="2058086" cy="274320"/>
          </a:xfrm>
          <a:prstGeom prst="rect">
            <a:avLst/>
          </a:prstGeom>
          <a:noFill/>
          <a:ln/>
        </p:spPr>
        <p:txBody>
          <a:bodyPr wrap="square" lIns="0" tIns="0" rIns="0" bIns="0" rtlCol="0" anchor="t"/>
          <a:lstStyle/>
          <a:p>
            <a:pPr algn="l" indent="0" marL="0">
              <a:buNone/>
            </a:pPr>
            <a:r>
              <a:rPr lang="en-US" sz="1100" dirty="0">
                <a:solidFill>
                  <a:srgbClr val="667085"/>
                </a:solidFill>
                <a:latin typeface="Arial" pitchFamily="34" charset="0"/>
                <a:ea typeface="Arial" pitchFamily="34" charset="-122"/>
                <a:cs typeface="Arial" pitchFamily="34" charset="-120"/>
              </a:rPr>
              <a:t>Control point  </a:t>
            </a:r>
            <a:pPr algn="l" indent="0" marL="0">
              <a:buNone/>
            </a:pPr>
            <a:r>
              <a:rPr lang="en-US" sz="1100" b="1" dirty="0">
                <a:solidFill>
                  <a:srgbClr val="12395A"/>
                </a:solidFill>
                <a:latin typeface="Arial" pitchFamily="34" charset="0"/>
                <a:ea typeface="Arial" pitchFamily="34" charset="-122"/>
                <a:cs typeface="Arial" pitchFamily="34" charset="-120"/>
              </a:rPr>
              <a:t>Policy Validation</a:t>
            </a:r>
            <a:endParaRPr lang="en-US" sz="1100" dirty="0"/>
          </a:p>
        </p:txBody>
      </p:sp>
      <p:sp>
        <p:nvSpPr>
          <p:cNvPr id="41" name="Shape 39"/>
          <p:cNvSpPr/>
          <p:nvPr/>
        </p:nvSpPr>
        <p:spPr>
          <a:xfrm>
            <a:off x="6237580" y="3200400"/>
            <a:ext cx="2515286" cy="2926080"/>
          </a:xfrm>
          <a:prstGeom prst="rect">
            <a:avLst/>
          </a:prstGeom>
          <a:solidFill>
            <a:srgbClr val="FFFFFF"/>
          </a:solidFill>
          <a:ln w="9525">
            <a:solidFill>
              <a:srgbClr val="D9E1EA"/>
            </a:solidFill>
            <a:prstDash val="solid"/>
          </a:ln>
        </p:spPr>
      </p:sp>
      <p:sp>
        <p:nvSpPr>
          <p:cNvPr id="42" name="Text 40"/>
          <p:cNvSpPr txBox="1"/>
          <p:nvPr/>
        </p:nvSpPr>
        <p:spPr>
          <a:xfrm>
            <a:off x="6466180" y="342900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03</a:t>
            </a:r>
            <a:endParaRPr lang="en-US" sz="1300" dirty="0"/>
          </a:p>
        </p:txBody>
      </p:sp>
      <p:sp>
        <p:nvSpPr>
          <p:cNvPr id="43" name="Text 41"/>
          <p:cNvSpPr txBox="1"/>
          <p:nvPr/>
        </p:nvSpPr>
        <p:spPr>
          <a:xfrm>
            <a:off x="6466180" y="3794760"/>
            <a:ext cx="2058086" cy="320040"/>
          </a:xfrm>
          <a:prstGeom prst="rect">
            <a:avLst/>
          </a:prstGeom>
          <a:noFill/>
          <a:ln/>
        </p:spPr>
        <p:txBody>
          <a:bodyPr wrap="square" lIns="0" tIns="0" rIns="0" bIns="0" rtlCol="0" anchor="t"/>
          <a:lstStyle/>
          <a:p>
            <a:pPr algn="l" indent="0" marL="0">
              <a:buNone/>
            </a:pPr>
            <a:r>
              <a:rPr lang="en-US" sz="1700" b="1" dirty="0">
                <a:solidFill>
                  <a:srgbClr val="0B1F33"/>
                </a:solidFill>
                <a:latin typeface="Arial" pitchFamily="34" charset="0"/>
                <a:ea typeface="Arial" pitchFamily="34" charset="-122"/>
                <a:cs typeface="Arial" pitchFamily="34" charset="-120"/>
              </a:rPr>
              <a:t>Auditability</a:t>
            </a:r>
            <a:endParaRPr lang="en-US" sz="1700" dirty="0"/>
          </a:p>
        </p:txBody>
      </p:sp>
      <p:sp>
        <p:nvSpPr>
          <p:cNvPr id="44" name="Text 42"/>
          <p:cNvSpPr txBox="1"/>
          <p:nvPr/>
        </p:nvSpPr>
        <p:spPr>
          <a:xfrm>
            <a:off x="6466180" y="4251960"/>
            <a:ext cx="2058086" cy="1143000"/>
          </a:xfrm>
          <a:prstGeom prst="rect">
            <a:avLst/>
          </a:prstGeom>
          <a:noFill/>
          <a:ln/>
        </p:spPr>
        <p:txBody>
          <a:bodyPr wrap="square" lIns="0" tIns="0" rIns="0" bIns="0" rtlCol="0" anchor="t"/>
          <a:lstStyle/>
          <a:p>
            <a:pPr algn="l" indent="0" marL="0">
              <a:buNone/>
            </a:pPr>
            <a:r>
              <a:rPr lang="en-US" sz="1600" dirty="0">
                <a:solidFill>
                  <a:srgbClr val="344054"/>
                </a:solidFill>
                <a:latin typeface="Arial" pitchFamily="34" charset="0"/>
                <a:ea typeface="Arial" pitchFamily="34" charset="-122"/>
                <a:cs typeface="Arial" pitchFamily="34" charset="-120"/>
              </a:rPr>
              <a:t>Recommendations and decisions are logged.</a:t>
            </a:r>
            <a:endParaRPr lang="en-US" sz="1600" dirty="0"/>
          </a:p>
        </p:txBody>
      </p:sp>
      <p:sp>
        <p:nvSpPr>
          <p:cNvPr id="45" name="Shape 43"/>
          <p:cNvSpPr/>
          <p:nvPr/>
        </p:nvSpPr>
        <p:spPr>
          <a:xfrm>
            <a:off x="6466180" y="5486400"/>
            <a:ext cx="2058086" cy="0"/>
          </a:xfrm>
          <a:prstGeom prst="line">
            <a:avLst/>
          </a:prstGeom>
          <a:noFill/>
          <a:ln w="9525">
            <a:solidFill>
              <a:srgbClr val="D9E1EA"/>
            </a:solidFill>
            <a:prstDash val="solid"/>
          </a:ln>
        </p:spPr>
      </p:sp>
      <p:sp>
        <p:nvSpPr>
          <p:cNvPr id="46" name="Text 44"/>
          <p:cNvSpPr txBox="1"/>
          <p:nvPr/>
        </p:nvSpPr>
        <p:spPr>
          <a:xfrm>
            <a:off x="6466180" y="5623560"/>
            <a:ext cx="2058086" cy="274320"/>
          </a:xfrm>
          <a:prstGeom prst="rect">
            <a:avLst/>
          </a:prstGeom>
          <a:noFill/>
          <a:ln/>
        </p:spPr>
        <p:txBody>
          <a:bodyPr wrap="square" lIns="0" tIns="0" rIns="0" bIns="0" rtlCol="0" anchor="t"/>
          <a:lstStyle/>
          <a:p>
            <a:pPr algn="l" indent="0" marL="0">
              <a:buNone/>
            </a:pPr>
            <a:r>
              <a:rPr lang="en-US" sz="1100" dirty="0">
                <a:solidFill>
                  <a:srgbClr val="667085"/>
                </a:solidFill>
                <a:latin typeface="Arial" pitchFamily="34" charset="0"/>
                <a:ea typeface="Arial" pitchFamily="34" charset="-122"/>
                <a:cs typeface="Arial" pitchFamily="34" charset="-120"/>
              </a:rPr>
              <a:t>Control point  </a:t>
            </a:r>
            <a:pPr algn="l" indent="0" marL="0">
              <a:buNone/>
            </a:pPr>
            <a:r>
              <a:rPr lang="en-US" sz="1100" b="1" dirty="0">
                <a:solidFill>
                  <a:srgbClr val="12395A"/>
                </a:solidFill>
                <a:latin typeface="Arial" pitchFamily="34" charset="0"/>
                <a:ea typeface="Arial" pitchFamily="34" charset="-122"/>
                <a:cs typeface="Arial" pitchFamily="34" charset="-120"/>
              </a:rPr>
              <a:t>Audit</a:t>
            </a:r>
            <a:endParaRPr lang="en-US" sz="1100" dirty="0"/>
          </a:p>
        </p:txBody>
      </p:sp>
      <p:sp>
        <p:nvSpPr>
          <p:cNvPr id="47" name="Shape 45"/>
          <p:cNvSpPr/>
          <p:nvPr/>
        </p:nvSpPr>
        <p:spPr>
          <a:xfrm>
            <a:off x="9036329" y="3200400"/>
            <a:ext cx="2515286" cy="2926080"/>
          </a:xfrm>
          <a:prstGeom prst="rect">
            <a:avLst/>
          </a:prstGeom>
          <a:solidFill>
            <a:srgbClr val="FFFFFF"/>
          </a:solidFill>
          <a:ln w="9525">
            <a:solidFill>
              <a:srgbClr val="D9E1EA"/>
            </a:solidFill>
            <a:prstDash val="solid"/>
          </a:ln>
        </p:spPr>
      </p:sp>
      <p:sp>
        <p:nvSpPr>
          <p:cNvPr id="48" name="Text 46"/>
          <p:cNvSpPr txBox="1"/>
          <p:nvPr/>
        </p:nvSpPr>
        <p:spPr>
          <a:xfrm>
            <a:off x="9264929" y="3429000"/>
            <a:ext cx="914400" cy="228600"/>
          </a:xfrm>
          <a:prstGeom prst="rect">
            <a:avLst/>
          </a:prstGeom>
          <a:noFill/>
          <a:ln/>
        </p:spPr>
        <p:txBody>
          <a:bodyPr wrap="square" lIns="0" tIns="0" rIns="0" bIns="0" rtlCol="0" anchor="t"/>
          <a:lstStyle/>
          <a:p>
            <a:pPr algn="l" indent="0" marL="0">
              <a:buNone/>
            </a:pPr>
            <a:r>
              <a:rPr lang="en-US" sz="1300" b="1" dirty="0">
                <a:solidFill>
                  <a:srgbClr val="1769AA"/>
                </a:solidFill>
                <a:latin typeface="Arial" pitchFamily="34" charset="0"/>
                <a:ea typeface="Arial" pitchFamily="34" charset="-122"/>
                <a:cs typeface="Arial" pitchFamily="34" charset="-120"/>
              </a:rPr>
              <a:t>04</a:t>
            </a:r>
            <a:endParaRPr lang="en-US" sz="1300" dirty="0"/>
          </a:p>
        </p:txBody>
      </p:sp>
      <p:sp>
        <p:nvSpPr>
          <p:cNvPr id="49" name="Text 47"/>
          <p:cNvSpPr txBox="1"/>
          <p:nvPr/>
        </p:nvSpPr>
        <p:spPr>
          <a:xfrm>
            <a:off x="9264929" y="3794760"/>
            <a:ext cx="2058086" cy="320040"/>
          </a:xfrm>
          <a:prstGeom prst="rect">
            <a:avLst/>
          </a:prstGeom>
          <a:noFill/>
          <a:ln/>
        </p:spPr>
        <p:txBody>
          <a:bodyPr wrap="square" lIns="0" tIns="0" rIns="0" bIns="0" rtlCol="0" anchor="t"/>
          <a:lstStyle/>
          <a:p>
            <a:pPr algn="l" indent="0" marL="0">
              <a:buNone/>
            </a:pPr>
            <a:r>
              <a:rPr lang="en-US" sz="1700" b="1" dirty="0">
                <a:solidFill>
                  <a:srgbClr val="0B1F33"/>
                </a:solidFill>
                <a:latin typeface="Arial" pitchFamily="34" charset="0"/>
                <a:ea typeface="Arial" pitchFamily="34" charset="-122"/>
                <a:cs typeface="Arial" pitchFamily="34" charset="-120"/>
              </a:rPr>
              <a:t>Simulation-first</a:t>
            </a:r>
            <a:endParaRPr lang="en-US" sz="1700" dirty="0"/>
          </a:p>
        </p:txBody>
      </p:sp>
      <p:sp>
        <p:nvSpPr>
          <p:cNvPr id="50" name="Text 48"/>
          <p:cNvSpPr txBox="1"/>
          <p:nvPr/>
        </p:nvSpPr>
        <p:spPr>
          <a:xfrm>
            <a:off x="9264929" y="4251960"/>
            <a:ext cx="2058086" cy="1143000"/>
          </a:xfrm>
          <a:prstGeom prst="rect">
            <a:avLst/>
          </a:prstGeom>
          <a:noFill/>
          <a:ln/>
        </p:spPr>
        <p:txBody>
          <a:bodyPr wrap="square" lIns="0" tIns="0" rIns="0" bIns="0" rtlCol="0" anchor="t"/>
          <a:lstStyle/>
          <a:p>
            <a:pPr algn="l" indent="0" marL="0">
              <a:buNone/>
            </a:pPr>
            <a:r>
              <a:rPr lang="en-US" sz="1600" dirty="0">
                <a:solidFill>
                  <a:srgbClr val="344054"/>
                </a:solidFill>
                <a:latin typeface="Arial" pitchFamily="34" charset="0"/>
                <a:ea typeface="Arial" pitchFamily="34" charset="-122"/>
                <a:cs typeface="Arial" pitchFamily="34" charset="-120"/>
              </a:rPr>
              <a:t>The prototype does not execute real public financial transactions.</a:t>
            </a:r>
            <a:endParaRPr lang="en-US" sz="1600" dirty="0"/>
          </a:p>
        </p:txBody>
      </p:sp>
      <p:sp>
        <p:nvSpPr>
          <p:cNvPr id="51" name="Shape 49"/>
          <p:cNvSpPr/>
          <p:nvPr/>
        </p:nvSpPr>
        <p:spPr>
          <a:xfrm>
            <a:off x="9264929" y="5486400"/>
            <a:ext cx="2058086" cy="0"/>
          </a:xfrm>
          <a:prstGeom prst="line">
            <a:avLst/>
          </a:prstGeom>
          <a:noFill/>
          <a:ln w="9525">
            <a:solidFill>
              <a:srgbClr val="D9E1EA"/>
            </a:solidFill>
            <a:prstDash val="solid"/>
          </a:ln>
        </p:spPr>
      </p:sp>
      <p:sp>
        <p:nvSpPr>
          <p:cNvPr id="52" name="Text 50"/>
          <p:cNvSpPr txBox="1"/>
          <p:nvPr/>
        </p:nvSpPr>
        <p:spPr>
          <a:xfrm>
            <a:off x="9264929" y="5623560"/>
            <a:ext cx="2058086" cy="274320"/>
          </a:xfrm>
          <a:prstGeom prst="rect">
            <a:avLst/>
          </a:prstGeom>
          <a:noFill/>
          <a:ln/>
        </p:spPr>
        <p:txBody>
          <a:bodyPr wrap="square" lIns="0" tIns="0" rIns="0" bIns="0" rtlCol="0" anchor="t"/>
          <a:lstStyle/>
          <a:p>
            <a:pPr algn="l" indent="0" marL="0">
              <a:buNone/>
            </a:pPr>
            <a:r>
              <a:rPr lang="en-US" sz="1100" dirty="0">
                <a:solidFill>
                  <a:srgbClr val="667085"/>
                </a:solidFill>
                <a:latin typeface="Arial" pitchFamily="34" charset="0"/>
                <a:ea typeface="Arial" pitchFamily="34" charset="-122"/>
                <a:cs typeface="Arial" pitchFamily="34" charset="-120"/>
              </a:rPr>
              <a:t>Control point  </a:t>
            </a:r>
            <a:pPr algn="l" indent="0" marL="0">
              <a:buNone/>
            </a:pPr>
            <a:r>
              <a:rPr lang="en-US" sz="1100" b="1" dirty="0">
                <a:solidFill>
                  <a:srgbClr val="12395A"/>
                </a:solidFill>
                <a:latin typeface="Arial" pitchFamily="34" charset="0"/>
                <a:ea typeface="Arial" pitchFamily="34" charset="-122"/>
                <a:cs typeface="Arial" pitchFamily="34" charset="-120"/>
              </a:rPr>
              <a:t>Simulated Action</a:t>
            </a:r>
            <a:endParaRPr lang="en-US" sz="1100" dirty="0"/>
          </a:p>
        </p:txBody>
      </p:sp>
      <p:sp>
        <p:nvSpPr>
          <p:cNvPr id="53" name="Shape 51"/>
          <p:cNvSpPr/>
          <p:nvPr/>
        </p:nvSpPr>
        <p:spPr>
          <a:xfrm>
            <a:off x="640080" y="6382512"/>
            <a:ext cx="10911535" cy="0"/>
          </a:xfrm>
          <a:prstGeom prst="line">
            <a:avLst/>
          </a:prstGeom>
          <a:noFill/>
          <a:ln w="9525">
            <a:solidFill>
              <a:srgbClr val="D9E1EA"/>
            </a:solidFill>
            <a:prstDash val="solid"/>
          </a:ln>
        </p:spPr>
      </p:sp>
      <p:sp>
        <p:nvSpPr>
          <p:cNvPr id="54" name="Text 52"/>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1769AA"/>
                </a:solidFill>
                <a:latin typeface="Arial" pitchFamily="34" charset="0"/>
                <a:ea typeface="Arial" pitchFamily="34" charset="-122"/>
                <a:cs typeface="Arial" pitchFamily="34" charset="-120"/>
              </a:rPr>
              <a:t>ROADMAP</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0B1F33"/>
                </a:solidFill>
                <a:latin typeface="Arial" pitchFamily="34" charset="0"/>
                <a:ea typeface="Arial" pitchFamily="34" charset="-122"/>
                <a:cs typeface="Arial" pitchFamily="34" charset="-120"/>
              </a:rPr>
              <a:t>Future Scope</a:t>
            </a:r>
            <a:endParaRPr lang="en-US" sz="3000" dirty="0"/>
          </a:p>
        </p:txBody>
      </p:sp>
      <p:sp>
        <p:nvSpPr>
          <p:cNvPr id="4" name="Shape 2"/>
          <p:cNvSpPr/>
          <p:nvPr/>
        </p:nvSpPr>
        <p:spPr>
          <a:xfrm>
            <a:off x="640080" y="1417320"/>
            <a:ext cx="2522144" cy="777240"/>
          </a:xfrm>
          <a:prstGeom prst="rect">
            <a:avLst/>
          </a:prstGeom>
          <a:solidFill>
            <a:srgbClr val="0B1F33"/>
          </a:solidFill>
          <a:ln/>
        </p:spPr>
      </p:sp>
      <p:sp>
        <p:nvSpPr>
          <p:cNvPr id="5" name="Text 3"/>
          <p:cNvSpPr txBox="1"/>
          <p:nvPr/>
        </p:nvSpPr>
        <p:spPr>
          <a:xfrm>
            <a:off x="868680" y="1554480"/>
            <a:ext cx="2064944" cy="201168"/>
          </a:xfrm>
          <a:prstGeom prst="rect">
            <a:avLst/>
          </a:prstGeom>
          <a:noFill/>
          <a:ln/>
        </p:spPr>
        <p:txBody>
          <a:bodyPr wrap="square" lIns="0" tIns="0" rIns="0" bIns="0" rtlCol="0" anchor="t"/>
          <a:lstStyle/>
          <a:p>
            <a:pPr algn="l" indent="0" marL="0">
              <a:buNone/>
            </a:pPr>
            <a:r>
              <a:rPr lang="en-US" sz="1100" b="1" spc="200" kern="0" dirty="0">
                <a:solidFill>
                  <a:srgbClr val="7FB2E0"/>
                </a:solidFill>
                <a:latin typeface="Arial" pitchFamily="34" charset="0"/>
                <a:ea typeface="Arial" pitchFamily="34" charset="-122"/>
                <a:cs typeface="Arial" pitchFamily="34" charset="-120"/>
              </a:rPr>
              <a:t>PHASE 1</a:t>
            </a:r>
            <a:endParaRPr lang="en-US" sz="1100" dirty="0"/>
          </a:p>
        </p:txBody>
      </p:sp>
      <p:sp>
        <p:nvSpPr>
          <p:cNvPr id="6" name="Text 4"/>
          <p:cNvSpPr txBox="1"/>
          <p:nvPr/>
        </p:nvSpPr>
        <p:spPr>
          <a:xfrm>
            <a:off x="868680" y="1828800"/>
            <a:ext cx="2064944" cy="27432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CURRENT PROTOTYPE</a:t>
            </a:r>
            <a:endParaRPr lang="en-US" sz="1400" dirty="0"/>
          </a:p>
        </p:txBody>
      </p:sp>
      <p:sp>
        <p:nvSpPr>
          <p:cNvPr id="7" name="Shape 5"/>
          <p:cNvSpPr/>
          <p:nvPr/>
        </p:nvSpPr>
        <p:spPr>
          <a:xfrm>
            <a:off x="640080" y="2194560"/>
            <a:ext cx="2522144" cy="2788920"/>
          </a:xfrm>
          <a:prstGeom prst="rect">
            <a:avLst/>
          </a:prstGeom>
          <a:solidFill>
            <a:srgbClr val="FFFFFF"/>
          </a:solidFill>
          <a:ln w="15875">
            <a:solidFill>
              <a:srgbClr val="0B1F33"/>
            </a:solidFill>
            <a:prstDash val="solid"/>
          </a:ln>
        </p:spPr>
      </p:sp>
      <p:sp>
        <p:nvSpPr>
          <p:cNvPr id="8" name="Text 6"/>
          <p:cNvSpPr txBox="1"/>
          <p:nvPr/>
        </p:nvSpPr>
        <p:spPr>
          <a:xfrm>
            <a:off x="868680" y="2468880"/>
            <a:ext cx="2064944" cy="2331720"/>
          </a:xfrm>
          <a:prstGeom prst="rect">
            <a:avLst/>
          </a:prstGeom>
          <a:noFill/>
          <a:ln/>
        </p:spPr>
        <p:txBody>
          <a:bodyPr wrap="square" lIns="0" tIns="0" rIns="0" bIns="0" rtlCol="0" anchor="t"/>
          <a:lstStyle/>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Simulated financial environment</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Multi-agent workflow</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Financial dashboard</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Policy validation</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Decision simulation</a:t>
            </a:r>
            <a:endParaRPr lang="en-US" sz="1500" dirty="0"/>
          </a:p>
        </p:txBody>
      </p:sp>
      <p:sp>
        <p:nvSpPr>
          <p:cNvPr id="9" name="Shape 7"/>
          <p:cNvSpPr/>
          <p:nvPr/>
        </p:nvSpPr>
        <p:spPr>
          <a:xfrm>
            <a:off x="3198800" y="1805940"/>
            <a:ext cx="201168" cy="0"/>
          </a:xfrm>
          <a:prstGeom prst="line">
            <a:avLst/>
          </a:prstGeom>
          <a:noFill/>
          <a:ln w="15875">
            <a:solidFill>
              <a:srgbClr val="667085"/>
            </a:solidFill>
            <a:prstDash val="solid"/>
            <a:tailEnd type="triangle"/>
          </a:ln>
        </p:spPr>
      </p:sp>
      <p:sp>
        <p:nvSpPr>
          <p:cNvPr id="10" name="Shape 8"/>
          <p:cNvSpPr/>
          <p:nvPr/>
        </p:nvSpPr>
        <p:spPr>
          <a:xfrm>
            <a:off x="3436544" y="1417320"/>
            <a:ext cx="2522144" cy="777240"/>
          </a:xfrm>
          <a:prstGeom prst="rect">
            <a:avLst/>
          </a:prstGeom>
          <a:solidFill>
            <a:srgbClr val="FFFFFF"/>
          </a:solidFill>
          <a:ln w="12700">
            <a:solidFill>
              <a:srgbClr val="667085"/>
            </a:solidFill>
            <a:prstDash val="dash"/>
          </a:ln>
        </p:spPr>
      </p:sp>
      <p:sp>
        <p:nvSpPr>
          <p:cNvPr id="11" name="Text 9"/>
          <p:cNvSpPr txBox="1"/>
          <p:nvPr/>
        </p:nvSpPr>
        <p:spPr>
          <a:xfrm>
            <a:off x="3665144" y="1554480"/>
            <a:ext cx="2064944" cy="201168"/>
          </a:xfrm>
          <a:prstGeom prst="rect">
            <a:avLst/>
          </a:prstGeom>
          <a:noFill/>
          <a:ln/>
        </p:spPr>
        <p:txBody>
          <a:bodyPr wrap="square" lIns="0" tIns="0" rIns="0" bIns="0" rtlCol="0" anchor="t"/>
          <a:lstStyle/>
          <a:p>
            <a:pPr algn="l" indent="0" marL="0">
              <a:buNone/>
            </a:pPr>
            <a:r>
              <a:rPr lang="en-US" sz="1100" b="1" spc="200" kern="0" dirty="0">
                <a:solidFill>
                  <a:srgbClr val="1769AA"/>
                </a:solidFill>
                <a:latin typeface="Arial" pitchFamily="34" charset="0"/>
                <a:ea typeface="Arial" pitchFamily="34" charset="-122"/>
                <a:cs typeface="Arial" pitchFamily="34" charset="-120"/>
              </a:rPr>
              <a:t>PHASE 2</a:t>
            </a:r>
            <a:endParaRPr lang="en-US" sz="1100" dirty="0"/>
          </a:p>
        </p:txBody>
      </p:sp>
      <p:sp>
        <p:nvSpPr>
          <p:cNvPr id="12" name="Text 10"/>
          <p:cNvSpPr txBox="1"/>
          <p:nvPr/>
        </p:nvSpPr>
        <p:spPr>
          <a:xfrm>
            <a:off x="3665144" y="1828800"/>
            <a:ext cx="2064944" cy="274320"/>
          </a:xfrm>
          <a:prstGeom prst="rect">
            <a:avLst/>
          </a:prstGeom>
          <a:noFill/>
          <a:ln/>
        </p:spPr>
        <p:txBody>
          <a:bodyPr wrap="square" lIns="0" tIns="0" rIns="0" bIns="0" rtlCol="0" anchor="t"/>
          <a:lstStyle/>
          <a:p>
            <a:pPr algn="l" indent="0" marL="0">
              <a:buNone/>
            </a:pPr>
            <a:r>
              <a:rPr lang="en-US" sz="1400" b="1" dirty="0">
                <a:solidFill>
                  <a:srgbClr val="667085"/>
                </a:solidFill>
                <a:latin typeface="Arial" pitchFamily="34" charset="0"/>
                <a:ea typeface="Arial" pitchFamily="34" charset="-122"/>
                <a:cs typeface="Arial" pitchFamily="34" charset="-120"/>
              </a:rPr>
              <a:t>FUTURE SCOPE</a:t>
            </a:r>
            <a:endParaRPr lang="en-US" sz="1400" dirty="0"/>
          </a:p>
        </p:txBody>
      </p:sp>
      <p:sp>
        <p:nvSpPr>
          <p:cNvPr id="13" name="Shape 11"/>
          <p:cNvSpPr/>
          <p:nvPr/>
        </p:nvSpPr>
        <p:spPr>
          <a:xfrm>
            <a:off x="3436544" y="2194560"/>
            <a:ext cx="2522144" cy="2788920"/>
          </a:xfrm>
          <a:prstGeom prst="rect">
            <a:avLst/>
          </a:prstGeom>
          <a:solidFill>
            <a:srgbClr val="FFFFFF"/>
          </a:solidFill>
          <a:ln w="9525">
            <a:solidFill>
              <a:srgbClr val="D9E1EA"/>
            </a:solidFill>
            <a:prstDash val="dash"/>
          </a:ln>
        </p:spPr>
      </p:sp>
      <p:sp>
        <p:nvSpPr>
          <p:cNvPr id="14" name="Text 12"/>
          <p:cNvSpPr txBox="1"/>
          <p:nvPr/>
        </p:nvSpPr>
        <p:spPr>
          <a:xfrm>
            <a:off x="3665144" y="2468880"/>
            <a:ext cx="2064944" cy="2331720"/>
          </a:xfrm>
          <a:prstGeom prst="rect">
            <a:avLst/>
          </a:prstGeom>
          <a:noFill/>
          <a:ln/>
        </p:spPr>
        <p:txBody>
          <a:bodyPr wrap="square" lIns="0" tIns="0" rIns="0" bIns="0" rtlCol="0" anchor="t"/>
          <a:lstStyle/>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Advanced forecasting</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Real-time financial feeds</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Advanced risk models</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Improved optimization</a:t>
            </a:r>
            <a:endParaRPr lang="en-US" sz="1500" dirty="0"/>
          </a:p>
        </p:txBody>
      </p:sp>
      <p:sp>
        <p:nvSpPr>
          <p:cNvPr id="15" name="Shape 13"/>
          <p:cNvSpPr/>
          <p:nvPr/>
        </p:nvSpPr>
        <p:spPr>
          <a:xfrm>
            <a:off x="5995264" y="1805940"/>
            <a:ext cx="201168" cy="0"/>
          </a:xfrm>
          <a:prstGeom prst="line">
            <a:avLst/>
          </a:prstGeom>
          <a:noFill/>
          <a:ln w="15875">
            <a:solidFill>
              <a:srgbClr val="667085"/>
            </a:solidFill>
            <a:prstDash val="solid"/>
            <a:tailEnd type="triangle"/>
          </a:ln>
        </p:spPr>
      </p:sp>
      <p:sp>
        <p:nvSpPr>
          <p:cNvPr id="16" name="Shape 14"/>
          <p:cNvSpPr/>
          <p:nvPr/>
        </p:nvSpPr>
        <p:spPr>
          <a:xfrm>
            <a:off x="6233008" y="1417320"/>
            <a:ext cx="2522144" cy="777240"/>
          </a:xfrm>
          <a:prstGeom prst="rect">
            <a:avLst/>
          </a:prstGeom>
          <a:solidFill>
            <a:srgbClr val="FFFFFF"/>
          </a:solidFill>
          <a:ln w="12700">
            <a:solidFill>
              <a:srgbClr val="667085"/>
            </a:solidFill>
            <a:prstDash val="dash"/>
          </a:ln>
        </p:spPr>
      </p:sp>
      <p:sp>
        <p:nvSpPr>
          <p:cNvPr id="17" name="Text 15"/>
          <p:cNvSpPr txBox="1"/>
          <p:nvPr/>
        </p:nvSpPr>
        <p:spPr>
          <a:xfrm>
            <a:off x="6461608" y="1554480"/>
            <a:ext cx="2064944" cy="201168"/>
          </a:xfrm>
          <a:prstGeom prst="rect">
            <a:avLst/>
          </a:prstGeom>
          <a:noFill/>
          <a:ln/>
        </p:spPr>
        <p:txBody>
          <a:bodyPr wrap="square" lIns="0" tIns="0" rIns="0" bIns="0" rtlCol="0" anchor="t"/>
          <a:lstStyle/>
          <a:p>
            <a:pPr algn="l" indent="0" marL="0">
              <a:buNone/>
            </a:pPr>
            <a:r>
              <a:rPr lang="en-US" sz="1100" b="1" spc="200" kern="0" dirty="0">
                <a:solidFill>
                  <a:srgbClr val="1769AA"/>
                </a:solidFill>
                <a:latin typeface="Arial" pitchFamily="34" charset="0"/>
                <a:ea typeface="Arial" pitchFamily="34" charset="-122"/>
                <a:cs typeface="Arial" pitchFamily="34" charset="-120"/>
              </a:rPr>
              <a:t>PHASE 3</a:t>
            </a:r>
            <a:endParaRPr lang="en-US" sz="1100" dirty="0"/>
          </a:p>
        </p:txBody>
      </p:sp>
      <p:sp>
        <p:nvSpPr>
          <p:cNvPr id="18" name="Text 16"/>
          <p:cNvSpPr txBox="1"/>
          <p:nvPr/>
        </p:nvSpPr>
        <p:spPr>
          <a:xfrm>
            <a:off x="6461608" y="1828800"/>
            <a:ext cx="2064944" cy="274320"/>
          </a:xfrm>
          <a:prstGeom prst="rect">
            <a:avLst/>
          </a:prstGeom>
          <a:noFill/>
          <a:ln/>
        </p:spPr>
        <p:txBody>
          <a:bodyPr wrap="square" lIns="0" tIns="0" rIns="0" bIns="0" rtlCol="0" anchor="t"/>
          <a:lstStyle/>
          <a:p>
            <a:pPr algn="l" indent="0" marL="0">
              <a:buNone/>
            </a:pPr>
            <a:r>
              <a:rPr lang="en-US" sz="1400" b="1" dirty="0">
                <a:solidFill>
                  <a:srgbClr val="667085"/>
                </a:solidFill>
                <a:latin typeface="Arial" pitchFamily="34" charset="0"/>
                <a:ea typeface="Arial" pitchFamily="34" charset="-122"/>
                <a:cs typeface="Arial" pitchFamily="34" charset="-120"/>
              </a:rPr>
              <a:t>FUTURE SCOPE</a:t>
            </a:r>
            <a:endParaRPr lang="en-US" sz="1400" dirty="0"/>
          </a:p>
        </p:txBody>
      </p:sp>
      <p:sp>
        <p:nvSpPr>
          <p:cNvPr id="19" name="Shape 17"/>
          <p:cNvSpPr/>
          <p:nvPr/>
        </p:nvSpPr>
        <p:spPr>
          <a:xfrm>
            <a:off x="6233008" y="2194560"/>
            <a:ext cx="2522144" cy="2788920"/>
          </a:xfrm>
          <a:prstGeom prst="rect">
            <a:avLst/>
          </a:prstGeom>
          <a:solidFill>
            <a:srgbClr val="FFFFFF"/>
          </a:solidFill>
          <a:ln w="9525">
            <a:solidFill>
              <a:srgbClr val="D9E1EA"/>
            </a:solidFill>
            <a:prstDash val="dash"/>
          </a:ln>
        </p:spPr>
      </p:sp>
      <p:sp>
        <p:nvSpPr>
          <p:cNvPr id="20" name="Text 18"/>
          <p:cNvSpPr txBox="1"/>
          <p:nvPr/>
        </p:nvSpPr>
        <p:spPr>
          <a:xfrm>
            <a:off x="6461608" y="2468880"/>
            <a:ext cx="2064944" cy="2331720"/>
          </a:xfrm>
          <a:prstGeom prst="rect">
            <a:avLst/>
          </a:prstGeom>
          <a:noFill/>
          <a:ln/>
        </p:spPr>
        <p:txBody>
          <a:bodyPr wrap="square" lIns="0" tIns="0" rIns="0" bIns="0" rtlCol="0" anchor="t"/>
          <a:lstStyle/>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Enterprise integration</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Financial management systems</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Secure APIs</a:t>
            </a:r>
            <a:endParaRPr lang="en-US" sz="1500" dirty="0"/>
          </a:p>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Advanced audit systems</a:t>
            </a:r>
            <a:endParaRPr lang="en-US" sz="1500" dirty="0"/>
          </a:p>
        </p:txBody>
      </p:sp>
      <p:sp>
        <p:nvSpPr>
          <p:cNvPr id="21" name="Shape 19"/>
          <p:cNvSpPr/>
          <p:nvPr/>
        </p:nvSpPr>
        <p:spPr>
          <a:xfrm>
            <a:off x="8791727" y="1805940"/>
            <a:ext cx="201168" cy="0"/>
          </a:xfrm>
          <a:prstGeom prst="line">
            <a:avLst/>
          </a:prstGeom>
          <a:noFill/>
          <a:ln w="15875">
            <a:solidFill>
              <a:srgbClr val="667085"/>
            </a:solidFill>
            <a:prstDash val="solid"/>
            <a:tailEnd type="triangle"/>
          </a:ln>
        </p:spPr>
      </p:sp>
      <p:sp>
        <p:nvSpPr>
          <p:cNvPr id="22" name="Shape 20"/>
          <p:cNvSpPr/>
          <p:nvPr/>
        </p:nvSpPr>
        <p:spPr>
          <a:xfrm>
            <a:off x="9029471" y="1417320"/>
            <a:ext cx="2522144" cy="777240"/>
          </a:xfrm>
          <a:prstGeom prst="rect">
            <a:avLst/>
          </a:prstGeom>
          <a:solidFill>
            <a:srgbClr val="FFFFFF"/>
          </a:solidFill>
          <a:ln w="12700">
            <a:solidFill>
              <a:srgbClr val="667085"/>
            </a:solidFill>
            <a:prstDash val="dash"/>
          </a:ln>
        </p:spPr>
      </p:sp>
      <p:sp>
        <p:nvSpPr>
          <p:cNvPr id="23" name="Text 21"/>
          <p:cNvSpPr txBox="1"/>
          <p:nvPr/>
        </p:nvSpPr>
        <p:spPr>
          <a:xfrm>
            <a:off x="9258071" y="1554480"/>
            <a:ext cx="2064944" cy="201168"/>
          </a:xfrm>
          <a:prstGeom prst="rect">
            <a:avLst/>
          </a:prstGeom>
          <a:noFill/>
          <a:ln/>
        </p:spPr>
        <p:txBody>
          <a:bodyPr wrap="square" lIns="0" tIns="0" rIns="0" bIns="0" rtlCol="0" anchor="t"/>
          <a:lstStyle/>
          <a:p>
            <a:pPr algn="l" indent="0" marL="0">
              <a:buNone/>
            </a:pPr>
            <a:r>
              <a:rPr lang="en-US" sz="1100" b="1" spc="200" kern="0" dirty="0">
                <a:solidFill>
                  <a:srgbClr val="1769AA"/>
                </a:solidFill>
                <a:latin typeface="Arial" pitchFamily="34" charset="0"/>
                <a:ea typeface="Arial" pitchFamily="34" charset="-122"/>
                <a:cs typeface="Arial" pitchFamily="34" charset="-120"/>
              </a:rPr>
              <a:t>PHASE 4</a:t>
            </a:r>
            <a:endParaRPr lang="en-US" sz="1100" dirty="0"/>
          </a:p>
        </p:txBody>
      </p:sp>
      <p:sp>
        <p:nvSpPr>
          <p:cNvPr id="24" name="Text 22"/>
          <p:cNvSpPr txBox="1"/>
          <p:nvPr/>
        </p:nvSpPr>
        <p:spPr>
          <a:xfrm>
            <a:off x="9258071" y="1828800"/>
            <a:ext cx="2064944" cy="274320"/>
          </a:xfrm>
          <a:prstGeom prst="rect">
            <a:avLst/>
          </a:prstGeom>
          <a:noFill/>
          <a:ln/>
        </p:spPr>
        <p:txBody>
          <a:bodyPr wrap="square" lIns="0" tIns="0" rIns="0" bIns="0" rtlCol="0" anchor="t"/>
          <a:lstStyle/>
          <a:p>
            <a:pPr algn="l" indent="0" marL="0">
              <a:buNone/>
            </a:pPr>
            <a:r>
              <a:rPr lang="en-US" sz="1400" b="1" dirty="0">
                <a:solidFill>
                  <a:srgbClr val="667085"/>
                </a:solidFill>
                <a:latin typeface="Arial" pitchFamily="34" charset="0"/>
                <a:ea typeface="Arial" pitchFamily="34" charset="-122"/>
                <a:cs typeface="Arial" pitchFamily="34" charset="-120"/>
              </a:rPr>
              <a:t>FUTURE SCOPE</a:t>
            </a:r>
            <a:endParaRPr lang="en-US" sz="1400" dirty="0"/>
          </a:p>
        </p:txBody>
      </p:sp>
      <p:sp>
        <p:nvSpPr>
          <p:cNvPr id="25" name="Shape 23"/>
          <p:cNvSpPr/>
          <p:nvPr/>
        </p:nvSpPr>
        <p:spPr>
          <a:xfrm>
            <a:off x="9029471" y="2194560"/>
            <a:ext cx="2522144" cy="2788920"/>
          </a:xfrm>
          <a:prstGeom prst="rect">
            <a:avLst/>
          </a:prstGeom>
          <a:solidFill>
            <a:srgbClr val="FFFFFF"/>
          </a:solidFill>
          <a:ln w="9525">
            <a:solidFill>
              <a:srgbClr val="D9E1EA"/>
            </a:solidFill>
            <a:prstDash val="dash"/>
          </a:ln>
        </p:spPr>
      </p:sp>
      <p:sp>
        <p:nvSpPr>
          <p:cNvPr id="26" name="Text 24"/>
          <p:cNvSpPr txBox="1"/>
          <p:nvPr/>
        </p:nvSpPr>
        <p:spPr>
          <a:xfrm>
            <a:off x="9258071" y="2468880"/>
            <a:ext cx="2064944" cy="2331720"/>
          </a:xfrm>
          <a:prstGeom prst="rect">
            <a:avLst/>
          </a:prstGeom>
          <a:noFill/>
          <a:ln/>
        </p:spPr>
        <p:txBody>
          <a:bodyPr wrap="square" lIns="0" tIns="0" rIns="0" bIns="0" rtlCol="0" anchor="t"/>
          <a:lstStyle/>
          <a:p>
            <a:pPr algn="l" marL="177800" indent="-177800">
              <a:spcAft>
                <a:spcPts val="900"/>
              </a:spcAft>
              <a:buSzPct val="100000"/>
              <a:buChar char="•"/>
            </a:pPr>
            <a:r>
              <a:rPr lang="en-US" sz="1500" dirty="0">
                <a:solidFill>
                  <a:srgbClr val="344054"/>
                </a:solidFill>
                <a:latin typeface="Arial" pitchFamily="34" charset="0"/>
                <a:ea typeface="Arial" pitchFamily="34" charset="-122"/>
                <a:cs typeface="Arial" pitchFamily="34" charset="-120"/>
              </a:rPr>
              <a:t>Large-scale intelligent financial operations</a:t>
            </a:r>
            <a:endParaRPr lang="en-US" sz="1500" dirty="0"/>
          </a:p>
        </p:txBody>
      </p:sp>
      <p:sp>
        <p:nvSpPr>
          <p:cNvPr id="27" name="Shape 25"/>
          <p:cNvSpPr/>
          <p:nvPr/>
        </p:nvSpPr>
        <p:spPr>
          <a:xfrm>
            <a:off x="640080" y="5440680"/>
            <a:ext cx="10911535" cy="685800"/>
          </a:xfrm>
          <a:prstGeom prst="rect">
            <a:avLst/>
          </a:prstGeom>
          <a:solidFill>
            <a:srgbClr val="EAF2FA"/>
          </a:solidFill>
          <a:ln w="9525">
            <a:solidFill>
              <a:srgbClr val="1769AA"/>
            </a:solidFill>
            <a:prstDash val="solid"/>
          </a:ln>
        </p:spPr>
      </p:sp>
      <p:sp>
        <p:nvSpPr>
          <p:cNvPr id="28" name="Text 26"/>
          <p:cNvSpPr txBox="1"/>
          <p:nvPr/>
        </p:nvSpPr>
        <p:spPr>
          <a:xfrm>
            <a:off x="868680" y="5440680"/>
            <a:ext cx="10454335" cy="685800"/>
          </a:xfrm>
          <a:prstGeom prst="rect">
            <a:avLst/>
          </a:prstGeom>
          <a:noFill/>
          <a:ln/>
        </p:spPr>
        <p:txBody>
          <a:bodyPr wrap="square" lIns="0" tIns="0" rIns="0" bIns="0" rtlCol="0" anchor="ctr"/>
          <a:lstStyle/>
          <a:p>
            <a:pPr algn="l" indent="0" marL="0">
              <a:buNone/>
            </a:pPr>
            <a:r>
              <a:rPr lang="en-US" sz="1300" b="1" dirty="0">
                <a:solidFill>
                  <a:srgbClr val="1769AA"/>
                </a:solidFill>
                <a:latin typeface="Arial" pitchFamily="34" charset="0"/>
                <a:ea typeface="Arial" pitchFamily="34" charset="-122"/>
                <a:cs typeface="Arial" pitchFamily="34" charset="-120"/>
              </a:rPr>
              <a:t>Scope note  </a:t>
            </a:r>
            <a:pPr algn="l" indent="0" marL="0">
              <a:buNone/>
            </a:pPr>
            <a:r>
              <a:rPr lang="en-US" sz="1300" dirty="0">
                <a:solidFill>
                  <a:srgbClr val="0B1F33"/>
                </a:solidFill>
                <a:latin typeface="Arial" pitchFamily="34" charset="0"/>
                <a:ea typeface="Arial" pitchFamily="34" charset="-122"/>
                <a:cs typeface="Arial" pitchFamily="34" charset="-120"/>
              </a:rPr>
              <a:t>Phases 2 to 4 are future scope. The current prototype uses simulated data only and does not connect to real government financial systems.</a:t>
            </a:r>
            <a:endParaRPr lang="en-US" sz="1300" dirty="0"/>
          </a:p>
        </p:txBody>
      </p:sp>
      <p:sp>
        <p:nvSpPr>
          <p:cNvPr id="29" name="Shape 27"/>
          <p:cNvSpPr/>
          <p:nvPr/>
        </p:nvSpPr>
        <p:spPr>
          <a:xfrm>
            <a:off x="640080" y="6382512"/>
            <a:ext cx="10911535" cy="0"/>
          </a:xfrm>
          <a:prstGeom prst="line">
            <a:avLst/>
          </a:prstGeom>
          <a:noFill/>
          <a:ln w="9525">
            <a:solidFill>
              <a:srgbClr val="D9E1EA"/>
            </a:solidFill>
            <a:prstDash val="solid"/>
          </a:ln>
        </p:spPr>
      </p:sp>
      <p:sp>
        <p:nvSpPr>
          <p:cNvPr id="30" name="Text 28"/>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667085"/>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667085"/>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640080" y="347472"/>
            <a:ext cx="5486400" cy="201168"/>
          </a:xfrm>
          <a:prstGeom prst="rect">
            <a:avLst/>
          </a:prstGeom>
          <a:noFill/>
          <a:ln/>
        </p:spPr>
        <p:txBody>
          <a:bodyPr wrap="square" lIns="0" tIns="0" rIns="0" bIns="0" rtlCol="0" anchor="t"/>
          <a:lstStyle/>
          <a:p>
            <a:pPr algn="l" indent="0" marL="0">
              <a:buNone/>
            </a:pPr>
            <a:r>
              <a:rPr lang="en-US" sz="1050" b="1" spc="200" kern="0" dirty="0">
                <a:solidFill>
                  <a:srgbClr val="7FB2E0"/>
                </a:solidFill>
                <a:latin typeface="Arial" pitchFamily="34" charset="0"/>
                <a:ea typeface="Arial" pitchFamily="34" charset="-122"/>
                <a:cs typeface="Arial" pitchFamily="34" charset="-120"/>
              </a:rPr>
              <a:t>SUMMARY</a:t>
            </a:r>
            <a:endParaRPr lang="en-US" sz="1050" dirty="0"/>
          </a:p>
        </p:txBody>
      </p:sp>
      <p:sp>
        <p:nvSpPr>
          <p:cNvPr id="3" name="Text 1"/>
          <p:cNvSpPr txBox="1"/>
          <p:nvPr/>
        </p:nvSpPr>
        <p:spPr>
          <a:xfrm>
            <a:off x="640080" y="585216"/>
            <a:ext cx="10911535"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Conclusion</a:t>
            </a:r>
            <a:endParaRPr lang="en-US" sz="3000" dirty="0"/>
          </a:p>
        </p:txBody>
      </p:sp>
      <p:sp>
        <p:nvSpPr>
          <p:cNvPr id="4" name="Text 2"/>
          <p:cNvSpPr txBox="1"/>
          <p:nvPr/>
        </p:nvSpPr>
        <p:spPr>
          <a:xfrm>
            <a:off x="640080" y="1371600"/>
            <a:ext cx="10241280" cy="914400"/>
          </a:xfrm>
          <a:prstGeom prst="rect">
            <a:avLst/>
          </a:prstGeom>
          <a:noFill/>
          <a:ln/>
        </p:spPr>
        <p:txBody>
          <a:bodyPr wrap="square" lIns="0" tIns="0" rIns="0" bIns="0" rtlCol="0" anchor="t"/>
          <a:lstStyle/>
          <a:p>
            <a:pPr algn="l" indent="0" marL="0">
              <a:buNone/>
            </a:pPr>
            <a:r>
              <a:rPr lang="en-US" sz="2400" dirty="0">
                <a:solidFill>
                  <a:srgbClr val="FFFFFF"/>
                </a:solidFill>
                <a:latin typeface="Arial" pitchFamily="34" charset="0"/>
                <a:ea typeface="Arial" pitchFamily="34" charset="-122"/>
                <a:cs typeface="Arial" pitchFamily="34" charset="-120"/>
              </a:rPr>
              <a:t>FINOS demonstrates how FinTech and Agentic AI can be combined to create a controlled financial decision-support system.</a:t>
            </a:r>
            <a:endParaRPr lang="en-US" sz="2400" dirty="0"/>
          </a:p>
        </p:txBody>
      </p:sp>
      <p:sp>
        <p:nvSpPr>
          <p:cNvPr id="5" name="Shape 3"/>
          <p:cNvSpPr/>
          <p:nvPr/>
        </p:nvSpPr>
        <p:spPr>
          <a:xfrm>
            <a:off x="640080" y="2514600"/>
            <a:ext cx="2522144" cy="1600200"/>
          </a:xfrm>
          <a:prstGeom prst="rect">
            <a:avLst/>
          </a:prstGeom>
          <a:solidFill>
            <a:srgbClr val="12395A"/>
          </a:solidFill>
          <a:ln w="9525">
            <a:solidFill>
              <a:srgbClr val="24507A"/>
            </a:solidFill>
            <a:prstDash val="solid"/>
          </a:ln>
        </p:spPr>
      </p:sp>
      <p:sp>
        <p:nvSpPr>
          <p:cNvPr id="6" name="Text 4"/>
          <p:cNvSpPr txBox="1"/>
          <p:nvPr/>
        </p:nvSpPr>
        <p:spPr>
          <a:xfrm>
            <a:off x="868680" y="2788920"/>
            <a:ext cx="2064944" cy="228600"/>
          </a:xfrm>
          <a:prstGeom prst="rect">
            <a:avLst/>
          </a:prstGeom>
          <a:noFill/>
          <a:ln/>
        </p:spPr>
        <p:txBody>
          <a:bodyPr wrap="square" lIns="0" tIns="0" rIns="0" bIns="0" rtlCol="0" anchor="t"/>
          <a:lstStyle/>
          <a:p>
            <a:pPr algn="l" indent="0" marL="0">
              <a:buNone/>
            </a:pPr>
            <a:r>
              <a:rPr lang="en-US" sz="1200" b="1" spc="200" kern="0" dirty="0">
                <a:solidFill>
                  <a:srgbClr val="7FB2E0"/>
                </a:solidFill>
                <a:latin typeface="Arial" pitchFamily="34" charset="0"/>
                <a:ea typeface="Arial" pitchFamily="34" charset="-122"/>
                <a:cs typeface="Arial" pitchFamily="34" charset="-120"/>
              </a:rPr>
              <a:t>INTELLIGENT</a:t>
            </a:r>
            <a:endParaRPr lang="en-US" sz="1200" dirty="0"/>
          </a:p>
        </p:txBody>
      </p:sp>
      <p:sp>
        <p:nvSpPr>
          <p:cNvPr id="7" name="Text 5"/>
          <p:cNvSpPr txBox="1"/>
          <p:nvPr/>
        </p:nvSpPr>
        <p:spPr>
          <a:xfrm>
            <a:off x="868680" y="3200400"/>
            <a:ext cx="2064944" cy="822960"/>
          </a:xfrm>
          <a:prstGeom prst="rect">
            <a:avLst/>
          </a:prstGeom>
          <a:noFill/>
          <a:ln/>
        </p:spPr>
        <p:txBody>
          <a:bodyPr wrap="square" lIns="0" tIns="0" rIns="0" bIns="0" rtlCol="0" anchor="t"/>
          <a:lstStyle/>
          <a:p>
            <a:pPr algn="l" indent="0" marL="0">
              <a:buNone/>
            </a:pPr>
            <a:r>
              <a:rPr lang="en-US" sz="1800" dirty="0">
                <a:solidFill>
                  <a:srgbClr val="FFFFFF"/>
                </a:solidFill>
                <a:latin typeface="Arial" pitchFamily="34" charset="0"/>
                <a:ea typeface="Arial" pitchFamily="34" charset="-122"/>
                <a:cs typeface="Arial" pitchFamily="34" charset="-120"/>
              </a:rPr>
              <a:t>Financial reasoning</a:t>
            </a:r>
            <a:endParaRPr lang="en-US" sz="1800" dirty="0"/>
          </a:p>
        </p:txBody>
      </p:sp>
      <p:sp>
        <p:nvSpPr>
          <p:cNvPr id="8" name="Shape 6"/>
          <p:cNvSpPr/>
          <p:nvPr/>
        </p:nvSpPr>
        <p:spPr>
          <a:xfrm>
            <a:off x="3436544" y="2514600"/>
            <a:ext cx="2522144" cy="1600200"/>
          </a:xfrm>
          <a:prstGeom prst="rect">
            <a:avLst/>
          </a:prstGeom>
          <a:solidFill>
            <a:srgbClr val="12395A"/>
          </a:solidFill>
          <a:ln w="9525">
            <a:solidFill>
              <a:srgbClr val="24507A"/>
            </a:solidFill>
            <a:prstDash val="solid"/>
          </a:ln>
        </p:spPr>
      </p:sp>
      <p:sp>
        <p:nvSpPr>
          <p:cNvPr id="9" name="Text 7"/>
          <p:cNvSpPr txBox="1"/>
          <p:nvPr/>
        </p:nvSpPr>
        <p:spPr>
          <a:xfrm>
            <a:off x="3665144" y="2788920"/>
            <a:ext cx="2064944" cy="228600"/>
          </a:xfrm>
          <a:prstGeom prst="rect">
            <a:avLst/>
          </a:prstGeom>
          <a:noFill/>
          <a:ln/>
        </p:spPr>
        <p:txBody>
          <a:bodyPr wrap="square" lIns="0" tIns="0" rIns="0" bIns="0" rtlCol="0" anchor="t"/>
          <a:lstStyle/>
          <a:p>
            <a:pPr algn="l" indent="0" marL="0">
              <a:buNone/>
            </a:pPr>
            <a:r>
              <a:rPr lang="en-US" sz="1200" b="1" spc="200" kern="0" dirty="0">
                <a:solidFill>
                  <a:srgbClr val="7FB2E0"/>
                </a:solidFill>
                <a:latin typeface="Arial" pitchFamily="34" charset="0"/>
                <a:ea typeface="Arial" pitchFamily="34" charset="-122"/>
                <a:cs typeface="Arial" pitchFamily="34" charset="-120"/>
              </a:rPr>
              <a:t>CONSTRAINED</a:t>
            </a:r>
            <a:endParaRPr lang="en-US" sz="1200" dirty="0"/>
          </a:p>
        </p:txBody>
      </p:sp>
      <p:sp>
        <p:nvSpPr>
          <p:cNvPr id="10" name="Text 8"/>
          <p:cNvSpPr txBox="1"/>
          <p:nvPr/>
        </p:nvSpPr>
        <p:spPr>
          <a:xfrm>
            <a:off x="3665144" y="3200400"/>
            <a:ext cx="2064944" cy="822960"/>
          </a:xfrm>
          <a:prstGeom prst="rect">
            <a:avLst/>
          </a:prstGeom>
          <a:noFill/>
          <a:ln/>
        </p:spPr>
        <p:txBody>
          <a:bodyPr wrap="square" lIns="0" tIns="0" rIns="0" bIns="0" rtlCol="0" anchor="t"/>
          <a:lstStyle/>
          <a:p>
            <a:pPr algn="l" indent="0" marL="0">
              <a:buNone/>
            </a:pPr>
            <a:r>
              <a:rPr lang="en-US" sz="1800" dirty="0">
                <a:solidFill>
                  <a:srgbClr val="FFFFFF"/>
                </a:solidFill>
                <a:latin typeface="Arial" pitchFamily="34" charset="0"/>
                <a:ea typeface="Arial" pitchFamily="34" charset="-122"/>
                <a:cs typeface="Arial" pitchFamily="34" charset="-120"/>
              </a:rPr>
              <a:t>Policy-aware planning</a:t>
            </a:r>
            <a:endParaRPr lang="en-US" sz="1800" dirty="0"/>
          </a:p>
        </p:txBody>
      </p:sp>
      <p:sp>
        <p:nvSpPr>
          <p:cNvPr id="11" name="Shape 9"/>
          <p:cNvSpPr/>
          <p:nvPr/>
        </p:nvSpPr>
        <p:spPr>
          <a:xfrm>
            <a:off x="6233008" y="2514600"/>
            <a:ext cx="2522144" cy="1600200"/>
          </a:xfrm>
          <a:prstGeom prst="rect">
            <a:avLst/>
          </a:prstGeom>
          <a:solidFill>
            <a:srgbClr val="12395A"/>
          </a:solidFill>
          <a:ln w="9525">
            <a:solidFill>
              <a:srgbClr val="24507A"/>
            </a:solidFill>
            <a:prstDash val="solid"/>
          </a:ln>
        </p:spPr>
      </p:sp>
      <p:sp>
        <p:nvSpPr>
          <p:cNvPr id="12" name="Text 10"/>
          <p:cNvSpPr txBox="1"/>
          <p:nvPr/>
        </p:nvSpPr>
        <p:spPr>
          <a:xfrm>
            <a:off x="6461608" y="2788920"/>
            <a:ext cx="2064944" cy="228600"/>
          </a:xfrm>
          <a:prstGeom prst="rect">
            <a:avLst/>
          </a:prstGeom>
          <a:noFill/>
          <a:ln/>
        </p:spPr>
        <p:txBody>
          <a:bodyPr wrap="square" lIns="0" tIns="0" rIns="0" bIns="0" rtlCol="0" anchor="t"/>
          <a:lstStyle/>
          <a:p>
            <a:pPr algn="l" indent="0" marL="0">
              <a:buNone/>
            </a:pPr>
            <a:r>
              <a:rPr lang="en-US" sz="1200" b="1" spc="200" kern="0" dirty="0">
                <a:solidFill>
                  <a:srgbClr val="7FB2E0"/>
                </a:solidFill>
                <a:latin typeface="Arial" pitchFamily="34" charset="0"/>
                <a:ea typeface="Arial" pitchFamily="34" charset="-122"/>
                <a:cs typeface="Arial" pitchFamily="34" charset="-120"/>
              </a:rPr>
              <a:t>EXPLAINABLE</a:t>
            </a:r>
            <a:endParaRPr lang="en-US" sz="1200" dirty="0"/>
          </a:p>
        </p:txBody>
      </p:sp>
      <p:sp>
        <p:nvSpPr>
          <p:cNvPr id="13" name="Text 11"/>
          <p:cNvSpPr txBox="1"/>
          <p:nvPr/>
        </p:nvSpPr>
        <p:spPr>
          <a:xfrm>
            <a:off x="6461608" y="3200400"/>
            <a:ext cx="2064944" cy="822960"/>
          </a:xfrm>
          <a:prstGeom prst="rect">
            <a:avLst/>
          </a:prstGeom>
          <a:noFill/>
          <a:ln/>
        </p:spPr>
        <p:txBody>
          <a:bodyPr wrap="square" lIns="0" tIns="0" rIns="0" bIns="0" rtlCol="0" anchor="t"/>
          <a:lstStyle/>
          <a:p>
            <a:pPr algn="l" indent="0" marL="0">
              <a:buNone/>
            </a:pPr>
            <a:r>
              <a:rPr lang="en-US" sz="1800" dirty="0">
                <a:solidFill>
                  <a:srgbClr val="FFFFFF"/>
                </a:solidFill>
                <a:latin typeface="Arial" pitchFamily="34" charset="0"/>
                <a:ea typeface="Arial" pitchFamily="34" charset="-122"/>
                <a:cs typeface="Arial" pitchFamily="34" charset="-120"/>
              </a:rPr>
              <a:t>Traceable decisions</a:t>
            </a:r>
            <a:endParaRPr lang="en-US" sz="1800" dirty="0"/>
          </a:p>
        </p:txBody>
      </p:sp>
      <p:sp>
        <p:nvSpPr>
          <p:cNvPr id="14" name="Shape 12"/>
          <p:cNvSpPr/>
          <p:nvPr/>
        </p:nvSpPr>
        <p:spPr>
          <a:xfrm>
            <a:off x="9029471" y="2514600"/>
            <a:ext cx="2522144" cy="1600200"/>
          </a:xfrm>
          <a:prstGeom prst="rect">
            <a:avLst/>
          </a:prstGeom>
          <a:solidFill>
            <a:srgbClr val="12395A"/>
          </a:solidFill>
          <a:ln w="9525">
            <a:solidFill>
              <a:srgbClr val="24507A"/>
            </a:solidFill>
            <a:prstDash val="solid"/>
          </a:ln>
        </p:spPr>
      </p:sp>
      <p:sp>
        <p:nvSpPr>
          <p:cNvPr id="15" name="Text 13"/>
          <p:cNvSpPr txBox="1"/>
          <p:nvPr/>
        </p:nvSpPr>
        <p:spPr>
          <a:xfrm>
            <a:off x="9258071" y="2788920"/>
            <a:ext cx="2064944" cy="228600"/>
          </a:xfrm>
          <a:prstGeom prst="rect">
            <a:avLst/>
          </a:prstGeom>
          <a:noFill/>
          <a:ln/>
        </p:spPr>
        <p:txBody>
          <a:bodyPr wrap="square" lIns="0" tIns="0" rIns="0" bIns="0" rtlCol="0" anchor="t"/>
          <a:lstStyle/>
          <a:p>
            <a:pPr algn="l" indent="0" marL="0">
              <a:buNone/>
            </a:pPr>
            <a:r>
              <a:rPr lang="en-US" sz="1200" b="1" spc="200" kern="0" dirty="0">
                <a:solidFill>
                  <a:srgbClr val="7FB2E0"/>
                </a:solidFill>
                <a:latin typeface="Arial" pitchFamily="34" charset="0"/>
                <a:ea typeface="Arial" pitchFamily="34" charset="-122"/>
                <a:cs typeface="Arial" pitchFamily="34" charset="-120"/>
              </a:rPr>
              <a:t>HUMAN-CONTROLLED</a:t>
            </a:r>
            <a:endParaRPr lang="en-US" sz="1200" dirty="0"/>
          </a:p>
        </p:txBody>
      </p:sp>
      <p:sp>
        <p:nvSpPr>
          <p:cNvPr id="16" name="Text 14"/>
          <p:cNvSpPr txBox="1"/>
          <p:nvPr/>
        </p:nvSpPr>
        <p:spPr>
          <a:xfrm>
            <a:off x="9258071" y="3200400"/>
            <a:ext cx="2064944" cy="822960"/>
          </a:xfrm>
          <a:prstGeom prst="rect">
            <a:avLst/>
          </a:prstGeom>
          <a:noFill/>
          <a:ln/>
        </p:spPr>
        <p:txBody>
          <a:bodyPr wrap="square" lIns="0" tIns="0" rIns="0" bIns="0" rtlCol="0" anchor="t"/>
          <a:lstStyle/>
          <a:p>
            <a:pPr algn="l" indent="0" marL="0">
              <a:buNone/>
            </a:pPr>
            <a:r>
              <a:rPr lang="en-US" sz="1800" dirty="0">
                <a:solidFill>
                  <a:srgbClr val="FFFFFF"/>
                </a:solidFill>
                <a:latin typeface="Arial" pitchFamily="34" charset="0"/>
                <a:ea typeface="Arial" pitchFamily="34" charset="-122"/>
                <a:cs typeface="Arial" pitchFamily="34" charset="-120"/>
              </a:rPr>
              <a:t>Approval before high-impact actions</a:t>
            </a:r>
            <a:endParaRPr lang="en-US" sz="1800" dirty="0"/>
          </a:p>
        </p:txBody>
      </p:sp>
      <p:sp>
        <p:nvSpPr>
          <p:cNvPr id="17" name="Text 15"/>
          <p:cNvSpPr txBox="1"/>
          <p:nvPr/>
        </p:nvSpPr>
        <p:spPr>
          <a:xfrm>
            <a:off x="640080" y="4526280"/>
            <a:ext cx="1187920" cy="411480"/>
          </a:xfrm>
          <a:prstGeom prst="rect">
            <a:avLst/>
          </a:prstGeom>
          <a:noFill/>
          <a:ln w="9525">
            <a:solidFill>
              <a:srgbClr val="3A6A96"/>
            </a:solidFill>
          </a:ln>
        </p:spPr>
        <p:txBody>
          <a:bodyPr wrap="square" lIns="762" tIns="762" rIns="762" bIns="762"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OBSERVE</a:t>
            </a:r>
            <a:endParaRPr lang="en-US" sz="1100" dirty="0"/>
          </a:p>
        </p:txBody>
      </p:sp>
      <p:sp>
        <p:nvSpPr>
          <p:cNvPr id="18" name="Shape 16"/>
          <p:cNvSpPr/>
          <p:nvPr/>
        </p:nvSpPr>
        <p:spPr>
          <a:xfrm>
            <a:off x="1846288" y="4732020"/>
            <a:ext cx="164592" cy="0"/>
          </a:xfrm>
          <a:prstGeom prst="line">
            <a:avLst/>
          </a:prstGeom>
          <a:noFill/>
          <a:ln w="15875">
            <a:solidFill>
              <a:srgbClr val="7FB2E0"/>
            </a:solidFill>
            <a:prstDash val="solid"/>
            <a:tailEnd type="triangle"/>
          </a:ln>
        </p:spPr>
      </p:sp>
      <p:sp>
        <p:nvSpPr>
          <p:cNvPr id="19" name="Text 17"/>
          <p:cNvSpPr txBox="1"/>
          <p:nvPr/>
        </p:nvSpPr>
        <p:spPr>
          <a:xfrm>
            <a:off x="2029168" y="4526280"/>
            <a:ext cx="1187920" cy="411480"/>
          </a:xfrm>
          <a:prstGeom prst="rect">
            <a:avLst/>
          </a:prstGeom>
          <a:noFill/>
          <a:ln w="9525">
            <a:solidFill>
              <a:srgbClr val="3A6A96"/>
            </a:solidFill>
          </a:ln>
        </p:spPr>
        <p:txBody>
          <a:bodyPr wrap="square" lIns="762" tIns="762" rIns="762" bIns="762"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REASON</a:t>
            </a:r>
            <a:endParaRPr lang="en-US" sz="1100" dirty="0"/>
          </a:p>
        </p:txBody>
      </p:sp>
      <p:sp>
        <p:nvSpPr>
          <p:cNvPr id="20" name="Shape 18"/>
          <p:cNvSpPr/>
          <p:nvPr/>
        </p:nvSpPr>
        <p:spPr>
          <a:xfrm>
            <a:off x="3235376" y="4732020"/>
            <a:ext cx="164592" cy="0"/>
          </a:xfrm>
          <a:prstGeom prst="line">
            <a:avLst/>
          </a:prstGeom>
          <a:noFill/>
          <a:ln w="15875">
            <a:solidFill>
              <a:srgbClr val="7FB2E0"/>
            </a:solidFill>
            <a:prstDash val="solid"/>
            <a:tailEnd type="triangle"/>
          </a:ln>
        </p:spPr>
      </p:sp>
      <p:sp>
        <p:nvSpPr>
          <p:cNvPr id="21" name="Text 19"/>
          <p:cNvSpPr txBox="1"/>
          <p:nvPr/>
        </p:nvSpPr>
        <p:spPr>
          <a:xfrm>
            <a:off x="3418256" y="4526280"/>
            <a:ext cx="1187920" cy="411480"/>
          </a:xfrm>
          <a:prstGeom prst="rect">
            <a:avLst/>
          </a:prstGeom>
          <a:noFill/>
          <a:ln w="9525">
            <a:solidFill>
              <a:srgbClr val="3A6A96"/>
            </a:solidFill>
          </a:ln>
        </p:spPr>
        <p:txBody>
          <a:bodyPr wrap="square" lIns="762" tIns="762" rIns="762" bIns="762"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PLAN</a:t>
            </a:r>
            <a:endParaRPr lang="en-US" sz="1100" dirty="0"/>
          </a:p>
        </p:txBody>
      </p:sp>
      <p:sp>
        <p:nvSpPr>
          <p:cNvPr id="22" name="Shape 20"/>
          <p:cNvSpPr/>
          <p:nvPr/>
        </p:nvSpPr>
        <p:spPr>
          <a:xfrm>
            <a:off x="4624464" y="4732020"/>
            <a:ext cx="164592" cy="0"/>
          </a:xfrm>
          <a:prstGeom prst="line">
            <a:avLst/>
          </a:prstGeom>
          <a:noFill/>
          <a:ln w="15875">
            <a:solidFill>
              <a:srgbClr val="7FB2E0"/>
            </a:solidFill>
            <a:prstDash val="solid"/>
            <a:tailEnd type="triangle"/>
          </a:ln>
        </p:spPr>
      </p:sp>
      <p:sp>
        <p:nvSpPr>
          <p:cNvPr id="23" name="Text 21"/>
          <p:cNvSpPr txBox="1"/>
          <p:nvPr/>
        </p:nvSpPr>
        <p:spPr>
          <a:xfrm>
            <a:off x="4807344" y="4526280"/>
            <a:ext cx="1187920" cy="411480"/>
          </a:xfrm>
          <a:prstGeom prst="rect">
            <a:avLst/>
          </a:prstGeom>
          <a:noFill/>
          <a:ln w="9525">
            <a:solidFill>
              <a:srgbClr val="3A6A96"/>
            </a:solidFill>
          </a:ln>
        </p:spPr>
        <p:txBody>
          <a:bodyPr wrap="square" lIns="762" tIns="762" rIns="762" bIns="762"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VALIDATE</a:t>
            </a:r>
            <a:endParaRPr lang="en-US" sz="1100" dirty="0"/>
          </a:p>
        </p:txBody>
      </p:sp>
      <p:sp>
        <p:nvSpPr>
          <p:cNvPr id="24" name="Shape 22"/>
          <p:cNvSpPr/>
          <p:nvPr/>
        </p:nvSpPr>
        <p:spPr>
          <a:xfrm>
            <a:off x="6013552" y="4732020"/>
            <a:ext cx="164592" cy="0"/>
          </a:xfrm>
          <a:prstGeom prst="line">
            <a:avLst/>
          </a:prstGeom>
          <a:noFill/>
          <a:ln w="15875">
            <a:solidFill>
              <a:srgbClr val="7FB2E0"/>
            </a:solidFill>
            <a:prstDash val="solid"/>
            <a:tailEnd type="triangle"/>
          </a:ln>
        </p:spPr>
      </p:sp>
      <p:sp>
        <p:nvSpPr>
          <p:cNvPr id="25" name="Text 23"/>
          <p:cNvSpPr txBox="1"/>
          <p:nvPr/>
        </p:nvSpPr>
        <p:spPr>
          <a:xfrm>
            <a:off x="6196432" y="4526280"/>
            <a:ext cx="1187920" cy="411480"/>
          </a:xfrm>
          <a:prstGeom prst="rect">
            <a:avLst/>
          </a:prstGeom>
          <a:noFill/>
          <a:ln w="9525">
            <a:solidFill>
              <a:srgbClr val="3A6A96"/>
            </a:solidFill>
          </a:ln>
        </p:spPr>
        <p:txBody>
          <a:bodyPr wrap="square" lIns="762" tIns="762" rIns="762" bIns="762"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APPROVE</a:t>
            </a:r>
            <a:endParaRPr lang="en-US" sz="1100" dirty="0"/>
          </a:p>
        </p:txBody>
      </p:sp>
      <p:sp>
        <p:nvSpPr>
          <p:cNvPr id="26" name="Shape 24"/>
          <p:cNvSpPr/>
          <p:nvPr/>
        </p:nvSpPr>
        <p:spPr>
          <a:xfrm>
            <a:off x="7402640" y="4732020"/>
            <a:ext cx="164592" cy="0"/>
          </a:xfrm>
          <a:prstGeom prst="line">
            <a:avLst/>
          </a:prstGeom>
          <a:noFill/>
          <a:ln w="15875">
            <a:solidFill>
              <a:srgbClr val="7FB2E0"/>
            </a:solidFill>
            <a:prstDash val="solid"/>
            <a:tailEnd type="triangle"/>
          </a:ln>
        </p:spPr>
      </p:sp>
      <p:sp>
        <p:nvSpPr>
          <p:cNvPr id="27" name="Text 25"/>
          <p:cNvSpPr txBox="1"/>
          <p:nvPr/>
        </p:nvSpPr>
        <p:spPr>
          <a:xfrm>
            <a:off x="7585519" y="4526280"/>
            <a:ext cx="1187920" cy="411480"/>
          </a:xfrm>
          <a:prstGeom prst="rect">
            <a:avLst/>
          </a:prstGeom>
          <a:noFill/>
          <a:ln w="9525">
            <a:solidFill>
              <a:srgbClr val="3A6A96"/>
            </a:solidFill>
          </a:ln>
        </p:spPr>
        <p:txBody>
          <a:bodyPr wrap="square" lIns="762" tIns="762" rIns="762" bIns="762"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ACT</a:t>
            </a:r>
            <a:endParaRPr lang="en-US" sz="1100" dirty="0"/>
          </a:p>
        </p:txBody>
      </p:sp>
      <p:sp>
        <p:nvSpPr>
          <p:cNvPr id="28" name="Shape 26"/>
          <p:cNvSpPr/>
          <p:nvPr/>
        </p:nvSpPr>
        <p:spPr>
          <a:xfrm>
            <a:off x="8791727" y="4732020"/>
            <a:ext cx="164592" cy="0"/>
          </a:xfrm>
          <a:prstGeom prst="line">
            <a:avLst/>
          </a:prstGeom>
          <a:noFill/>
          <a:ln w="15875">
            <a:solidFill>
              <a:srgbClr val="7FB2E0"/>
            </a:solidFill>
            <a:prstDash val="solid"/>
            <a:tailEnd type="triangle"/>
          </a:ln>
        </p:spPr>
      </p:sp>
      <p:sp>
        <p:nvSpPr>
          <p:cNvPr id="29" name="Text 27"/>
          <p:cNvSpPr txBox="1"/>
          <p:nvPr/>
        </p:nvSpPr>
        <p:spPr>
          <a:xfrm>
            <a:off x="8974607" y="4526280"/>
            <a:ext cx="1187920" cy="411480"/>
          </a:xfrm>
          <a:prstGeom prst="rect">
            <a:avLst/>
          </a:prstGeom>
          <a:noFill/>
          <a:ln w="9525">
            <a:solidFill>
              <a:srgbClr val="3A6A96"/>
            </a:solidFill>
          </a:ln>
        </p:spPr>
        <p:txBody>
          <a:bodyPr wrap="square" lIns="762" tIns="762" rIns="762" bIns="762"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VERIFY</a:t>
            </a:r>
            <a:endParaRPr lang="en-US" sz="1100" dirty="0"/>
          </a:p>
        </p:txBody>
      </p:sp>
      <p:sp>
        <p:nvSpPr>
          <p:cNvPr id="30" name="Shape 28"/>
          <p:cNvSpPr/>
          <p:nvPr/>
        </p:nvSpPr>
        <p:spPr>
          <a:xfrm>
            <a:off x="10180815" y="4732020"/>
            <a:ext cx="164592" cy="0"/>
          </a:xfrm>
          <a:prstGeom prst="line">
            <a:avLst/>
          </a:prstGeom>
          <a:noFill/>
          <a:ln w="15875">
            <a:solidFill>
              <a:srgbClr val="7FB2E0"/>
            </a:solidFill>
            <a:prstDash val="solid"/>
            <a:tailEnd type="triangle"/>
          </a:ln>
        </p:spPr>
      </p:sp>
      <p:sp>
        <p:nvSpPr>
          <p:cNvPr id="31" name="Text 29"/>
          <p:cNvSpPr txBox="1"/>
          <p:nvPr/>
        </p:nvSpPr>
        <p:spPr>
          <a:xfrm>
            <a:off x="10363695" y="4526280"/>
            <a:ext cx="1187920" cy="411480"/>
          </a:xfrm>
          <a:prstGeom prst="rect">
            <a:avLst/>
          </a:prstGeom>
          <a:noFill/>
          <a:ln w="9525">
            <a:solidFill>
              <a:srgbClr val="3A6A96"/>
            </a:solidFill>
          </a:ln>
        </p:spPr>
        <p:txBody>
          <a:bodyPr wrap="square" lIns="762" tIns="762" rIns="762" bIns="762"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REPLAN</a:t>
            </a:r>
            <a:endParaRPr lang="en-US" sz="1100" dirty="0"/>
          </a:p>
        </p:txBody>
      </p:sp>
      <p:sp>
        <p:nvSpPr>
          <p:cNvPr id="32" name="Shape 30"/>
          <p:cNvSpPr/>
          <p:nvPr/>
        </p:nvSpPr>
        <p:spPr>
          <a:xfrm>
            <a:off x="640080" y="5349240"/>
            <a:ext cx="10911535" cy="0"/>
          </a:xfrm>
          <a:prstGeom prst="line">
            <a:avLst/>
          </a:prstGeom>
          <a:noFill/>
          <a:ln w="9525">
            <a:solidFill>
              <a:srgbClr val="1F4B73"/>
            </a:solidFill>
            <a:prstDash val="solid"/>
          </a:ln>
        </p:spPr>
      </p:sp>
      <p:sp>
        <p:nvSpPr>
          <p:cNvPr id="33" name="Text 31"/>
          <p:cNvSpPr txBox="1"/>
          <p:nvPr/>
        </p:nvSpPr>
        <p:spPr>
          <a:xfrm>
            <a:off x="640080" y="5532120"/>
            <a:ext cx="457200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Thank You</a:t>
            </a:r>
            <a:endParaRPr lang="en-US" sz="3000" dirty="0"/>
          </a:p>
        </p:txBody>
      </p:sp>
      <p:sp>
        <p:nvSpPr>
          <p:cNvPr id="34" name="Text 32"/>
          <p:cNvSpPr txBox="1"/>
          <p:nvPr/>
        </p:nvSpPr>
        <p:spPr>
          <a:xfrm>
            <a:off x="6949440" y="5504688"/>
            <a:ext cx="2194560" cy="64008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Prasanna K</a:t>
            </a:r>
            <a:endParaRPr lang="en-US" sz="1400" dirty="0"/>
          </a:p>
          <a:p>
            <a:pPr algn="l" indent="0" marL="0">
              <a:buNone/>
            </a:pPr>
            <a:r>
              <a:rPr lang="en-US" sz="1250" dirty="0">
                <a:solidFill>
                  <a:srgbClr val="A9C4E0"/>
                </a:solidFill>
                <a:latin typeface="Arial" pitchFamily="34" charset="0"/>
                <a:ea typeface="Arial" pitchFamily="34" charset="-122"/>
                <a:cs typeface="Arial" pitchFamily="34" charset="-120"/>
              </a:rPr>
              <a:t>240701396</a:t>
            </a:r>
            <a:endParaRPr lang="en-US" sz="1400" dirty="0"/>
          </a:p>
        </p:txBody>
      </p:sp>
      <p:sp>
        <p:nvSpPr>
          <p:cNvPr id="35" name="Text 33"/>
          <p:cNvSpPr txBox="1"/>
          <p:nvPr/>
        </p:nvSpPr>
        <p:spPr>
          <a:xfrm>
            <a:off x="9418320" y="5504688"/>
            <a:ext cx="2103120" cy="64008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Vishwa K</a:t>
            </a:r>
            <a:endParaRPr lang="en-US" sz="1400" dirty="0"/>
          </a:p>
          <a:p>
            <a:pPr algn="l" indent="0" marL="0">
              <a:buNone/>
            </a:pPr>
            <a:r>
              <a:rPr lang="en-US" sz="1250" dirty="0">
                <a:solidFill>
                  <a:srgbClr val="A9C4E0"/>
                </a:solidFill>
                <a:latin typeface="Arial" pitchFamily="34" charset="0"/>
                <a:ea typeface="Arial" pitchFamily="34" charset="-122"/>
                <a:cs typeface="Arial" pitchFamily="34" charset="-120"/>
              </a:rPr>
              <a:t>240701606</a:t>
            </a:r>
            <a:endParaRPr lang="en-US" sz="1400" dirty="0"/>
          </a:p>
        </p:txBody>
      </p:sp>
      <p:sp>
        <p:nvSpPr>
          <p:cNvPr id="36" name="Shape 34"/>
          <p:cNvSpPr/>
          <p:nvPr/>
        </p:nvSpPr>
        <p:spPr>
          <a:xfrm>
            <a:off x="640080" y="6382512"/>
            <a:ext cx="10911535" cy="0"/>
          </a:xfrm>
          <a:prstGeom prst="line">
            <a:avLst/>
          </a:prstGeom>
          <a:noFill/>
          <a:ln w="9525">
            <a:solidFill>
              <a:srgbClr val="1F4B73"/>
            </a:solidFill>
            <a:prstDash val="solid"/>
          </a:ln>
        </p:spPr>
      </p:sp>
      <p:sp>
        <p:nvSpPr>
          <p:cNvPr id="37" name="Text 35"/>
          <p:cNvSpPr txBox="1"/>
          <p:nvPr/>
        </p:nvSpPr>
        <p:spPr>
          <a:xfrm>
            <a:off x="640080" y="6455664"/>
            <a:ext cx="5486400" cy="219456"/>
          </a:xfrm>
          <a:prstGeom prst="rect">
            <a:avLst/>
          </a:prstGeom>
          <a:noFill/>
          <a:ln/>
        </p:spPr>
        <p:txBody>
          <a:bodyPr wrap="square" lIns="0" tIns="0" rIns="0" bIns="0" rtlCol="0" anchor="t"/>
          <a:lstStyle/>
          <a:p>
            <a:pPr algn="l" indent="0" marL="0">
              <a:buNone/>
            </a:pPr>
            <a:r>
              <a:rPr lang="en-US" sz="1000" dirty="0">
                <a:solidFill>
                  <a:srgbClr val="8FA6BD"/>
                </a:solidFill>
                <a:latin typeface="Arial" pitchFamily="34" charset="0"/>
                <a:ea typeface="Arial" pitchFamily="34" charset="-122"/>
                <a:cs typeface="Arial" pitchFamily="34" charset="-120"/>
              </a:rPr>
              <a:t>FINOS  |  Agentic Financial Operating System</a:t>
            </a:r>
            <a:endParaRPr lang="en-US" sz="1000" dirty="0"/>
          </a:p>
        </p:txBody>
      </p:sp>
      <p:sp>
        <p:nvSpPr>
          <p:cNvPr id="25" name="Slide Number Placeholder 0"/>
          <p:cNvSpPr>
            <a:spLocks noGrp="1"/>
          </p:cNvSpPr>
          <p:nvPr>
            <p:ph type="sldNum" sz="quarter" idx="4294967295"/>
          </p:nvPr>
        </p:nvSpPr>
        <p:spPr>
          <a:xfrm>
            <a:off x="10637215" y="6455664"/>
            <a:ext cx="914400" cy="219456"/>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rgbClr val="8FA6BD"/>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FINOS - Agentic Financial Operating System for Government Financial Management</dc:title>
  <dc:subject>PptxGenJS Presentation</dc:subject>
  <dc:creator>Prasanna K, Vishwa K</dc:creator>
  <cp:lastModifiedBy>Prasanna K, Vishwa K</cp:lastModifiedBy>
  <cp:revision>1</cp:revision>
  <dcterms:created xsi:type="dcterms:W3CDTF">2026-09-22T01:29:14Z</dcterms:created>
  <dcterms:modified xsi:type="dcterms:W3CDTF">2026-09-22T01:29:14Z</dcterms:modified>
</cp:coreProperties>
</file>